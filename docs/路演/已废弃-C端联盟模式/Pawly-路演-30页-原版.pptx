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85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占比(%)</c:v>
                </c:pt>
              </c:strCache>
            </c:strRef>
          </c:tx>
          <c:spPr>
            <a:solidFill>
              <a:srgbClr val="002F7C"/>
            </a:solidFill>
          </c:spPr>
          <c:invertIfNegative val="0"/>
          <c:dPt>
            <c:idx val="0"/>
            <c:invertIfNegative val="1"/>
            <c:bubble3D val="0"/>
          </c:dPt>
          <c:dPt>
            <c:idx val="1"/>
            <c:invertIfNegative val="1"/>
            <c:bubble3D val="0"/>
          </c:dPt>
          <c:dPt>
            <c:idx val="2"/>
            <c:invertIfNegative val="1"/>
            <c:bubble3D val="0"/>
          </c:dPt>
          <c:dPt>
            <c:idx val="3"/>
            <c:invertIfNegative val="1"/>
            <c:bubble3D val="0"/>
          </c:dPt>
          <c:dPt>
            <c:idx val="4"/>
            <c:invertIfNegative val="1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none" lIns="0" tIns="0" rIns="0" bIns="0" anchor="t" anchorCtr="0"/>
              <a:lstStyle/>
              <a:p>
                <a:pPr algn="l">
                  <a:defRPr lang="zh-CN" sz="900" b="0" i="0" u="none" strike="noStrike" kern="1200" baseline="0">
                    <a:solidFill>
                      <a:srgbClr val="2563EB">
                        <a:alpha val="100000"/>
                      </a:srgbClr>
                    </a:solidFill>
                    <a:latin typeface="微软雅黑" charset="-122"/>
                    <a:ea typeface="微软雅黑" charset="-122"/>
                    <a:cs typeface="微软雅黑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传统电商</c:v>
                </c:pt>
                <c:pt idx="1">
                  <c:v>宠物实体店</c:v>
                </c:pt>
                <c:pt idx="2">
                  <c:v>新型电商
(抖音等)</c:v>
                </c:pt>
                <c:pt idx="3">
                  <c:v>私域社群</c:v>
                </c:pt>
                <c:pt idx="4">
                  <c:v>微信小程序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46.46</c:v>
                </c:pt>
                <c:pt idx="1">
                  <c:v>37.53</c:v>
                </c:pt>
                <c:pt idx="2">
                  <c:v>37.4</c:v>
                </c:pt>
                <c:pt idx="3">
                  <c:v>29.13</c:v>
                </c:pt>
                <c:pt idx="4">
                  <c:v>23.75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10"/>
        <c:axId val="1"/>
        <c:axId val="1001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2700" cap="flat" cmpd="sng" algn="ctr">
            <a:solidFill>
              <a:srgbClr val="A6A6A6">
                <a:alpha val="100000"/>
              </a:srgbClr>
            </a:solidFill>
            <a:prstDash val="solid"/>
            <a:round/>
          </a:ln>
        </c:spPr>
        <c:txPr>
          <a:bodyPr rot="0" spcFirstLastPara="0" vertOverflow="ellipsis" vert="horz" wrap="none" lIns="0" tIns="0" rIns="0" bIns="0" anchor="t" anchorCtr="0"/>
          <a:lstStyle/>
          <a:p>
            <a:pPr algn="l">
              <a:defRPr lang="zh-CN" sz="900" b="0" i="0" u="none" strike="noStrike" kern="1200" baseline="0">
                <a:solidFill>
                  <a:srgbClr val="0F172A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defRPr>
            </a:pPr>
          </a:p>
        </c:txPr>
        <c:crossAx val="1001"/>
        <c:crosses val="autoZero"/>
        <c:auto val="1"/>
        <c:lblAlgn val="ctr"/>
        <c:lblOffset val="100"/>
        <c:noMultiLvlLbl val="0"/>
      </c:catAx>
      <c:valAx>
        <c:axId val="1001"/>
        <c:scaling>
          <c:orientation val="minMax"/>
          <c:max val="55"/>
        </c:scaling>
        <c:delete val="0"/>
        <c:axPos val="l"/>
        <c:majorGridlines>
          <c:spPr>
            <a:ln w="12700" cap="flat" cmpd="sng" algn="ctr">
              <a:solidFill>
                <a:srgbClr val="E5E7EB">
                  <a:alpha val="100000"/>
                </a:srgb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txPr>
          <a:bodyPr rot="0" spcFirstLastPara="0" vertOverflow="ellipsis" vert="horz" wrap="none" lIns="0" tIns="0" rIns="0" bIns="0" anchor="t" anchorCtr="0"/>
          <a:lstStyle/>
          <a:p>
            <a:pPr algn="l">
              <a:defRPr lang="zh-CN" sz="900" b="0" i="0" u="none" strike="noStrike" kern="1200" baseline="0">
                <a:solidFill>
                  <a:srgbClr val="0F172A">
                    <a:alpha val="100000"/>
                  </a:srgbClr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zero"/>
    <c:showDLblsOverMax val="1"/>
    <c:extLst>
      <c:ext uri="{0b15fc19-7d7d-44ad-8c2d-2c3a37ce22c3}">
        <chartProps xmlns="https://web.wps.cn/et/2018/main" chartId="{263bda5a-359b-46b9-8d5f-c41eff3602e2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营业收入</c:f>
              <c:strCache>
                <c:ptCount val="1"/>
                <c:pt idx="0">
                  <c:v>营业收入</c:v>
                </c:pt>
              </c:strCache>
            </c:strRef>
          </c:tx>
          <c:spPr>
            <a:solidFill>
              <a:srgbClr val="C79255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{"第一年","第二年","第三年"}</c:f>
              <c:strCache>
                <c:ptCount val="3"/>
                <c:pt idx="0">
                  <c:v>第一年</c:v>
                </c:pt>
                <c:pt idx="1">
                  <c:v>第二年</c:v>
                </c:pt>
                <c:pt idx="2">
                  <c:v>第三年</c:v>
                </c:pt>
              </c:strCache>
            </c:strRef>
          </c:cat>
          <c:val>
            <c:numRef>
              <c:f>{15,82,220}</c:f>
              <c:numCache>
                <c:formatCode>General</c:formatCode>
                <c:ptCount val="3"/>
                <c:pt idx="0">
                  <c:v>15</c:v>
                </c:pt>
                <c:pt idx="1">
                  <c:v>82</c:v>
                </c:pt>
                <c:pt idx="2">
                  <c:v>220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8D7C2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7D746C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w="9525">
              <a:solidFill>
                <a:srgbClr val="F2E7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B8AEA5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  <c:majorUnit val="50"/>
      </c:valAx>
      <c:spPr>
        <a:ln w="0">
          <a:noFill/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ae9a7fc5-7659-4ded-89b1-1f486b7f0c21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各位老师好，我们是 Pawly 宝狸。Pawly 是一款面向宠物主的 AI 养宠助手。系统会结合每只宠物的具体情况，帮助用户处理日常养护、商品选择和长期记录等问题。</a:t>
            </a:r>
          </a:p>
          <a:p/>
          <a:p>
            <a:r>
              <a:t>[Sources]</a:t>
            </a:r>
          </a:p>
          <a:p>
            <a:r>
              <a:t>- 用户提供商标图：0b2c811dd4dcf7cc5ca5ac931fcd957c.png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Pawly目前面向C端宠主，提供宠物档案、养宠咨询、商品筛选和持续提醒。Web产品已经开放体验，内测用户和反馈数据正在帮助我们确定下一阶段的产品重点。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用户确认数据：公司2026-07-21注册；300+份有效问卷截至2026-07-31；2026-08-10开放体验并启动内测；100+体验用户截至2026-08-22；已收到50余条反馈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2025年中国城镇犬猫消费市场达到3126亿元，城镇犬猫数量约1.26亿只。消费市场的增长速度高于宠物数量，宠主正在投入更多预算和精力改善宠物的饮食、护理和生活质量。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https://business.cctv.com/2026/01/05/ARTIdmv2AWmVeRVodaZYLOvQ260105.shtml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2025年中国城镇犬猫消费市场达到3126亿元，城镇犬猫数量约1.26亿只。消费市场的增长速度高于宠物数量，宠主正在投入更多预算和精力改善宠物的饮食、护理和生活质量。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https://business.cctv.com/2026/01/05/ARTIdmv2AWmVeRVodaZYLOvQ260105.shtml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首批用户以18到35岁的年轻宠主为主。我们优先处理新宠准备、换粮、商品比较和多宠记录等明确任务，这些场景高频、可追踪，也适合验证用户是否愿意持续使用。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用户主要面临三个问题：缺少个体判断依据、信息来源难以核验、服务记录无法连续使用。Pawly将这三个环节放在同一套产品流程中处理。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用户可以直接用自然语言提问。系统读取宠物档案，检索相关知识和商品信息，说明推荐依据、适用条件和风险，并保存用户的选择供后续服务使用。</a:t>
            </a:r>
          </a:p>
          <a:p/>
          <a:p>
            <a:r>
              <a:t>[Sources]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以换粮为例，Pawly先读取宠物档案，再确认预算、禁忌和当前情况。系统检索资料、比较商品、给出换粮节奏和观察项，最后保存结果并安排后续提醒。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当前Web产品已经覆盖咨询、档案、科普、商品、订单、社区和会员等模块。商品及订单使用演示数据。微信小程序、联盟、支付、履约和生产环境监控将在下一阶段完成。</a:t>
            </a:r>
          </a:p>
          <a:p/>
          <a:p>
            <a:r>
              <a:t>[Sources]</a:t>
            </a:r>
          </a:p>
          <a:p>
            <a:r>
              <a:t>- /Users/zjl/Documents/Codex/2026-08-04/github-celveen-pawly-codex-text-link/work/pawly-full-readcheck/docs/images/shop.jpg</a:t>
            </a:r>
          </a:p>
          <a:p>
            <a:r>
              <a:t>- /Users/zjl/Documents/Codex/2026-08-04/github-celveen-pawly-codex-text-link/work/pawly-full-readcheck/docs/images/knowledge.jpg</a:t>
            </a:r>
          </a:p>
          <a:p>
            <a:r>
              <a:t>- /Users/zjl/Documents/Codex/2026-08-04/github-celveen-pawly-codex-text-link/work/pawly-full-readcheck/docs/images/member.jpg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这页用于面对评委对真实性与风险的追问。我们主动区分已经完成、正在验证和计划开展的事项。下一步最重要的四项指标，是留存、信任、成交和获客成本。</a:t>
            </a:r>
          </a:p>
          <a:p/>
          <a:p>
            <a:r>
              <a:t>[Sources]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主客服Agent负责理解问题和调用工具，知识Agent负责检索资料和处理健康风险。数据库保存用户、宠物、商品、订单和咨询记录，使后续服务能够继续使用已有信息。</a:t>
            </a:r>
          </a:p>
          <a:p/>
          <a:p>
            <a:r>
              <a:t>[Sources]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本页用于回答技术追问。架构核心是主客服Agent与知识Agent协同：一个负责理解与执行，一个负责求证与边界；工具与数据库保证回答能够进入真实业务流程。</a:t>
            </a:r>
          </a:p>
          <a:p/>
          <a:p>
            <a:r>
              <a:t>[Sources]</a:t>
            </a:r>
          </a:p>
          <a:p>
            <a:r>
              <a:t>- /Users/zjl/Documents/Codex/2026-08-04/github-celveen-pawly-codex-text-link/work/pawly-full-readcheck/docs/images/architecture.png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项目需要持续积累四类能力：可信知识、宠物档案、商品与交易数据，以及合规与用户信任。每次咨询和真实交易都会补充这些数据，并用于改进下一次服务。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淘宝和京东擅长商品交易，小红书擅长经验分享，垂直宠物平台拥有行业资源，通用AI擅长问答。Pawly承担购买前的个性化判断，并把咨询结果用于档案、提醒和复购服务。</a:t>
            </a:r>
          </a:p>
          <a:p/>
          <a:p>
            <a:r>
              <a:t>[Sources]</a:t>
            </a:r>
          </a:p>
          <a:p>
            <a:r>
              <a:t>- https://www-next.epet.com/article/about.html</a:t>
            </a:r>
          </a:p>
          <a:p>
            <a:r>
              <a:t>- https://www.chewy.com/app/content/about-us</a:t>
            </a:r>
          </a:p>
          <a:p>
            <a:r>
              <a:t>- https://www.chewy.com/pethealth</a:t>
            </a:r>
          </a:p>
          <a:p>
            <a:r>
              <a:t>- https://www.aboutamazon.com/news/retail/amazon-rufus-ai-assistant-personalized-shopping-features</a:t>
            </a:r>
          </a:p>
          <a:p>
            <a:r>
              <a:t>- https://help.pawp.com/en/articles/7153880-what-is-pawp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不同平台分别擅长交易、内容、垂直商品或通用问答。Pawly以宠物档案为基础，将知识、商品和后续记录连接起来。目前仍处内测和商业验证阶段。</a:t>
            </a:r>
          </a:p>
          <a:p/>
          <a:p>
            <a:r>
              <a:t>[Sources]</a:t>
            </a:r>
          </a:p>
          <a:p>
            <a:r>
              <a:t>- https://www-next.epet.com/article/about.html</a:t>
            </a:r>
          </a:p>
          <a:p>
            <a:r>
              <a:t>- https://www.chewy.com/app/content/about-us</a:t>
            </a:r>
          </a:p>
          <a:p>
            <a:r>
              <a:t>- https://help.pawp.com/en/articles/7153880-what-is-pawp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前期收入主要来自联盟佣金和会员服务。用户在熟悉的电商平台完成支付和售后，Pawly根据有效订单获得佣金。精选商品将在复购数据稳定后试点，品牌和机构合作暂时不作为主要销售方向。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内容渠道负责让用户看到具体养宠问题，用户通过提问和建档进入产品。咨询结果会保存到宠物档案，并通过提醒和回访形成下一次使用。投放是否扩大，将由留存和获客成本决定。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截至2026年8月22日，100多名用户参与产品体验。项目已收集300多份有效需求问卷，并收到50余条反馈。反馈正在用于调整咨询流程、页面交互和功能优先级。</a:t>
            </a:r>
          </a:p>
          <a:p/>
          <a:p>
            <a:r>
              <a:t>[Sources]</a:t>
            </a:r>
          </a:p>
          <a:p>
            <a:r>
              <a:t>- /Users/zjl/Documents/Codex/2026-08-04/github-celveen-pawly-codex-text-link/work/pawly-full-readcheck/README.md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问卷、体验用户和反馈数据说明产品已经进入真实用户验证。内测中有用户认为健康问题的安全回答过于死板，我们保留不诊断的边界，并优化风险说明、观察信息和就医建议。后续附录将补充匿名化材料。</a:t>
            </a:r>
          </a:p>
          <a:p/>
          <a:p>
            <a:r>
              <a:t>[Sources]</a:t>
            </a:r>
          </a:p>
          <a:p>
            <a:r>
              <a:t>- 用户确认数据：公司2026-07-21注册；300+份有效问卷截至2026-07-31；2026-08-10开放体验并启动内测；100+体验用户截至2026-08-22；已收到50余条反馈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项目从6月完成原型，7月完成公司注册和首轮问卷，8月10日开放体验并启动内测。截至8月22日，已有100多名体验用户和50余条反馈。下一阶段将进入真实订单与留存验证。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用户确认数据：公司2026-07-21注册；300+份有效问卷截至2026-07-31；2026-08-10开放体验并启动内测；100+体验用户截至2026-08-22；已收到50余条反馈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下一阶段分三层验证。内测先看档案和咨询是否顺利完成，再看用户是否回访。商业验证增加订单、会员、获客成本和AI成本。数据未达到目标时，先调整产品与场景，再决定是否扩大投放。</a:t>
            </a:r>
          </a:p>
          <a:p/>
          <a:p>
            <a:r>
              <a:t>[Sources]</a:t>
            </a:r>
          </a:p>
          <a:p>
            <a:r>
              <a:t>- 用户确认数据：公司2026-07-21注册；300+份有效问卷截至2026-07-31；2026-08-10开放体验并启动内测；100+体验用户截至2026-08-22；已收到50余条反馈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现有优势包括可运行产品、连续宠物档案和较低的库存压力。主要不足集中在品牌、真实订单和商业运营经验。团队会先验证少量高意图场景，并根据运营数据安排后续投入。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团队共五人，覆盖项目管理、经营、技术、市场和财务。公司于2026年7月21日完成注册。成员经历和代表成果将在本人确认后补充，兽医审校、法律合规和安全测试将使用外部专业支持。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第一年完成小程序、联盟和真实订单验证；第二年增加会员收入并试点精选商品；第三年扩展多端产品、品牌合作和自有商品。每年的投入根据运营数据调整。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财务预测使用创业计划书中的基准假设。前三年的月活、GMV和收入结构逐年提高，联盟佣金按5%测算，会员年均约100元。品牌服务属于补充收入，不是现阶段主要销售方向。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财务上，前两年仍以产品验证和用户积累为主，第三年预计营业收入220万元、税前利润75万元，完成阶段性盈亏转正。这里使用财务表口径，因为它与现金流和资产负债预测能够对应。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本页用于答辩追问。收入结构从联盟佣金逐步扩展到会员、精选自营和品牌服务；现金流与资产负债表均沿用创业计划书表格口径。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本页将第三年预测分为审慎、基准和积极三种情景。基准情景沿用创业计划书，其他情景用于评估用户增长和GMV变化对利润的影响，不作为收益承诺。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本轮计划融资50万元，出让20%股权，比例按照创业园规定设置。资金用于市场获客、产品研发、合规、云服务和运营储备。未来12个月将完成小程序、联盟支付和真实订单验证。</a:t>
            </a:r>
          </a:p>
          <a:p/>
          <a:p>
            <a:r>
              <a:t>[Sources]</a:t>
            </a:r>
          </a:p>
          <a:p>
            <a:r>
              <a:t>- /Users/zjl/Downloads/Pawly/2026.7.19创业计划书.pdf</a:t>
            </a:r>
          </a:p>
          <a:p>
            <a:r>
              <a:t>- http://220.154.139.89:28888</a:t>
            </a:r>
          </a:p>
          <a:p>
            <a:r>
              <a:t>- https://quickchart.io/qr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Pawly记录每只宠物的具体情况，提供带依据的日常养宠信息，帮助用户比较商品和行动方案，并通过档案与提醒持续服务。谢谢各位老师，欢迎扫码体验。</a:t>
            </a:r>
          </a:p>
          <a:p/>
          <a:p>
            <a:r>
              <a:t>[Sources]</a:t>
            </a:r>
          </a:p>
          <a:p>
            <a:r>
              <a:t>- http://220.154.139.89:28888</a:t>
            </a:r>
          </a:p>
          <a:p>
            <a:r>
              <a:t>- https://quickchart.io/qr</a:t>
            </a:r>
          </a:p>
          <a:p>
            <a:r>
              <a:t>- /var/folders/0h/52bg10gs6339s9qmkgw51w240000gn/T/codex-clipboard-597c8ec0-84d5-4847-b121-7372a1171dc2.png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</a:t>
            </a:r>
            <a:endParaRPr sz="1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81150"/>
            <a:ext cx="628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AI智能养宠助手</a:t>
            </a:r>
            <a:endParaRPr sz="40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571750"/>
            <a:ext cx="5810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基于宠物档案的个性化养宠咨询与持续服务</a:t>
            </a:r>
            <a:endParaRPr sz="2100" b="0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905250"/>
            <a:ext cx="5048250" cy="190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19100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宠物档案  ×  可信知识  ×  商品服务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5905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2026.08  ·  项目路演</a:t>
            </a:r>
            <a:endParaRPr sz="12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0" y="1241028"/>
            <a:ext cx="3476625" cy="3766344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7086600" y="1104900"/>
            <a:ext cx="19050" cy="40957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8" name="文本框 7"/>
          <p:cNvSpPr txBox="1"/>
          <p:nvPr/>
        </p:nvSpPr>
        <p:spPr>
          <a:xfrm>
            <a:off x="4299585" y="3549650"/>
            <a:ext cx="1405255" cy="32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汇报人</a:t>
            </a:r>
            <a:r>
              <a:rPr lang="en-US" altLang="zh-CN" sz="1400"/>
              <a:t>：</a:t>
            </a:r>
            <a:r>
              <a:rPr lang="zh-CN" altLang="en-US" sz="1400"/>
              <a:t>林晨</a:t>
            </a:r>
            <a:endParaRPr lang="zh-CN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 · 项目介绍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1009777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Pawly通过档案和</a:t>
            </a:r>
            <a:r>
              <a:rPr lang="zh-CN"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科普</a:t>
            </a: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，帮助宠主完成日常养宠决策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90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产品定位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20980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面向C端宠主的</a:t>
            </a:r>
            <a:endParaRPr sz="25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25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AI智能养宠助手</a:t>
            </a:r>
            <a:endParaRPr sz="25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333750"/>
            <a:ext cx="428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建立并持续更新宠物档案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回答日常喂养、护理和健康观察问题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提供带依据的商品筛选与比较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保存咨询记录并提供后续提醒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连接第三方电商与会员服务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19700" y="1752600"/>
            <a:ext cx="19050" cy="37528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5676900" y="1809750"/>
            <a:ext cx="24193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867400" y="19812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100+</a:t>
            </a:r>
            <a:endParaRPr sz="28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867400" y="2514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真实体验用户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67400" y="28384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截至2026.08.22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515350" y="1809750"/>
            <a:ext cx="24193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05850" y="19812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300+</a:t>
            </a:r>
            <a:endParaRPr sz="28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05850" y="2514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有效需求问卷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05850" y="28384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截至2026.07.31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676900" y="3486150"/>
            <a:ext cx="24193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867400" y="36576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50+</a:t>
            </a:r>
            <a:endParaRPr sz="28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867400" y="41910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用户反馈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867400" y="45148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内测仍在进行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515350" y="3486150"/>
            <a:ext cx="241935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705850" y="36576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08.10</a:t>
            </a:r>
            <a:endParaRPr sz="28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05850" y="41910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开放体验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05850" y="45148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同日启动内测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85800" y="5676900"/>
            <a:ext cx="10248900" cy="438150"/>
          </a:xfrm>
          <a:prstGeom prst="roundRect">
            <a:avLst>
              <a:gd name="adj" fmla="val 17391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71550" y="5781675"/>
            <a:ext cx="967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Web产品已部署，当前工作重点是内测迭代和商业数据验证。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r>
              <a:rPr lang="en-US"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.1</a:t>
            </a: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· 市场机会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精细化养宠带来了更复杂的选择需求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47850"/>
            <a:ext cx="2381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3126</a:t>
            </a:r>
            <a:endParaRPr sz="46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38450" y="215265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亿元</a:t>
            </a:r>
            <a:endParaRPr sz="16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6860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2025年中国城镇犬猫消费市场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3352800"/>
            <a:ext cx="209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1.26</a:t>
            </a:r>
            <a:endParaRPr sz="4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19350" y="36385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亿只</a:t>
            </a:r>
            <a:endParaRPr sz="16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41719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城镇犬猫数量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29350" y="27813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2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91650" y="23431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2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231765" y="465328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预计2028年达到 4050 亿元</a:t>
            </a:r>
            <a:endParaRPr sz="15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</a:t>
            </a:r>
            <a:r>
              <a:rPr lang="en-US" altLang="zh-CN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r>
              <a:rPr lang="zh-CN" altLang="en-US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数据来源</a:t>
            </a:r>
            <a:r>
              <a:rPr lang="en-US" altLang="zh-CN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《2026</a:t>
            </a:r>
            <a:r>
              <a:rPr lang="zh-CN" altLang="en-US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年中国宠物行业白皮书</a:t>
            </a:r>
            <a:r>
              <a:rPr lang="en-US" altLang="zh-CN" sz="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》</a:t>
            </a:r>
            <a:endParaRPr lang="en-US" altLang="zh-CN" sz="8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85800" y="5257800"/>
            <a:ext cx="10458450" cy="742950"/>
          </a:xfrm>
          <a:prstGeom prst="roundRect">
            <a:avLst>
              <a:gd name="adj" fmla="val 15385"/>
            </a:avLst>
          </a:prstGeom>
          <a:solidFill>
            <a:srgbClr val="F5EEE5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90600" y="5467350"/>
            <a:ext cx="986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消费增速高于宠物数量增速，单只宠物的喂养与服务投入正在增加。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440" y="1685925"/>
            <a:ext cx="7315200" cy="27432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r>
              <a:rPr lang="en-US"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.2</a:t>
            </a: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· 市场机会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宠物消费渠道呈现多元化分散</a:t>
            </a:r>
            <a:endParaRPr lang="zh-CN" altLang="en-US"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196975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  <p:sp>
        <p:nvSpPr>
          <p:cNvPr id="34" name="AutoShape 5"/>
          <p:cNvSpPr/>
          <p:nvPr/>
        </p:nvSpPr>
        <p:spPr>
          <a:xfrm>
            <a:off x="457086" y="1291530"/>
            <a:ext cx="9522" cy="531316"/>
          </a:xfrm>
          <a:prstGeom prst="line">
            <a:avLst/>
          </a:prstGeom>
          <a:ln w="25400">
            <a:solidFill>
              <a:srgbClr val="002F7C">
                <a:alpha val="7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TextBox 6"/>
          <p:cNvSpPr txBox="1"/>
          <p:nvPr/>
        </p:nvSpPr>
        <p:spPr>
          <a:xfrm>
            <a:off x="580880" y="1320105"/>
            <a:ext cx="11608072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strike="noStrike" dirty="0">
                <a:solidFill>
                  <a:srgbClr val="002F7C">
                    <a:alpha val="78039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宠物消费已全面线上化</a:t>
            </a:r>
            <a:r>
              <a:rPr lang="en-US" sz="1300" strike="noStrike" dirty="0">
                <a:solidFill>
                  <a:srgbClr val="0F172A">
                    <a:alpha val="78039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，但流量不再被传统电商垄断。内容驱动的新型电商与私域社群快速崛起，渠道的分散化与圈层化，为具备"</a:t>
            </a:r>
            <a:r>
              <a:rPr lang="en-US" sz="1300" strike="noStrike" dirty="0">
                <a:solidFill>
                  <a:srgbClr val="002F7C">
                    <a:alpha val="78039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内容+专业"</a:t>
            </a:r>
            <a:r>
              <a:rPr lang="en-US" sz="1300" strike="noStrike" dirty="0">
                <a:solidFill>
                  <a:srgbClr val="0F172A">
                    <a:alpha val="78039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属性</a:t>
            </a:r>
            <a:endParaRPr lang="en-US" sz="11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/>
            <a:r>
              <a:rPr sz="1300" strike="noStrike" dirty="0" err="1">
                <a:solidFill>
                  <a:srgbClr val="0F172A">
                    <a:alpha val="78039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的垂直品牌提供了避开巨头锋芒、建立私域壁垒的绝佳机会</a:t>
            </a:r>
            <a:r>
              <a:rPr sz="1300" strike="noStrike" dirty="0">
                <a:solidFill>
                  <a:srgbClr val="0F172A">
                    <a:alpha val="78039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AutoShape 7"/>
          <p:cNvSpPr/>
          <p:nvPr/>
        </p:nvSpPr>
        <p:spPr>
          <a:xfrm>
            <a:off x="457086" y="1994296"/>
            <a:ext cx="4554936" cy="4406502"/>
          </a:xfrm>
          <a:prstGeom prst="rect">
            <a:avLst/>
          </a:prstGeom>
          <a:solidFill>
            <a:srgbClr val="F0F2F5">
              <a:alpha val="100000"/>
            </a:srgbClr>
          </a:solidFill>
          <a:ln w="9525">
            <a:solidFill>
              <a:srgbClr val="D1D5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AutoShape 8"/>
          <p:cNvSpPr/>
          <p:nvPr/>
        </p:nvSpPr>
        <p:spPr>
          <a:xfrm>
            <a:off x="457086" y="1994296"/>
            <a:ext cx="4554936" cy="9525"/>
          </a:xfrm>
          <a:prstGeom prst="line">
            <a:avLst/>
          </a:prstGeom>
          <a:ln w="28575">
            <a:solidFill>
              <a:srgbClr val="002F7C"/>
            </a:solidFill>
            <a:prstDash val="solid"/>
            <a:headEnd type="none"/>
            <a:tailEnd type="none"/>
          </a:ln>
        </p:spPr>
      </p:sp>
      <p:sp>
        <p:nvSpPr>
          <p:cNvPr id="39" name="TextBox 9"/>
          <p:cNvSpPr txBox="1"/>
          <p:nvPr/>
        </p:nvSpPr>
        <p:spPr>
          <a:xfrm>
            <a:off x="1057755" y="2213373"/>
            <a:ext cx="3353599" cy="21044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1200" strike="noStrike" dirty="0">
                <a:solidFill>
                  <a:srgbClr val="0F172A">
                    <a:alpha val="100000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2025年宠物主购买渠道分布</a:t>
            </a:r>
            <a:endParaRPr lang="en-US" sz="1200" strike="noStrike" dirty="0">
              <a:solidFill>
                <a:srgbClr val="0F172A">
                  <a:alpha val="100000"/>
                </a:srgbClr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41" name="Chart 10"/>
          <p:cNvGraphicFramePr>
            <a:graphicFrameLocks noGrp="1"/>
          </p:cNvGraphicFramePr>
          <p:nvPr/>
        </p:nvGraphicFramePr>
        <p:xfrm>
          <a:off x="676106" y="2519065"/>
          <a:ext cx="4116896" cy="3434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6" name="TextBox 10"/>
          <p:cNvSpPr txBox="1"/>
          <p:nvPr/>
        </p:nvSpPr>
        <p:spPr>
          <a:xfrm>
            <a:off x="1448182" y="6029325"/>
            <a:ext cx="2572743" cy="171450"/>
          </a:xfrm>
          <a:prstGeom prst="rect">
            <a:avLst/>
          </a:prstGeom>
          <a:ln>
            <a:solidFill>
              <a:schemeClr val="bg1"/>
            </a:solidFill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9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数据来源：2025艾媒咨询</a:t>
            </a:r>
            <a:endParaRPr lang="en-US" sz="900" strike="noStrike" dirty="0" err="1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AutoShape 11"/>
          <p:cNvSpPr/>
          <p:nvPr/>
        </p:nvSpPr>
        <p:spPr>
          <a:xfrm>
            <a:off x="5354837" y="1994296"/>
            <a:ext cx="6376881" cy="1379935"/>
          </a:xfrm>
          <a:prstGeom prst="rect">
            <a:avLst/>
          </a:prstGeom>
          <a:solidFill>
            <a:srgbClr val="F0F2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8" name="AutoShape 12"/>
          <p:cNvSpPr/>
          <p:nvPr/>
        </p:nvSpPr>
        <p:spPr>
          <a:xfrm>
            <a:off x="5354837" y="1994296"/>
            <a:ext cx="9522" cy="1379935"/>
          </a:xfrm>
          <a:prstGeom prst="line">
            <a:avLst/>
          </a:prstGeom>
          <a:ln w="28575">
            <a:solidFill>
              <a:srgbClr val="002F7C"/>
            </a:solidFill>
            <a:prstDash val="solid"/>
            <a:headEnd type="none"/>
            <a:tailEnd type="none"/>
          </a:ln>
        </p:spPr>
      </p:sp>
      <p:sp>
        <p:nvSpPr>
          <p:cNvPr id="49" name="TextBox 13"/>
          <p:cNvSpPr txBox="1"/>
          <p:nvPr/>
        </p:nvSpPr>
        <p:spPr>
          <a:xfrm>
            <a:off x="5573856" y="2153841"/>
            <a:ext cx="596740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strike="noStrike">
                <a:solidFill>
                  <a:srgbClr val="0F172A">
                    <a:alpha val="45098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Inter"/>
              </a:rPr>
              <a:t>TRADITIONAL E-COMMERCE</a:t>
            </a:r>
            <a:endParaRPr lang="en-US" sz="900" strike="noStrike">
              <a:solidFill>
                <a:srgbClr val="0F172A">
                  <a:alpha val="45098"/>
                </a:srgbClr>
              </a:solidFill>
              <a:latin typeface="PingFang SC" panose="020B0400000000000000" charset="-122"/>
              <a:ea typeface="PingFang SC" panose="020B0400000000000000" charset="-122"/>
              <a:cs typeface="Inter"/>
            </a:endParaRPr>
          </a:p>
        </p:txBody>
      </p:sp>
      <p:sp>
        <p:nvSpPr>
          <p:cNvPr id="50" name="TextBox 14"/>
          <p:cNvSpPr txBox="1"/>
          <p:nvPr/>
        </p:nvSpPr>
        <p:spPr>
          <a:xfrm>
            <a:off x="5573856" y="2401490"/>
            <a:ext cx="6157860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</a:t>
            </a:r>
            <a:r>
              <a:rPr lang="en-US" sz="1200" strike="noStrike" dirty="0" err="1">
                <a:solidFill>
                  <a:srgbClr val="002F7C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传统电商仍占主导：</a:t>
            </a:r>
            <a:r>
              <a:rPr sz="1200" strike="noStrike" dirty="0" err="1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淘宝</a:t>
            </a:r>
            <a:r>
              <a:rPr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</a:t>
            </a:r>
            <a:r>
              <a:rPr sz="1200" strike="noStrike" dirty="0" err="1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天猫</a:t>
            </a:r>
            <a:r>
              <a:rPr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/京东等传统货架电商占比46.46%，</a:t>
            </a:r>
            <a:r>
              <a:rPr sz="1200" strike="noStrike" dirty="0" err="1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是宠物主购买标准化商品的首选渠道，但流量成本日益高企</a:t>
            </a:r>
            <a:r>
              <a:rPr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AutoShape 16"/>
          <p:cNvSpPr/>
          <p:nvPr/>
        </p:nvSpPr>
        <p:spPr>
          <a:xfrm>
            <a:off x="5354837" y="3507581"/>
            <a:ext cx="6376881" cy="1379935"/>
          </a:xfrm>
          <a:prstGeom prst="rect">
            <a:avLst/>
          </a:prstGeom>
          <a:solidFill>
            <a:srgbClr val="F0F2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2" name="AutoShape 17"/>
          <p:cNvSpPr/>
          <p:nvPr/>
        </p:nvSpPr>
        <p:spPr>
          <a:xfrm>
            <a:off x="5354837" y="3507581"/>
            <a:ext cx="9522" cy="1379935"/>
          </a:xfrm>
          <a:prstGeom prst="line">
            <a:avLst/>
          </a:prstGeom>
          <a:ln w="28575">
            <a:solidFill>
              <a:srgbClr val="002F7C"/>
            </a:solidFill>
            <a:prstDash val="solid"/>
            <a:headEnd type="none"/>
            <a:tailEnd type="none"/>
          </a:ln>
        </p:spPr>
      </p:sp>
      <p:sp>
        <p:nvSpPr>
          <p:cNvPr id="53" name="TextBox 18"/>
          <p:cNvSpPr txBox="1"/>
          <p:nvPr/>
        </p:nvSpPr>
        <p:spPr>
          <a:xfrm>
            <a:off x="5573856" y="3667125"/>
            <a:ext cx="596740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strike="noStrike">
                <a:solidFill>
                  <a:srgbClr val="0F172A">
                    <a:alpha val="45098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Inter"/>
              </a:rPr>
              <a:t>CONTENT &amp; INTEREST</a:t>
            </a:r>
            <a:endParaRPr lang="en-US" sz="900" strike="noStrike">
              <a:solidFill>
                <a:srgbClr val="0F172A">
                  <a:alpha val="45098"/>
                </a:srgbClr>
              </a:solidFill>
              <a:latin typeface="PingFang SC" panose="020B0400000000000000" charset="-122"/>
              <a:ea typeface="PingFang SC" panose="020B0400000000000000" charset="-122"/>
              <a:cs typeface="Inter"/>
            </a:endParaRPr>
          </a:p>
        </p:txBody>
      </p:sp>
      <p:sp>
        <p:nvSpPr>
          <p:cNvPr id="54" name="TextBox 19"/>
          <p:cNvSpPr txBox="1"/>
          <p:nvPr/>
        </p:nvSpPr>
        <p:spPr>
          <a:xfrm>
            <a:off x="5573856" y="3914775"/>
            <a:ext cx="6157860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 </a:t>
            </a:r>
            <a:r>
              <a:rPr lang="en-US" sz="1200" strike="noStrike" dirty="0">
                <a:solidFill>
                  <a:srgbClr val="002F7C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内容与兴趣电商爆发</a:t>
            </a:r>
            <a:r>
              <a:rPr lang="en-US"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r>
              <a:rPr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抖音等新型电商平台占比达37.40%，</a:t>
            </a:r>
            <a:r>
              <a:rPr sz="1200" strike="noStrike" dirty="0" err="1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短视频与直播种草正在深刻</a:t>
            </a:r>
            <a:endParaRPr lang="en-US" sz="11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/>
            <a:r>
              <a:rPr sz="1200" strike="noStrike" dirty="0" err="1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改变宠物主的消费决策链路</a:t>
            </a:r>
            <a:r>
              <a:rPr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AutoShape 21"/>
          <p:cNvSpPr/>
          <p:nvPr/>
        </p:nvSpPr>
        <p:spPr>
          <a:xfrm>
            <a:off x="5354837" y="5020865"/>
            <a:ext cx="6376881" cy="1379935"/>
          </a:xfrm>
          <a:prstGeom prst="rect">
            <a:avLst/>
          </a:prstGeom>
          <a:solidFill>
            <a:srgbClr val="F0F2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6" name="AutoShape 22"/>
          <p:cNvSpPr/>
          <p:nvPr/>
        </p:nvSpPr>
        <p:spPr>
          <a:xfrm>
            <a:off x="5354837" y="5020865"/>
            <a:ext cx="9522" cy="1379935"/>
          </a:xfrm>
          <a:prstGeom prst="line">
            <a:avLst/>
          </a:prstGeom>
          <a:ln w="28575">
            <a:solidFill>
              <a:srgbClr val="002F7C"/>
            </a:solidFill>
            <a:prstDash val="solid"/>
            <a:headEnd type="none"/>
            <a:tailEnd type="none"/>
          </a:ln>
        </p:spPr>
      </p:sp>
      <p:sp>
        <p:nvSpPr>
          <p:cNvPr id="57" name="TextBox 23"/>
          <p:cNvSpPr txBox="1"/>
          <p:nvPr/>
        </p:nvSpPr>
        <p:spPr>
          <a:xfrm>
            <a:off x="5573856" y="5180410"/>
            <a:ext cx="596740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strike="noStrike">
                <a:solidFill>
                  <a:srgbClr val="0F172A">
                    <a:alpha val="45098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Inter"/>
              </a:rPr>
              <a:t>PRIVATE DOMAIN</a:t>
            </a:r>
            <a:endParaRPr lang="en-US" sz="900" strike="noStrike">
              <a:solidFill>
                <a:srgbClr val="0F172A">
                  <a:alpha val="45098"/>
                </a:srgbClr>
              </a:solidFill>
              <a:latin typeface="PingFang SC" panose="020B0400000000000000" charset="-122"/>
              <a:ea typeface="PingFang SC" panose="020B0400000000000000" charset="-122"/>
              <a:cs typeface="Inter"/>
            </a:endParaRPr>
          </a:p>
        </p:txBody>
      </p:sp>
      <p:sp>
        <p:nvSpPr>
          <p:cNvPr id="58" name="TextBox 24"/>
          <p:cNvSpPr txBox="1"/>
          <p:nvPr/>
        </p:nvSpPr>
        <p:spPr>
          <a:xfrm>
            <a:off x="5573856" y="5428059"/>
            <a:ext cx="6157860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 </a:t>
            </a:r>
            <a:r>
              <a:rPr lang="en-US" sz="1200" strike="noStrike" dirty="0">
                <a:solidFill>
                  <a:srgbClr val="002F7C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私域与社交渠道崛起：</a:t>
            </a:r>
            <a:r>
              <a:rPr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私域社群（29.13%）与微信小程序（23.75%）</a:t>
            </a:r>
            <a:r>
              <a:rPr sz="1200" strike="noStrike" dirty="0" err="1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表现亮眼，基于信</a:t>
            </a:r>
            <a:endParaRPr lang="en-US" sz="11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/>
            <a:r>
              <a:rPr sz="1200" strike="noStrike" dirty="0" err="1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任关系的复购与裂变成为品牌增长新引擎</a:t>
            </a:r>
            <a:r>
              <a:rPr sz="1200" strike="noStrike" dirty="0">
                <a:solidFill>
                  <a:srgbClr val="0F172A">
                    <a:alpha val="87843"/>
                  </a:srgb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 · 核心客户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首批用户聚焦18—35岁、有明确养宠</a:t>
            </a:r>
            <a:r>
              <a:rPr lang="zh-CN"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</a:t>
            </a: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的宠主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95325" y="125984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847850"/>
            <a:ext cx="2875280" cy="32385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2008505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2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71270" y="207137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新手</a:t>
            </a:r>
            <a:r>
              <a:rPr lang="zh-CN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决策型</a:t>
            </a: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宠主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5025" y="2430145"/>
            <a:ext cx="23812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初次养宠；养宠知识有限；习惯通过短视频、搜索和社交平台获取信息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信息来源杂乱；缺少判断依据；面对喂养、健康和商品选择时容易焦虑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需求：</a:t>
            </a:r>
            <a:r>
              <a:rPr lang="zh-CN" altLang="en-US" sz="1200" b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清晰可靠的养宠指导；及时提醒疫苗、驱虫、喂养等事项</a:t>
            </a:r>
            <a:endParaRPr lang="zh-CN" altLang="en-US" sz="1200" b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lang="zh-CN" altLang="en-US" sz="1200" b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flipV="1">
            <a:off x="895350" y="4410075"/>
            <a:ext cx="2320925" cy="762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8395" y="46291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建档 · 新宠清单</a:t>
            </a:r>
            <a:endParaRPr sz="11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439285" y="1847850"/>
            <a:ext cx="2865120" cy="32385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48835" y="1999615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22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lang="en-US" sz="22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62550" y="207264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品质养宠</a:t>
            </a:r>
            <a:r>
              <a:rPr lang="zh-CN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型青年</a:t>
            </a:r>
            <a:endParaRPr lang="zh-CN"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11370" y="2420620"/>
            <a:ext cx="217868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以年轻上班族为主；愿意为宠物投入；关注科学喂养、健康和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宠物生活品质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商品种类多、成分难比较；营销信息影响判断；缺少适合自家宠物的选择依据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个性化商品比较；长期健康记录；更高效的养宠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决策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648835" y="4371975"/>
            <a:ext cx="2306955" cy="762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868545" y="464058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筛选 · 比较 · 跳转</a:t>
            </a:r>
            <a:endParaRPr sz="1125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184515" y="1847850"/>
            <a:ext cx="2864485" cy="32385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399780" y="19875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22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lang="en-US" sz="22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903970" y="20732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多宠</a:t>
            </a:r>
            <a:r>
              <a:rPr lang="zh-CN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管理型</a:t>
            </a: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家庭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402320" y="2432050"/>
            <a:ext cx="23209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特征：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同时饲养两只及以上宠物；宠物年龄、品种和健康情况不同；养宠事务较多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痛点：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容易混淆不同宠物的档案和日程；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用品日常购物品管理复杂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00" b="0">
                <a:solidFill>
                  <a:schemeClr val="accent1">
                    <a:lumMod val="60000"/>
                    <a:lumOff val="40000"/>
                  </a:schemeClr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需求：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分宠建档；统一管理提醒；分别生成喂养建议；集中查看健康、用品与日程信息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402320" y="4371975"/>
            <a:ext cx="2492375" cy="762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681720" y="46291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 · 提醒 · 复购</a:t>
            </a:r>
            <a:endParaRPr sz="1125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257300" y="5429250"/>
            <a:ext cx="9677400" cy="552450"/>
          </a:xfrm>
          <a:prstGeom prst="roundRect">
            <a:avLst>
              <a:gd name="adj" fmla="val 20690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504950" y="5562600"/>
            <a:ext cx="918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首轮商业验证优先选择日常养护和商品决策；诊断、治疗和用药不列入首批商业场景。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  <p:sp>
        <p:nvSpPr>
          <p:cNvPr id="39" name="TextBox 6"/>
          <p:cNvSpPr txBox="1"/>
          <p:nvPr/>
        </p:nvSpPr>
        <p:spPr>
          <a:xfrm>
            <a:off x="580880" y="1343025"/>
            <a:ext cx="11608072" cy="4561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strike="noStrike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</a:t>
            </a:r>
            <a:r>
              <a:rPr lang="en-US" sz="13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聚焦于</a:t>
            </a:r>
            <a:r>
              <a:rPr lang="zh-CN" altLang="en-US" sz="13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</a:t>
            </a:r>
            <a:r>
              <a:rPr lang="en-US" sz="1300" strike="noStrike" dirty="0" err="1">
                <a:solidFill>
                  <a:srgbClr val="002F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愿为品质与便利付费</a:t>
            </a:r>
            <a:r>
              <a:rPr lang="zh-CN" altLang="en-US" sz="1300" strike="noStrike" dirty="0" err="1">
                <a:solidFill>
                  <a:srgbClr val="002F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</a:t>
            </a:r>
            <a:r>
              <a:rPr lang="en-US" sz="13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的细分人群，以</a:t>
            </a:r>
            <a:r>
              <a:rPr lang="en-US" sz="1300" strike="noStrike" dirty="0" err="1">
                <a:solidFill>
                  <a:srgbClr val="002F7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一二线城市精致养宠青年与科学养宠新手为核心基本盘</a:t>
            </a:r>
            <a:r>
              <a:rPr lang="en-US" sz="13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。这类人群具备高消费力与高信息焦虑的</a:t>
            </a:r>
            <a:endParaRPr lang="en-US" sz="1100"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/>
            <a:r>
              <a:rPr sz="1300" strike="noStrike" dirty="0" err="1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双重特征，对'省去决策时间'与'获取专业指导'有着强烈的付费意愿</a:t>
            </a:r>
            <a:r>
              <a:rPr sz="1300" strike="noStrike" dirty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dirty="0"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 · 用户痛点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宠主在判断、核验和持续管理环节缺少有效工具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143375" y="1828800"/>
            <a:ext cx="19050" cy="37147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20050" y="1828800"/>
            <a:ext cx="19050" cy="37147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186690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E8D7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E8D7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3600" b="1">
              <a:solidFill>
                <a:srgbClr val="E8D7C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55370" y="2637155"/>
            <a:ext cx="236918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缺少个体判断依据</a:t>
            </a:r>
            <a:endParaRPr lang="en-US"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决策成本</a:t>
            </a:r>
            <a:r>
              <a:rPr lang="zh-CN" altLang="en-US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较高</a:t>
            </a:r>
            <a:endParaRPr lang="zh-CN" altLang="en-US"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7990" y="3352800"/>
            <a:ext cx="3009900" cy="2179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品种、年龄、体重和健康情况都会影响商品选择，通用榜单难以覆盖个体差异。</a:t>
            </a:r>
            <a:endParaRPr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大部分商品参数晦涩且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SKU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泛滥，38%用户因'怕踩雷'延迟更换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；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且更换同类商品的宠主高度依赖熟人推荐或盲目跟风促销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lang="zh-CN" altLang="en-US"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0" algn="l">
              <a:lnSpc>
                <a:spcPct val="125000"/>
              </a:lnSpc>
              <a:buFont typeface="Wingdings" panose="05000000000000000000" charset="0"/>
              <a:buNone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lang="zh-CN" altLang="en-US"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52950" y="186690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36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52950" y="2724150"/>
            <a:ext cx="3067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信息来源难以核验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224020" y="3352800"/>
            <a:ext cx="3009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搜索、短视频和社区观点存在差异，用户难以确认来源、更新时间和适用条件。</a:t>
            </a:r>
            <a:endParaRPr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29625" y="1866900"/>
            <a:ext cx="104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E8D7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E8D7C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3600" b="1">
              <a:solidFill>
                <a:srgbClr val="E8D7C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472170" y="2581910"/>
            <a:ext cx="2259330" cy="6470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服务记录不连续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客服响应</a:t>
            </a:r>
            <a:r>
              <a:rPr lang="zh-CN" altLang="en-US"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迟缓</a:t>
            </a:r>
            <a:endParaRPr lang="zh-CN" altLang="en-US"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58150" y="3352800"/>
            <a:ext cx="3009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电商平台保存订单，但很少记录宠物状态，用户每次咨询都要重新说明情况。</a:t>
            </a:r>
            <a:endParaRPr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285750" indent="-285750" algn="l">
              <a:lnSpc>
                <a:spcPct val="125000"/>
              </a:lnSpc>
              <a:buFont typeface="Wingdings" panose="05000000000000000000" charset="0"/>
              <a:buChar char=""/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客服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缺乏兽医级专业支撑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导致对用户提问响应迟缓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无法及时解决用户痛点</a:t>
            </a:r>
            <a:r>
              <a:rPr lang="en-US" altLang="zh-CN"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lang="en-US" altLang="zh-CN"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23950" y="5638800"/>
            <a:ext cx="994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用户需要一套能够记录宠物情况、核验信息并提供具体方案的服务。</a:t>
            </a:r>
            <a:endParaRPr sz="16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 · 产品方案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Pawly在一次咨询中连接档案、知识与商品服务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24000" y="2457450"/>
            <a:ext cx="8715375" cy="28575"/>
          </a:xfrm>
          <a:prstGeom prst="rect">
            <a:avLst/>
          </a:prstGeom>
          <a:solidFill>
            <a:srgbClr val="E0B77F"/>
          </a:solidFill>
          <a:ln w="0">
            <a:solidFill>
              <a:srgbClr val="E0B77F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333500" y="2257425"/>
            <a:ext cx="400050" cy="40005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33500" y="23336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29146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描述当前问题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3352800"/>
            <a:ext cx="200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用户使用自然语言提问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3857625" y="2257425"/>
            <a:ext cx="400050" cy="40005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857625" y="23336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43275" y="29146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读取宠物档案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114675" y="3352800"/>
            <a:ext cx="200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调用品种、年龄、体重和健康记录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6381750" y="2257425"/>
            <a:ext cx="400050" cy="40005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81750" y="23336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67400" y="29146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检索知识与商品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38800" y="3352800"/>
            <a:ext cx="200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知识模块检索资料，主助手调用工具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8905875" y="2257425"/>
            <a:ext cx="400050" cy="40005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05875" y="233362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391525" y="29146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生成方案并记录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62925" y="3352800"/>
            <a:ext cx="2000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展示依据、风险提示、商品比较和提醒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104900" y="4629150"/>
            <a:ext cx="9982200" cy="1143000"/>
          </a:xfrm>
          <a:prstGeom prst="roundRect">
            <a:avLst>
              <a:gd name="adj" fmla="val 10000"/>
            </a:avLst>
          </a:prstGeom>
          <a:solidFill>
            <a:srgbClr val="F5EEE5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485900" y="4876800"/>
            <a:ext cx="585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“8个月英短，肠胃敏感，准备换粮，应该重点看什么？”</a:t>
            </a:r>
            <a:endParaRPr sz="17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85900" y="5295900"/>
            <a:ext cx="7219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系统会说明筛选依据、适用条件、风险提示和后续行动。</a:t>
            </a:r>
            <a:endParaRPr sz="14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74355" y="4972050"/>
            <a:ext cx="258889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依据 · 风险 · 比较 · 提醒</a:t>
            </a:r>
            <a:endParaRPr sz="15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 · 使用场景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换粮咨询</a:t>
            </a:r>
            <a:r>
              <a:rPr lang="zh-CN"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的例子</a:t>
            </a: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展示了Pawly的完整服务流程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657350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5EEE5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1847850"/>
            <a:ext cx="1024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用户提问：8个月英短，肠胃敏感，准备换粮，应该重点看什么？</a:t>
            </a:r>
            <a:endParaRPr sz="17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3257550"/>
            <a:ext cx="9810750" cy="28575"/>
          </a:xfrm>
          <a:prstGeom prst="rect">
            <a:avLst/>
          </a:prstGeom>
          <a:solidFill>
            <a:srgbClr val="E0B77F"/>
          </a:solidFill>
          <a:ln w="0">
            <a:solidFill>
              <a:srgbClr val="E0B77F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857250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3400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读取档案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19100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年龄、品种、体重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与健康记录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2543175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543175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219325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确认条件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05025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预算、禁忌、现用粮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与换粮目标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229100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229100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905250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检索资料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790950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调用知识来源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并识别风险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5915025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15025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91175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比较商品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476875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筛出2—3项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说明成分与规格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7600950" y="302895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600950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277100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形成方案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62800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给出换粮节奏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观察项和提示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9286875" y="3028950"/>
            <a:ext cx="457200" cy="45720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286875" y="3133725"/>
            <a:ext cx="457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</a:t>
            </a:r>
            <a:endParaRPr sz="12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963025" y="37338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保存结果</a:t>
            </a:r>
            <a:endParaRPr sz="14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848725" y="4171950"/>
            <a:ext cx="1409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跳转购买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记录并安排提醒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619250" y="5334000"/>
            <a:ext cx="89535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885950" y="5476875"/>
            <a:ext cx="842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一次咨询同时产出筛选依据、商品比较、行动步骤和后续记录。</a:t>
            </a:r>
            <a:endParaRPr sz="15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 · 产品现状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Web产品已覆盖咨询、档案、知识和交易演示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752600"/>
            <a:ext cx="6572250" cy="363855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rcRect t="6997" b="6997"/>
          <a:stretch>
            <a:fillRect/>
          </a:stretch>
        </p:blipFill>
        <p:spPr>
          <a:xfrm>
            <a:off x="800100" y="1866900"/>
            <a:ext cx="6343650" cy="3409950"/>
          </a:xfrm>
          <a:prstGeom prst="roundRect">
            <a:avLst>
              <a:gd name="adj" fmla="val 2235"/>
            </a:avLst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76300" y="55054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商品与智能导购</a:t>
            </a:r>
            <a:endParaRPr sz="15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600950" y="1752600"/>
            <a:ext cx="390525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18497" b="18497"/>
          <a:stretch>
            <a:fillRect/>
          </a:stretch>
        </p:blipFill>
        <p:spPr>
          <a:xfrm>
            <a:off x="7715250" y="1866900"/>
            <a:ext cx="3676650" cy="1447800"/>
          </a:xfrm>
          <a:prstGeom prst="roundRect">
            <a:avLst>
              <a:gd name="adj" fmla="val 5263"/>
            </a:avLst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715250" y="35242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循证知识与风险边界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600950" y="3943350"/>
            <a:ext cx="3905250" cy="14478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rcRect t="23472" b="23472"/>
          <a:stretch>
            <a:fillRect/>
          </a:stretch>
        </p:blipFill>
        <p:spPr>
          <a:xfrm>
            <a:off x="7715250" y="4057650"/>
            <a:ext cx="3676650" cy="1219200"/>
          </a:xfrm>
          <a:prstGeom prst="roundRect">
            <a:avLst>
              <a:gd name="adj" fmla="val 6250"/>
            </a:avLst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7715250" y="55054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宠物档案与持续服务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5943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59 个演示商品</a:t>
            </a:r>
            <a:endParaRPr sz="13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971800" y="59436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76 篇带来源知识</a:t>
            </a:r>
            <a:r>
              <a:rPr lang="zh-CN"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科普</a:t>
            </a:r>
            <a:r>
              <a:rPr lang="zh-CN" sz="13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</a:t>
            </a:r>
            <a:endParaRPr lang="zh-CN" sz="13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10350" y="594360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当前为Web演示版本 · 真实支付及供应链对接待上线</a:t>
            </a:r>
            <a:endParaRPr sz="1125" b="0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 · 项目边界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项目相关</a:t>
            </a: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事项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1809750"/>
            <a:ext cx="70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2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52600" y="1809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产品边界</a:t>
            </a:r>
            <a:endParaRPr sz="17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1828800"/>
            <a:ext cx="7105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当前为Web演示版本</a:t>
            </a:r>
            <a:r>
              <a:rPr lang="en-US"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、APP</a:t>
            </a:r>
            <a:r>
              <a:rPr lang="zh-CN" altLang="en-US"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正处于申请流程</a:t>
            </a: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；真实支付、供应链及联盟结算仍待接入。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52600" y="2476500"/>
            <a:ext cx="89916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8200" y="2762250"/>
            <a:ext cx="70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2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52600" y="2762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商标与知识产权</a:t>
            </a:r>
            <a:endParaRPr sz="17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38550" y="2781300"/>
            <a:ext cx="7105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商标设计已完成，待注册；拟申请发明专利与软件著作权。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752600" y="3429000"/>
            <a:ext cx="89916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8200" y="3714750"/>
            <a:ext cx="70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2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752600" y="3714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合作伙伴</a:t>
            </a:r>
            <a:endParaRPr sz="17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638550" y="3733800"/>
            <a:ext cx="7105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合作伙伴</a:t>
            </a:r>
            <a:r>
              <a:rPr lang="en-US"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——</a:t>
            </a:r>
            <a:r>
              <a:rPr lang="zh-CN" altLang="en-US"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经济与管理学院校外指导老师王常锐</a:t>
            </a:r>
            <a:r>
              <a:rPr lang="en-US" altLang="zh-CN"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、</a:t>
            </a:r>
            <a:r>
              <a:rPr lang="zh-CN" altLang="en-US"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上海塔锐信息技术</a:t>
            </a:r>
            <a:r>
              <a:rPr lang="zh-CN" altLang="en-US"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有限公司</a:t>
            </a:r>
            <a:endParaRPr lang="zh-CN" altLang="en-US"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752600" y="4381500"/>
            <a:ext cx="89916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4667250"/>
            <a:ext cx="704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2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752600" y="4667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财务预测</a:t>
            </a:r>
            <a:endParaRPr sz="17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638550" y="4686300"/>
            <a:ext cx="7105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属于创业计划阶段测算，后续</a:t>
            </a:r>
            <a:r>
              <a:rPr lang="zh-CN"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</a:t>
            </a: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根据获客、转化、履约与税费数据滚动更新。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752600" y="5334000"/>
            <a:ext cx="89916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1428750" y="5734050"/>
            <a:ext cx="9334500" cy="400050"/>
          </a:xfrm>
          <a:prstGeom prst="roundRect">
            <a:avLst>
              <a:gd name="adj" fmla="val 19048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657350" y="5829300"/>
            <a:ext cx="887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下一步核心验证：真实用户留存 · 推荐信任度 · 成交转化 · 获客成本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 · 技术架构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双Agent与业务工具共同完成咨询服务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1962150"/>
            <a:ext cx="1428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7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7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57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66900" y="233362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Agents</a:t>
            </a:r>
            <a:endParaRPr sz="18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9718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主客服Agent + 知识Agent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810000"/>
            <a:ext cx="152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7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7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57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09800" y="41814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业务工具</a:t>
            </a:r>
            <a:endParaRPr sz="18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8200" y="4819650"/>
            <a:ext cx="3105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推荐、搜索、档案、社区、订单等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305300" y="1828800"/>
            <a:ext cx="19050" cy="36004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762500" y="19621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建档</a:t>
            </a:r>
            <a:endParaRPr sz="12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57850" y="19240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结构化宠物档案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57850" y="2362200"/>
            <a:ext cx="523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保存品种、年龄、体重、健康记录和偏好，支持后续咨询继续使用。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762500" y="2971800"/>
            <a:ext cx="60960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762500" y="31432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查证</a:t>
            </a:r>
            <a:endParaRPr sz="12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57850" y="31051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知识来源与风险说明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657850" y="3543300"/>
            <a:ext cx="523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知识Agent检索资料、标记来源，并说明适用条件和健康风险。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762500" y="4152900"/>
            <a:ext cx="60960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62500" y="43243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</a:t>
            </a:r>
            <a:endParaRPr sz="120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57850" y="42862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商品与业务工具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657850" y="4724400"/>
            <a:ext cx="523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主Agent调用商品、档案、社区和订单工具，整理并输出方案。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762500" y="5334000"/>
            <a:ext cx="60960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762500" y="5638800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健康问题：说明风险等级；疑似急症或高风险情况时建议就医</a:t>
            </a:r>
            <a:endParaRPr sz="13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 · 技术架构详解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当前架构支持咨询、知识检索和业务调用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591050" y="1657350"/>
            <a:ext cx="6838950" cy="4324350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762" y="1790700"/>
            <a:ext cx="4245527" cy="40576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85800" y="1809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架构要点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343150"/>
            <a:ext cx="329565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主客服Agent负责意图理解与业务编排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知识Agent负责检索、证据包与边界控制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10项工具连接商品、档案、社区与订单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19张数据表支撑长期上下文与业务状态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高风险健康问题保留人工就医边界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5800" y="4991100"/>
            <a:ext cx="3333750" cy="819150"/>
          </a:xfrm>
          <a:prstGeom prst="roundRect">
            <a:avLst>
              <a:gd name="adj" fmla="val 13953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95350" y="5162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原则</a:t>
            </a:r>
            <a:endParaRPr sz="12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54483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证据优先 · 工具可控 · 风险有界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 · 竞争能力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项目竞争能力需要长期积累四类资产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752600"/>
            <a:ext cx="53149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175260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09650" y="19812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知识质量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09650" y="2476500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记录来源、更新时间和适用条件；健康内容保留风险分级和就医边界。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191250" y="1752600"/>
            <a:ext cx="53149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91250" y="175260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515100" y="19812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宠物档案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15100" y="2476500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持续积累品种、年龄、体重、健康记录和偏好，减少重复说明。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85800" y="3562350"/>
            <a:ext cx="53149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" y="35623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009650" y="3790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商品与交易数据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9650" y="4286250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追踪推荐、点击、订单、退货和复购，校正商品筛选规则。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191250" y="3562350"/>
            <a:ext cx="53149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6191250" y="35623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A85E4A"/>
          </a:solidFill>
          <a:ln w="0">
            <a:solidFill>
              <a:srgbClr val="A85E4A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515100" y="37909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信任与合规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15100" y="4286250"/>
            <a:ext cx="4552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展示推荐依据和风险提示，保留操作日志，并引入专业审校。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57300" y="5467350"/>
            <a:ext cx="967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这些资产会在每次咨询、反馈和真实交易中持续更新。</a:t>
            </a:r>
            <a:endParaRPr sz="16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· 竞争格局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Pawly专注购买前的个性化决策服务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95500" y="5391150"/>
            <a:ext cx="8286750" cy="19050"/>
          </a:xfrm>
          <a:prstGeom prst="rect">
            <a:avLst/>
          </a:prstGeom>
          <a:solidFill>
            <a:srgbClr val="2E2822"/>
          </a:solidFill>
          <a:ln w="0">
            <a:solidFill>
              <a:srgbClr val="2E282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095500" y="2095500"/>
            <a:ext cx="19050" cy="3295650"/>
          </a:xfrm>
          <a:prstGeom prst="rect">
            <a:avLst/>
          </a:prstGeom>
          <a:solidFill>
            <a:srgbClr val="2E2822"/>
          </a:solidFill>
          <a:ln w="0">
            <a:solidFill>
              <a:srgbClr val="2E282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952625" y="56578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通用推荐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53550" y="56578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长期个性化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49530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单点内容 / 商品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0383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全旅程服务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3143250" y="4743450"/>
            <a:ext cx="171450" cy="171450"/>
          </a:xfrm>
          <a:prstGeom prst="ellipse">
            <a:avLst/>
          </a:prstGeom>
          <a:solidFill>
            <a:srgbClr val="B8AEA5"/>
          </a:solidFill>
          <a:ln w="0">
            <a:solidFill>
              <a:srgbClr val="B8AEA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09950" y="4705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淘宝 / 京东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4095750" y="3848100"/>
            <a:ext cx="171450" cy="171450"/>
          </a:xfrm>
          <a:prstGeom prst="ellipse">
            <a:avLst/>
          </a:prstGeom>
          <a:solidFill>
            <a:srgbClr val="E0B77F"/>
          </a:solidFill>
          <a:ln w="0">
            <a:solidFill>
              <a:srgbClr val="E0B77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62450" y="38100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小红书 / 波奇 / E宠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858000" y="3181350"/>
            <a:ext cx="171450" cy="171450"/>
          </a:xfrm>
          <a:prstGeom prst="ellipse">
            <a:avLst/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124700" y="3143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Chewy / Pawp / Alexa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9096375" y="2343150"/>
            <a:ext cx="171450" cy="17145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63075" y="23050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宝狸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86600" y="44386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Pawly提供的服务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86600" y="4819650"/>
            <a:ext cx="3714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根据宠物档案筛选商品，说明依据与风险，并保存结果用于后续提醒。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77300" y="60007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定位比较，非市场份额排名</a:t>
            </a:r>
            <a:endParaRPr sz="97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 · 竞争能力比较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国内外产品分别覆盖交易、内容和专业服务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685800" y="1733550"/>
          <a:ext cx="10820400" cy="4463415"/>
        </p:xfrm>
        <a:graphic>
          <a:graphicData uri="http://schemas.openxmlformats.org/drawingml/2006/table">
            <a:tbl>
              <a:tblPr/>
              <a:tblGrid>
                <a:gridCol w="1809750"/>
                <a:gridCol w="2857500"/>
                <a:gridCol w="3143250"/>
                <a:gridCol w="3009900"/>
              </a:tblGrid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类别/代表</a:t>
                      </a:r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主要优势</a:t>
                      </a:r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当前局限</a:t>
                      </a:r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与Pawly的关系</a:t>
                      </a:r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4A3729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淘宝 / 京东</a:t>
                      </a:r>
                      <a:endParaRPr sz="1125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商品丰富、交易成熟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个体养宠判断较弱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承接外部成交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小红书</a:t>
                      </a:r>
                      <a:endParaRPr sz="1125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内容与经验分享活跃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信息质量和适用性不一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内容触达与需求发现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AF6F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波奇 / E宠</a:t>
                      </a:r>
                      <a:endParaRPr sz="1125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垂直行业资源和商品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个性化咨询连续性有限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垂直品类参照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通用AI</a:t>
                      </a:r>
                      <a:endParaRPr sz="1125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自然语言问答能力强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档案、商品与交易闭环不足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基础模型能力来源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AF6F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Chewy / Pawp</a:t>
                      </a:r>
                      <a:endParaRPr sz="1125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服务体系和专业资源成熟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中国本地商品与场景适配有限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海外产品参照</a:t>
                      </a:r>
                      <a:endParaRPr sz="1125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萌帮</a:t>
                      </a:r>
                      <a:r>
                        <a:rPr lang="en-US" altLang="zh-CN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AI</a:t>
                      </a:r>
                      <a:r>
                        <a:rPr lang="zh-CN" altLang="en-US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养宠助手</a:t>
                      </a:r>
                      <a:endParaRPr lang="zh-CN" altLang="en-US" sz="1125" b="1">
                        <a:solidFill>
                          <a:srgbClr val="4A372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宠物医疗档案</a:t>
                      </a:r>
                      <a:r>
                        <a:rPr lang="en-US" altLang="zh-CN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、</a:t>
                      </a:r>
                      <a:r>
                        <a:rPr lang="zh-CN" altLang="en-US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医疗方案支持</a:t>
                      </a:r>
                      <a:r>
                        <a:rPr lang="en-US" altLang="zh-CN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、</a:t>
                      </a:r>
                      <a:r>
                        <a:rPr lang="zh-CN" altLang="en-US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医疗科普</a:t>
                      </a:r>
                      <a:endParaRPr lang="zh-CN" altLang="en-US" sz="1125" b="1">
                        <a:solidFill>
                          <a:srgbClr val="4A372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仍处于</a:t>
                      </a:r>
                      <a:r>
                        <a:rPr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sym typeface="+mn-ea"/>
                        </a:rPr>
                        <a:t>内测和商业验证阶段</a:t>
                      </a:r>
                      <a:endParaRPr lang="zh-CN" altLang="en-US" sz="1125" b="1">
                        <a:solidFill>
                          <a:srgbClr val="4A372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同类初创产品</a:t>
                      </a:r>
                      <a:r>
                        <a:rPr lang="en-US" altLang="zh-CN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，</a:t>
                      </a:r>
                      <a:r>
                        <a:rPr lang="zh-CN" altLang="en-US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但侧重</a:t>
                      </a:r>
                      <a:r>
                        <a:rPr lang="zh-CN" altLang="en-US"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医疗</a:t>
                      </a:r>
                      <a:endParaRPr lang="zh-CN" altLang="en-US" sz="1125" b="1">
                        <a:solidFill>
                          <a:srgbClr val="4A372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5EEE5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Pawly 宝狸</a:t>
                      </a:r>
                      <a:endParaRPr sz="1125" b="1">
                        <a:solidFill>
                          <a:srgbClr val="4A372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宠物档案、可信知识、商品服务联动</a:t>
                      </a:r>
                      <a:endParaRPr sz="1125" b="1">
                        <a:solidFill>
                          <a:srgbClr val="4A372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仍处内测和商业验证阶段</a:t>
                      </a:r>
                      <a:endParaRPr sz="1125" b="1">
                        <a:solidFill>
                          <a:srgbClr val="4A372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4A372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购买前决策与持续服务</a:t>
                      </a:r>
                      <a:endParaRPr sz="1125" b="1">
                        <a:solidFill>
                          <a:srgbClr val="4A372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38100" marB="38100" anchor="ctr">
                    <a:solidFill>
                      <a:srgbClr val="F5EEE5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5960" y="623760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本页比较产品能力和服务位置，不代表市场份额排名。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 · 盈利模式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近期收入以联盟佣金和会员服务为主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24000" y="3162300"/>
            <a:ext cx="8858250" cy="381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428750" y="2895600"/>
            <a:ext cx="590550" cy="59055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302895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27760" y="1943100"/>
            <a:ext cx="121094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联盟佣金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810000"/>
            <a:ext cx="2705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用户在第三方平台完成购买，佣金率预计3%—8%，财务模型按5%测算。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4810125" y="2895600"/>
            <a:ext cx="590550" cy="59055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810125" y="302895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33875" y="1943100"/>
            <a:ext cx="2705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会员与精选服务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333875" y="3810000"/>
            <a:ext cx="2705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会员规划9.9—15元/月；复购数据稳定后试点精选商品。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8191500" y="2895600"/>
            <a:ext cx="590550" cy="590550"/>
          </a:xfrm>
          <a:prstGeom prst="ellipse">
            <a:avLst/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0" y="3028950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15250" y="1943100"/>
            <a:ext cx="2705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补充合作收入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715250" y="3810000"/>
            <a:ext cx="2705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品牌内容、平台服务和联名商品属于后续补充收入。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123950" y="5181600"/>
            <a:ext cx="9963150" cy="685800"/>
          </a:xfrm>
          <a:prstGeom prst="roundRect">
            <a:avLst>
              <a:gd name="adj" fmla="val 16667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28750" y="5381625"/>
            <a:ext cx="9372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当前市场工作集中在C端用户增长，联盟佣金和会员服务承担近期收入验证。</a:t>
            </a:r>
            <a:endParaRPr sz="15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 · 用户增长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内容渠道负责触达，宠物档案负责留存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33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主要触达渠道</a:t>
            </a:r>
            <a:endParaRPr sz="1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13360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小红书 · </a:t>
            </a:r>
            <a:r>
              <a:rPr lang="zh-CN"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公众号</a:t>
            </a:r>
            <a:r>
              <a:rPr lang="en-US" altLang="zh-CN"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</a:t>
            </a:r>
            <a:r>
              <a:rPr lang="zh-CN" altLang="en-US"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抖音达人合作</a:t>
            </a: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· 校园与宠物展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3390900"/>
            <a:ext cx="9810750" cy="381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952500" y="3124200"/>
            <a:ext cx="533400" cy="5334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内容触达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场景问题与知识内容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3048000" y="3124200"/>
            <a:ext cx="533400" cy="5334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7051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提问建档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955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用具体问题进入产品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5143500" y="3124200"/>
            <a:ext cx="533400" cy="5334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8006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获得方案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910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理解依据并保存结果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7239000" y="3124200"/>
            <a:ext cx="533400" cy="5334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390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961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完成转化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865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联盟订单或会员服务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9334500" y="3124200"/>
            <a:ext cx="533400" cy="53340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334500" y="32766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91600" y="40005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提醒回访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782050" y="4419600"/>
            <a:ext cx="1638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记录变化并继续咨询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162050" y="5353050"/>
            <a:ext cx="9867900" cy="552450"/>
          </a:xfrm>
          <a:prstGeom prst="roundRect">
            <a:avLst>
              <a:gd name="adj" fmla="val 20690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428750" y="5495925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留存依靠持续更新的档案、咨询记录和提醒，投放规模由留存与获客成本决定。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 · 用户验证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100+真实用户正在参与产品验证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2880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100+</a:t>
            </a:r>
            <a:endParaRPr sz="40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5336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真实体验用户 · 截至2026.08.22</a:t>
            </a:r>
            <a:endParaRPr sz="15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162300"/>
            <a:ext cx="4191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300+份有效需求问卷（截至2026.07.31）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产品于2026.08.10开放体验并启动内测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已收到50余条用户反馈，内测持续进行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38750" y="1790700"/>
            <a:ext cx="19050" cy="36957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34050" y="1866900"/>
            <a:ext cx="171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9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9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59</a:t>
            </a:r>
            <a:endParaRPr sz="39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34050" y="2590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演示商品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82000" y="1866900"/>
            <a:ext cx="171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9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9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76</a:t>
            </a:r>
            <a:endParaRPr sz="39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0" y="2590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带来源知识内容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734050" y="3486150"/>
            <a:ext cx="171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9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9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</a:t>
            </a:r>
            <a:endParaRPr sz="390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734050" y="4210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数据库表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3486150"/>
            <a:ext cx="171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90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90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49</a:t>
            </a:r>
            <a:endParaRPr sz="390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0" y="4210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后端业务操作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85800" y="5124450"/>
            <a:ext cx="10439400" cy="762000"/>
          </a:xfrm>
          <a:prstGeom prst="roundRect">
            <a:avLst>
              <a:gd name="adj" fmla="val 15000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71550" y="53149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核心客户</a:t>
            </a:r>
            <a:endParaRPr sz="12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114550" y="5314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18—35岁年轻宠主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72000" y="53149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奖项</a:t>
            </a:r>
            <a:endParaRPr sz="12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19700" y="53149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暂无</a:t>
            </a:r>
            <a:endParaRPr sz="127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705600" y="53149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合作/知识产权</a:t>
            </a:r>
            <a:endParaRPr sz="12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24800" y="5276850"/>
            <a:ext cx="2914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合作伙伴待确认；商标已设计，待注册；拟申请专利及软著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 · 调研与反馈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用户调研和内测反馈已经进入产品迭代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7165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300+</a:t>
            </a:r>
            <a:endParaRPr sz="34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400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有效问卷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724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截至2026.07.31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43250" y="177165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100+</a:t>
            </a:r>
            <a:endParaRPr sz="34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43250" y="2400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真实体验用户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143250" y="2724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截至2026.08.22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600700" y="1771650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50+</a:t>
            </a:r>
            <a:endParaRPr sz="34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600700" y="24003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用户反馈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00700" y="2724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内测持续进行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181350"/>
            <a:ext cx="73342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3524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典型反馈与处理</a:t>
            </a:r>
            <a:endParaRPr sz="18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4057650"/>
            <a:ext cx="7334250" cy="1428750"/>
          </a:xfrm>
          <a:prstGeom prst="roundRect">
            <a:avLst>
              <a:gd name="adj" fmla="val 8000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2672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</a:t>
            </a:r>
            <a:endParaRPr sz="120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81150" y="4229100"/>
            <a:ext cx="609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用户询问某种症状可能对应什么疾病时，AI只提示去医院，回答过于死板。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4400" y="49149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调整</a:t>
            </a:r>
            <a:endParaRPr sz="120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581150" y="4857750"/>
            <a:ext cx="609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保留不做诊断的安全边界，同时补充风险说明、需要观察的信息和更清晰的就医建议。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420100" y="1752600"/>
            <a:ext cx="19050" cy="39052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877300" y="18859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待补充材料</a:t>
            </a:r>
            <a:endParaRPr sz="1725" b="1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2550" y="2514600"/>
            <a:ext cx="2095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匿名问卷摘要</a:t>
            </a:r>
            <a:endParaRPr sz="1350" b="0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用户访谈摘录</a:t>
            </a:r>
            <a:endParaRPr sz="1350" b="0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内测反馈截图</a:t>
            </a:r>
            <a:endParaRPr sz="1350" b="0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迭代前后对比</a:t>
            </a:r>
            <a:endParaRPr sz="1350" b="0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指标口径与样本说明</a:t>
            </a:r>
            <a:endParaRPr sz="1350" b="0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350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zh-CN" altLang="en-US" sz="1350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可以选择部分放图即可</a:t>
            </a:r>
            <a:r>
              <a:rPr lang="en-US" sz="1350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</a:t>
            </a:r>
            <a:endParaRPr lang="en-US" sz="1350" b="0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05850" y="5219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公开展示前需完成匿名化处理</a:t>
            </a:r>
            <a:endParaRPr sz="1050" b="0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 · 项目里程碑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项目已经完成原型、产品部署和首轮用户验证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333750"/>
            <a:ext cx="9982200" cy="38100"/>
          </a:xfrm>
          <a:prstGeom prst="rect">
            <a:avLst/>
          </a:prstGeom>
          <a:solidFill>
            <a:srgbClr val="E0B77F"/>
          </a:solidFill>
          <a:ln w="0">
            <a:solidFill>
              <a:srgbClr val="E0B77F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8191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06.02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完成产品原型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76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明确核心流程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26479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3812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06—07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526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开发核心模块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764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咨询、档案、知识、商品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44767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2100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07.21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9814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公司完成注册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9052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主体与资本信息确认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3055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388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07.31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8102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300+有效问卷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340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完成首轮需求调研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8134350" y="3124200"/>
            <a:ext cx="457200" cy="4572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8676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08.10</a:t>
            </a:r>
            <a:endParaRPr sz="13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390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开放体验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628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同日启动内测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9963150" y="3124200"/>
            <a:ext cx="457200" cy="45720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696450" y="213360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08.22</a:t>
            </a:r>
            <a:endParaRPr sz="1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467850" y="2571750"/>
            <a:ext cx="1447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100+体验用户</a:t>
            </a:r>
            <a:endParaRPr sz="13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91650" y="3943350"/>
            <a:ext cx="1600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累计50余条反馈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76300" y="514350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162050" y="527685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</a:t>
            </a:r>
            <a:r>
              <a:rPr lang="zh-CN" sz="14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</a:t>
            </a:r>
            <a:r>
              <a:rPr sz="14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：内测迭代</a:t>
            </a:r>
            <a:endParaRPr sz="142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333750" y="5276850"/>
            <a:ext cx="767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下一阶段：微信小程序、联盟与支付接入、真实订单和留存验证</a:t>
            </a:r>
            <a:endParaRPr sz="15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 · 验证计划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下一阶段重点验证留存、成交和成本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809750"/>
            <a:ext cx="3162300" cy="32956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809750"/>
            <a:ext cx="3162300" cy="76200"/>
          </a:xfrm>
          <a:prstGeom prst="rect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2076450"/>
            <a:ext cx="2590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已经获得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0600" y="2724150"/>
            <a:ext cx="25527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300+份有效问卷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100+名体验用户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50余条反馈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核心咨询流程已上线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362450" y="1809750"/>
            <a:ext cx="3162300" cy="32956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362450" y="1809750"/>
            <a:ext cx="3162300" cy="762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48200" y="2076450"/>
            <a:ext cx="2590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内测过程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2724150"/>
            <a:ext cx="25527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宠物档案完成率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首次咨询完成率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推荐依据理解度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7日回访与高频场景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039100" y="1809750"/>
            <a:ext cx="3162300" cy="32956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39100" y="1809750"/>
            <a:ext cx="3162300" cy="76200"/>
          </a:xfrm>
          <a:prstGeom prst="rect">
            <a:avLst/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24850" y="2076450"/>
            <a:ext cx="2590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商业验证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43900" y="2724150"/>
            <a:ext cx="25527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30/90日留存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商品点击与有效订单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退货、复购、会员转化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获客成本与单用户AI成本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162050" y="5467350"/>
            <a:ext cx="9867900" cy="514350"/>
          </a:xfrm>
          <a:prstGeom prst="roundRect">
            <a:avLst>
              <a:gd name="adj" fmla="val 22222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428750" y="560070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数据达到阶段目标后扩大获客；未达到时优先调整产品流程和使用场景。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 · SWOT与经营策略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项目采取聚焦场景、谨慎扩张的经营策略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0" y="1790700"/>
            <a:ext cx="19050" cy="39243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752850"/>
            <a:ext cx="10629900" cy="1905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1809750"/>
            <a:ext cx="70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</a:t>
            </a:r>
            <a:endParaRPr sz="345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95450" y="19240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优势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71550" y="2552700"/>
            <a:ext cx="4667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结构化宠物档案形成连续上下文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循证知识与业务执行形成闭环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联盟佣金优先，早期模式轻资产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1809750"/>
            <a:ext cx="70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</a:t>
            </a:r>
            <a:endParaRPr sz="34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96150" y="19240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短板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2552700"/>
            <a:ext cx="4667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品牌与初始用户基础仍弱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真实支付和供应链尚待对接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团队规模小，运营能力需补齐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3905250"/>
            <a:ext cx="70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</a:t>
            </a:r>
            <a:endParaRPr sz="34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95450" y="40195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机会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71550" y="4648200"/>
            <a:ext cx="4667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年轻宠主占比提升，AI接受度增长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信息过载放大可信决策需求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宠物生命周期服务仍然分散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3905250"/>
            <a:ext cx="70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</a:t>
            </a:r>
            <a:endParaRPr sz="34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96150" y="40195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威胁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72250" y="4648200"/>
            <a:ext cx="4667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大型平台加速接入AI推荐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健康内容面临合规与信任风险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15000"/>
              </a:lnSpc>
              <a:spcAft>
                <a:spcPts val="10"/>
              </a:spcAft>
              <a:buNone/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获客成本可能随竞争上升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524000" y="5905500"/>
            <a:ext cx="914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优先验证换粮、新手清单等高意图场景，经营指标稳定后再扩大投放和自营。</a:t>
            </a:r>
            <a:endParaRPr sz="14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矩形 50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21 · 团队成员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五人团队覆盖项目初期的主要职能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685800" y="1885950"/>
            <a:ext cx="704850" cy="70485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07645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林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800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林晨</a:t>
            </a:r>
            <a:endParaRPr sz="17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3181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董事长 / 项目负责人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381000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同济大学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工业工程与管理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硕士研究生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4686300"/>
            <a:ext cx="16764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48577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相关经历 / 代表成果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514350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待成员补充</a:t>
            </a:r>
            <a:endParaRPr sz="112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2914650" y="1885950"/>
            <a:ext cx="704850" cy="704850"/>
          </a:xfrm>
          <a:prstGeom prst="ellipse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914650" y="207645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</a:t>
            </a:r>
            <a:endParaRPr sz="18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914650" y="2800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周杰亮</a:t>
            </a:r>
            <a:endParaRPr sz="17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14650" y="3181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总经理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14650" y="381000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同济大学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工业工程与管理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硕士研究生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914650" y="4686300"/>
            <a:ext cx="16764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914650" y="48577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相关经历 / 代表成果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914650" y="514350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待成员补充</a:t>
            </a:r>
            <a:endParaRPr sz="112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5143500" y="1885950"/>
            <a:ext cx="704850" cy="70485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143500" y="207645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143500" y="2800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金柳扬</a:t>
            </a:r>
            <a:endParaRPr sz="17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143500" y="3181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技术负责人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143500" y="381000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浙江工业大学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软件工程本科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143500" y="4686300"/>
            <a:ext cx="16764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143500" y="48577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相关经历 / 代表成果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143500" y="514350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待成员补充</a:t>
            </a:r>
            <a:endParaRPr sz="112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7372350" y="1885950"/>
            <a:ext cx="704850" cy="704850"/>
          </a:xfrm>
          <a:prstGeom prst="ellipse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372350" y="207645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钟</a:t>
            </a:r>
            <a:endParaRPr sz="18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372350" y="2800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钟晨瑗</a:t>
            </a:r>
            <a:endParaRPr sz="17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372350" y="3181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市场负责人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372350" y="381000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同济大学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工业工程与管理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硕士研究生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372350" y="4686300"/>
            <a:ext cx="16764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372350" y="48577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相关经历 / 代表成果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372350" y="514350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待成员补充</a:t>
            </a:r>
            <a:endParaRPr sz="112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椭圆 39"/>
          <p:cNvSpPr>
            <a:spLocks noGrp="1"/>
          </p:cNvSpPr>
          <p:nvPr/>
        </p:nvSpPr>
        <p:spPr>
          <a:xfrm>
            <a:off x="9601200" y="1885950"/>
            <a:ext cx="704850" cy="704850"/>
          </a:xfrm>
          <a:prstGeom prst="ellipse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601200" y="207645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吕</a:t>
            </a:r>
            <a:endParaRPr sz="18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601200" y="2800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吕晓慧</a:t>
            </a:r>
            <a:endParaRPr sz="17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601200" y="3181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财务负责人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601200" y="3810000"/>
            <a:ext cx="1847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同济大学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工业工程与管理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硕士研究生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601200" y="4686300"/>
            <a:ext cx="167640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601200" y="48577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相关经历 / 代表成果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601200" y="514350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待成员补充</a:t>
            </a:r>
            <a:endParaRPr sz="112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85800" y="56769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33450" y="5791200"/>
            <a:ext cx="561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2026.07.21完成注册  ·  注册资本200万元  ·  5年内实缴</a:t>
            </a:r>
            <a:endParaRPr sz="12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324600" y="5791200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股权结构：林晨85% / 周杰亮5% / 金柳扬5% / 吕晓慧5%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 · 发展规划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三年规划按商业验证、收入提升、规模经营推进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28750" y="3390900"/>
            <a:ext cx="9144000" cy="381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466850" y="18097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YEAR 1</a:t>
            </a:r>
            <a:endParaRPr sz="1200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66850" y="219075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完成商业验证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466850" y="3152775"/>
            <a:ext cx="495300" cy="495300"/>
          </a:xfrm>
          <a:prstGeom prst="ellipse">
            <a:avLst/>
          </a:prstGeom>
          <a:solidFill>
            <a:srgbClr val="4A3729"/>
          </a:solidFill>
          <a:ln w="0">
            <a:solidFill>
              <a:srgbClr val="4A372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66850" y="3981450"/>
            <a:ext cx="26098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完成小程序与联盟接入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统计留存与真实订单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建立用户反馈机制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38700" y="18097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YEAR 2</a:t>
            </a:r>
            <a:endParaRPr sz="12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38700" y="219075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提高收入质量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4838700" y="3152775"/>
            <a:ext cx="495300" cy="495300"/>
          </a:xfrm>
          <a:prstGeom prst="ellipse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838700" y="3981450"/>
            <a:ext cx="26098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上线会员服务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试点精选商品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完善数据运营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10550" y="18097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YEAR 3</a:t>
            </a:r>
            <a:endParaRPr sz="120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10550" y="219075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开展规模经营</a:t>
            </a:r>
            <a:endParaRPr sz="18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8210550" y="3152775"/>
            <a:ext cx="495300" cy="495300"/>
          </a:xfrm>
          <a:prstGeom prst="ellipse">
            <a:avLst/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210550" y="3981450"/>
            <a:ext cx="26098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扩展多端产品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增加合作与自有商品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20000"/>
              </a:lnSpc>
              <a:spcAft>
                <a:spcPts val="10"/>
              </a:spcAft>
              <a:buNone/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形成阶段性利润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257300" y="5391150"/>
            <a:ext cx="9677400" cy="533400"/>
          </a:xfrm>
          <a:prstGeom prst="roundRect">
            <a:avLst>
              <a:gd name="adj" fmla="val 21429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562100" y="5524500"/>
            <a:ext cx="906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每年根据留存、订单、复购和现金流数据安排下一阶段投入。</a:t>
            </a:r>
            <a:endParaRPr sz="157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23 · 财务假设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财务预测基于用户、GMV和收入结构三项假设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90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月活用户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171700" y="17716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1万 / 4万 / 10万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22885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533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年度GMV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71700" y="25146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180万 / 720万 / 2000万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297180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32766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联盟佣金率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71700" y="32575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基准按5%测算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71475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4019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会员价格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171700" y="40005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年均约100元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5800" y="445770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47625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精选自营毛利率</a:t>
            </a:r>
            <a:endParaRPr sz="12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171700" y="47434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基准按30%测算</a:t>
            </a:r>
            <a:endParaRPr sz="157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5200650"/>
            <a:ext cx="4476750" cy="9525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graphicFrame>
        <p:nvGraphicFramePr>
          <p:cNvPr id="48" name="表格 47"/>
          <p:cNvGraphicFramePr/>
          <p:nvPr/>
        </p:nvGraphicFramePr>
        <p:xfrm>
          <a:off x="5638800" y="1809750"/>
          <a:ext cx="5486400" cy="3009900"/>
        </p:xfrm>
        <a:graphic>
          <a:graphicData uri="http://schemas.openxmlformats.org/drawingml/2006/table">
            <a:tbl>
              <a:tblPr/>
              <a:tblGrid>
                <a:gridCol w="2057400"/>
                <a:gridCol w="1143000"/>
                <a:gridCol w="1143000"/>
                <a:gridCol w="1143000"/>
              </a:tblGrid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收入结构（万元）</a:t>
                      </a:r>
                      <a:endParaRPr sz="1125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第一年</a:t>
                      </a:r>
                      <a:endParaRPr sz="1125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第二年</a:t>
                      </a:r>
                      <a:endParaRPr sz="1125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第三年</a:t>
                      </a:r>
                      <a:endParaRPr sz="1125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4A3729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联盟佣金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9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36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100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会员服务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精选自营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80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品牌及服务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11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20</a:t>
                      </a:r>
                      <a:endParaRPr sz="120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AF6F0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合计</a:t>
                      </a:r>
                      <a:endParaRPr sz="120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15</a:t>
                      </a:r>
                      <a:endParaRPr sz="120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82</a:t>
                      </a:r>
                      <a:endParaRPr sz="120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220</a:t>
                      </a:r>
                      <a:endParaRPr sz="120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76200" marR="57150" marT="28575" marB="28575" anchor="ctr">
                    <a:solidFill>
                      <a:srgbClr val="F5EEE5"/>
                    </a:solidFill>
                  </a:tcPr>
                </a:tc>
              </a:tr>
            </a:tbl>
          </a:graphicData>
        </a:graphic>
      </p:graphicFrame>
      <p:sp>
        <p:nvSpPr>
          <p:cNvPr id="24" name="圆角矩形 23"/>
          <p:cNvSpPr>
            <a:spLocks noGrp="1"/>
          </p:cNvSpPr>
          <p:nvPr/>
        </p:nvSpPr>
        <p:spPr>
          <a:xfrm>
            <a:off x="5638800" y="5124450"/>
            <a:ext cx="5486400" cy="666750"/>
          </a:xfrm>
          <a:prstGeom prst="roundRect">
            <a:avLst>
              <a:gd name="adj" fmla="val 17143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886450" y="5248275"/>
            <a:ext cx="4991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品牌及服务为补充收入；当前重点仍是C端用户、联盟佣金和会员服务。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 · 三年财务预测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基准情景下，第三年税前利润预计75万元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28" name="Chart"/>
          <p:cNvGraphicFramePr/>
          <p:nvPr/>
        </p:nvGraphicFramePr>
        <p:xfrm>
          <a:off x="685800" y="1752600"/>
          <a:ext cx="685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914400" y="18288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营业收入（万元）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981950" y="1828800"/>
            <a:ext cx="19050" cy="3543300"/>
          </a:xfrm>
          <a:prstGeom prst="rect">
            <a:avLst/>
          </a:prstGeom>
          <a:solidFill>
            <a:srgbClr val="E8D7C2"/>
          </a:solidFill>
          <a:ln w="0">
            <a:solidFill>
              <a:srgbClr val="E8D7C2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420100" y="19621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税前利润</a:t>
            </a:r>
            <a:endParaRPr sz="15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20100" y="27051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第一年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0" y="25336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31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−18</a:t>
            </a:r>
            <a:endParaRPr sz="31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420100" y="356235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第二年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25000" y="339090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31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A85E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−5</a:t>
            </a:r>
            <a:endParaRPr sz="3150" b="1">
              <a:solidFill>
                <a:srgbClr val="A85E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20100" y="44196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第三年</a:t>
            </a:r>
            <a:endParaRPr sz="127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25000" y="42481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31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+75</a:t>
            </a:r>
            <a:endParaRPr sz="31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639300" y="4972050"/>
            <a:ext cx="1219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单位：万元</a:t>
            </a:r>
            <a:endParaRPr sz="97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5800" y="5543550"/>
            <a:ext cx="10439400" cy="495300"/>
          </a:xfrm>
          <a:prstGeom prst="roundRect">
            <a:avLst>
              <a:gd name="adj" fmla="val 15385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5667375"/>
            <a:ext cx="9982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口径说明：第三年采用财务表中的税前利润75万元</a:t>
            </a:r>
            <a:r>
              <a:rPr lang="zh-CN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为事前估算</a:t>
            </a:r>
            <a:r>
              <a:rPr lang="en-US" altLang="zh-CN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具体数值代商品联盟等比例明确后</a:t>
            </a:r>
            <a:r>
              <a:rPr lang="zh-CN" altLang="en-US"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再估计</a:t>
            </a:r>
            <a:endParaRPr lang="zh-CN" altLang="en-US"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 · 财务明细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三年财务预测保持同一测算口径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1104900" y="1695450"/>
          <a:ext cx="9982200" cy="4267200"/>
        </p:xfrm>
        <a:graphic>
          <a:graphicData uri="http://schemas.openxmlformats.org/drawingml/2006/table">
            <a:tbl>
              <a:tblPr/>
              <a:tblGrid>
                <a:gridCol w="4381500"/>
                <a:gridCol w="1866900"/>
                <a:gridCol w="1866900"/>
                <a:gridCol w="1866900"/>
              </a:tblGrid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指标（万元）</a:t>
                      </a:r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第一年</a:t>
                      </a:r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第二年</a:t>
                      </a:r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4A37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第三年</a:t>
                      </a:r>
                      <a:endParaRPr sz="1200" b="1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4A3729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营业收入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15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82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220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其中：联盟收入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9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36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100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会员收入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精选自营收入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80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品牌及服务收入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11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税前利润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85E4A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−18</a:t>
                      </a:r>
                      <a:endParaRPr sz="1050" b="1">
                        <a:solidFill>
                          <a:srgbClr val="A85E4A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85E4A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−5</a:t>
                      </a:r>
                      <a:endParaRPr sz="1050" b="1">
                        <a:solidFill>
                          <a:srgbClr val="A85E4A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72866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75</a:t>
                      </a:r>
                      <a:endParaRPr sz="1050" b="1">
                        <a:solidFill>
                          <a:srgbClr val="72866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经营活动现金流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−18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−5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75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投资活动现金流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−20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−35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融资活动现金流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期末现金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32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7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47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资产合计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32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27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102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长期资产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55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负债合计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0</a:t>
                      </a:r>
                      <a:endParaRPr sz="1050" b="0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所有者权益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32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27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E2822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102</a:t>
                      </a:r>
                      <a:endParaRPr sz="1050" b="1">
                        <a:solidFill>
                          <a:srgbClr val="2E2822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76200" marT="19050" marB="19050" anchor="ctr"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1104900" y="6115050"/>
            <a:ext cx="998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注：预测为创业计划阶段测算，正式经营后应按实际获客、转化、履约与税费数据滚动修订。</a:t>
            </a:r>
            <a:endParaRPr sz="97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26 · 财务敏感性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第三年收入变化会直接影响利润空间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1809750"/>
            <a:ext cx="3162300" cy="34290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7D746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2095500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审慎情景</a:t>
            </a:r>
            <a:endParaRPr sz="1875" b="1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27622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营业收入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52500" y="30670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160</a:t>
            </a:r>
            <a:endParaRPr sz="36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24100" y="33718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万元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38481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税前利润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33600" y="3733800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2550" b="1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49</a:t>
            </a:r>
            <a:r>
              <a:rPr lang="zh-CN" sz="1400" b="1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万元</a:t>
            </a:r>
            <a:endParaRPr lang="zh-CN" sz="2550" b="1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2500" y="4457700"/>
            <a:ext cx="2628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用户和GMV低于基准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减少市场及自营投入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362450" y="1809750"/>
            <a:ext cx="3162300" cy="34290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28575">
            <a:solidFill>
              <a:srgbClr val="C7925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29150" y="2095500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基准情景</a:t>
            </a:r>
            <a:endParaRPr sz="18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29150" y="27622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营业收入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29150" y="30670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220</a:t>
            </a:r>
            <a:endParaRPr sz="36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00750" y="33718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万元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629150" y="38481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税前利润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810250" y="3733800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25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75</a:t>
            </a:r>
            <a:r>
              <a:rPr lang="zh-CN" sz="1400" b="1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万元</a:t>
            </a:r>
            <a:endParaRPr lang="zh-CN" sz="1400" b="1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29150" y="4457700"/>
            <a:ext cx="2628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沿用创业计划书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作为经营预算基线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039100" y="1809750"/>
            <a:ext cx="3162300" cy="34290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72866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305800" y="2095500"/>
            <a:ext cx="262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积极情景</a:t>
            </a:r>
            <a:endParaRPr sz="1875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05800" y="27622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营业收入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05800" y="30670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280</a:t>
            </a:r>
            <a:endParaRPr sz="36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77400" y="33718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万元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05800" y="38481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税前利润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486900" y="3733800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25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102</a:t>
            </a:r>
            <a:r>
              <a:rPr lang="zh-CN" sz="1400" b="1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万元</a:t>
            </a:r>
            <a:endParaRPr lang="zh-CN" sz="255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305800" y="4457700"/>
            <a:ext cx="2628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留存、订单和复购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20000"/>
              </a:lnSpc>
              <a:buNone/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高于基准假设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257300" y="5562600"/>
            <a:ext cx="9677400" cy="419100"/>
          </a:xfrm>
          <a:prstGeom prst="roundRect">
            <a:avLst>
              <a:gd name="adj" fmla="val 18182"/>
            </a:avLst>
          </a:prstGeom>
          <a:solidFill>
            <a:srgbClr val="F5EEE5"/>
          </a:solidFill>
          <a:ln w="0">
            <a:solidFill>
              <a:srgbClr val="F5EEE5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524000" y="5657850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敏感性情景用于经营计划，不构成收益承诺；正式经营后按月滚动修订。</a:t>
            </a:r>
            <a:endParaRPr sz="12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27 · 融资计划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50万元主要用于未来12个月的商业验证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52600"/>
            <a:ext cx="2000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8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8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</a:t>
            </a:r>
            <a:endParaRPr sz="58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552700" y="219075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万元</a:t>
            </a:r>
            <a:endParaRPr sz="18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800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计划融资</a:t>
            </a:r>
            <a:endParaRPr sz="135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33147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出让 20% 股权</a:t>
            </a:r>
            <a:endParaRPr sz="24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886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*融资金额及股权比例按照创业园规定设置</a:t>
            </a:r>
            <a:endParaRPr sz="105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857750" y="184785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资金用途</a:t>
            </a:r>
            <a:endParaRPr sz="165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57750" y="2400300"/>
            <a:ext cx="1981200" cy="323850"/>
          </a:xfrm>
          <a:prstGeom prst="rect">
            <a:avLst/>
          </a:prstGeom>
          <a:solidFill>
            <a:srgbClr val="E0B77F"/>
          </a:solidFill>
          <a:ln w="0">
            <a:solidFill>
              <a:srgbClr val="E0B77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38950" y="2400300"/>
            <a:ext cx="1485900" cy="323850"/>
          </a:xfrm>
          <a:prstGeom prst="rect">
            <a:avLst/>
          </a:prstGeom>
          <a:solidFill>
            <a:srgbClr val="72866F"/>
          </a:solidFill>
          <a:ln w="0">
            <a:solidFill>
              <a:srgbClr val="72866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24850" y="2400300"/>
            <a:ext cx="495300" cy="323850"/>
          </a:xfrm>
          <a:prstGeom prst="rect">
            <a:avLst/>
          </a:prstGeom>
          <a:solidFill>
            <a:srgbClr val="B9705B"/>
          </a:solidFill>
          <a:ln w="0">
            <a:solidFill>
              <a:srgbClr val="B9705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820150" y="2400300"/>
            <a:ext cx="495300" cy="323850"/>
          </a:xfrm>
          <a:prstGeom prst="rect">
            <a:avLst/>
          </a:prstGeom>
          <a:solidFill>
            <a:srgbClr val="8D7764"/>
          </a:solidFill>
          <a:ln w="0">
            <a:solidFill>
              <a:srgbClr val="8D776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315450" y="2400300"/>
            <a:ext cx="495300" cy="323850"/>
          </a:xfrm>
          <a:prstGeom prst="rect">
            <a:avLst/>
          </a:prstGeom>
          <a:solidFill>
            <a:srgbClr val="C8B7A6"/>
          </a:solidFill>
          <a:ln w="0">
            <a:solidFill>
              <a:srgbClr val="C8B7A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857750" y="2952750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E0B77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E0B77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40%</a:t>
            </a:r>
            <a:endParaRPr sz="1200" b="1">
              <a:solidFill>
                <a:srgbClr val="E0B77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38950" y="2952750"/>
            <a:ext cx="1485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72866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30%</a:t>
            </a:r>
            <a:endParaRPr sz="1200" b="1">
              <a:solidFill>
                <a:srgbClr val="72866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24850" y="29527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B970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B9705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10%</a:t>
            </a:r>
            <a:endParaRPr sz="1200" b="1">
              <a:solidFill>
                <a:srgbClr val="B9705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820150" y="29527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8D77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8D77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10%</a:t>
            </a:r>
            <a:endParaRPr sz="1200" b="1">
              <a:solidFill>
                <a:srgbClr val="8D776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15450" y="29527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C8B7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8B7A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10%</a:t>
            </a:r>
            <a:endParaRPr sz="1200" b="1">
              <a:solidFill>
                <a:srgbClr val="C8B7A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857750" y="3333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市场与获客 40%   ·   产品研发 30%</a:t>
            </a:r>
            <a:endParaRPr sz="1125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857750" y="3638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合规服务 / 云与AI / 运营储备  各10%</a:t>
            </a:r>
            <a:endParaRPr sz="1125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9525000" y="4000500"/>
            <a:ext cx="16573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00" y="4114800"/>
            <a:ext cx="1428750" cy="14287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9639300" y="57340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扫码体验</a:t>
            </a:r>
            <a:endParaRPr sz="112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5800" y="4838700"/>
            <a:ext cx="723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4A372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12个月交付：小程序、联盟支付、真实订单、留存与成本数据</a:t>
            </a:r>
            <a:endParaRPr sz="2025" b="1">
              <a:solidFill>
                <a:srgbClr val="4A372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685800" y="4381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28 · 项目总结</a:t>
            </a:r>
            <a:endParaRPr sz="975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752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Pawly让日常养宠决策更准确、更省心</a:t>
            </a:r>
            <a:endParaRPr sz="2700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" cy="38100"/>
          </a:xfrm>
          <a:prstGeom prst="rect">
            <a:avLst/>
          </a:prstGeom>
          <a:solidFill>
            <a:srgbClr val="C79255"/>
          </a:solidFill>
          <a:ln w="0">
            <a:solidFill>
              <a:srgbClr val="C79255"/>
            </a:solidFill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922" y="238125"/>
            <a:ext cx="2259407" cy="8953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85800" y="64579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  |  项目路演</a:t>
            </a:r>
            <a:endParaRPr sz="9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144250" y="64389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900" b="0">
                <a:solidFill>
                  <a:srgbClr val="B8AEA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</a:t>
            </a:r>
            <a:endParaRPr lang="en-US" sz="900" b="0">
              <a:solidFill>
                <a:srgbClr val="B8AEA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8097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Pawly · 宝狸</a:t>
            </a:r>
            <a:endParaRPr sz="15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362200"/>
            <a:ext cx="5429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buNone/>
              <a:def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记录每只宠物的情况</a:t>
            </a:r>
            <a:endParaRPr sz="23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提供有依据的养宠信息</a:t>
            </a:r>
            <a:endParaRPr sz="23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比较商品与行动方案</a:t>
            </a:r>
            <a:endParaRPr sz="23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2000"/>
              </a:lnSpc>
              <a:buNone/>
              <a:def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2E28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保存历史并持续提醒</a:t>
            </a:r>
            <a:endParaRPr sz="2325" b="1">
              <a:solidFill>
                <a:srgbClr val="2E28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48958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7D74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欢迎体验产品，并与我们交流内测反馈。</a:t>
            </a:r>
            <a:endParaRPr sz="1500" b="0">
              <a:solidFill>
                <a:srgbClr val="7D74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05800" y="2000250"/>
            <a:ext cx="2381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8D7C2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300" y="2190750"/>
            <a:ext cx="2000250" cy="20002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8305800" y="45720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扫码体验 Pawly</a:t>
            </a:r>
            <a:endParaRPr sz="135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56959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C792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谢谢</a:t>
            </a:r>
            <a:endParaRPr sz="2100" b="1">
              <a:solidFill>
                <a:srgbClr val="C792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85" y="67310"/>
            <a:ext cx="811530" cy="811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6763</Words>
  <Application>WPS 演示</Application>
  <PresentationFormat>Converted Presentation</PresentationFormat>
  <Paragraphs>1274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0" baseType="lpstr">
      <vt:lpstr>Arial</vt:lpstr>
      <vt:lpstr>宋体</vt:lpstr>
      <vt:lpstr>Wingdings</vt:lpstr>
      <vt:lpstr>PingFang SC</vt:lpstr>
      <vt:lpstr>微软雅黑</vt:lpstr>
      <vt:lpstr>汉仪旗黑</vt:lpstr>
      <vt:lpstr>FZYaYiHei GB18030L2 R</vt:lpstr>
      <vt:lpstr>Inter</vt:lpstr>
      <vt:lpstr>Wingdings</vt:lpstr>
      <vt:lpstr>Calibri</vt:lpstr>
      <vt:lpstr>Helvetica Neue</vt:lpstr>
      <vt:lpstr>宋体</vt:lpstr>
      <vt:lpstr>汉仪书宋二KW</vt:lpstr>
      <vt:lpstr>Arial Unicode MS</vt:lpstr>
      <vt:lpstr>Thonburi</vt:lpstr>
      <vt:lpstr>FZYaYiHei GB18030L2 R</vt:lpstr>
      <vt:lpstr>Inter</vt:lpstr>
      <vt:lpstr>微软雅黑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linchen</cp:lastModifiedBy>
  <cp:revision>3</cp:revision>
  <dcterms:created xsi:type="dcterms:W3CDTF">2026-08-23T02:48:04Z</dcterms:created>
  <dcterms:modified xsi:type="dcterms:W3CDTF">2026-08-23T02:48:04Z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FFDDDD2E5B12C318635F8A6A17327D5F_43</vt:lpwstr>
  </property>
</Properties>
</file>