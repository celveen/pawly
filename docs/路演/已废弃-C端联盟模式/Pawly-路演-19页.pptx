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8"/>
    <p:sldId id="260" r:id="rId9"/>
    <p:sldId id="262" r:id="rId11"/>
    <p:sldId id="263" r:id="rId12"/>
    <p:sldId id="266" r:id="rId15"/>
    <p:sldId id="267" r:id="rId16"/>
    <p:sldId id="268" r:id="rId17"/>
    <p:sldId id="270" r:id="rId19"/>
    <p:sldId id="271" r:id="rId20"/>
    <p:sldId id="274" r:id="rId23"/>
    <p:sldId id="275" r:id="rId24"/>
    <p:sldId id="276" r:id="rId25"/>
    <p:sldId id="279" r:id="rId28"/>
    <p:sldId id="280" r:id="rId29"/>
    <p:sldId id="283" r:id="rId32"/>
    <p:sldId id="284" r:id="rId3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营业收入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C7925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{"第一年","第二年","第三年"}</c:f>
              <c:strCache>
                <c:ptCount val="3"/>
                <c:pt idx="0">
                  <c:v>第一年</c:v>
                </c:pt>
                <c:pt idx="1">
                  <c:v>第二年</c:v>
                </c:pt>
                <c:pt idx="2">
                  <c:v>第三年</c:v>
                </c:pt>
              </c:strCache>
            </c:strRef>
          </c:cat>
          <c:val>
            <c:numRef>
              <c:f>{15,82,220}</c:f>
              <c:numCache>
                <c:formatCode>General</c:formatCode>
                <c:ptCount val="3"/>
                <c:pt idx="0">
                  <c:v>15</c:v>
                </c:pt>
                <c:pt idx="1">
                  <c:v>82</c:v>
                </c:pt>
                <c:pt idx="2">
                  <c:v>220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8D7C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7D746C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>
              <a:solidFill>
                <a:srgbClr val="F2E7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B8AEA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50"/>
      </c:valAx>
      <c:spPr>
        <a:ln w="0">
          <a:noFill/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e9a7fc5-7659-4ded-89b1-1f486b7f0c2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各位老师好，我们是 Pawly 宝狸。Pawly 是一款面向宠物主的 AI 养宠助手。系统会结合每只宠物的具体情况，帮助用户处理日常养护、商品选择和长期记录等问题。</a:t>
            </a:r>
          </a:p>
          <a:p/>
          <a:p>
            <a:r>
              <a:t>[Sources]</a:t>
            </a:r>
          </a:p>
          <a:p>
            <a:r>
              <a:t>- 用户提供商标图：0b2c811dd4dcf7cc5ca5ac931fcd957c.png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Pawly目前面向C端宠主，提供宠物档案、养宠咨询、商品筛选和持续提醒。Web产品已经开放体验，内测用户和反馈数据正在帮助我们确定下一阶段的产品重点。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2025年中国城镇犬猫消费市场达到3126亿元，城镇犬猫数量约1.26亿只。消费市场的增长速度高于宠物数量，宠主正在投入更多预算和精力改善宠物的饮食、护理和生活质量。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https://business.cctv.com/2026/01/05/ARTIdmv2AWmVeRVodaZYLOvQ260105.shtml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首批用户以18到35岁的年轻宠主为主。我们优先处理新宠准备、换粮、商品比较和多宠记录等明确任务，这些场景高频、可追踪，也适合验证用户是否愿意持续使用。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用户主要面临三个问题：缺少个体判断依据、信息来源难以核验、服务记录无法连续使用。Pawly将这三个环节放在同一套产品流程中处理。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以换粮为例，Pawly先读取宠物档案，再确认预算、禁忌和当前情况。系统检索资料、比较商品、给出换粮节奏和观察项，最后保存结果并安排后续提醒。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当前Web产品已经覆盖咨询、档案、科普、商品、订单、社区和会员等模块。商品及订单使用演示数据。微信小程序、联盟、支付、履约和生产环境监控将在下一阶段完成。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/Users/zjl/Documents/Codex/2026-08-04/github-celveen-pawly-codex-text-link/work/pawly-full-readcheck/docs/images/shop.jpg</a:t>
            </a:r>
          </a:p>
          <a:p>
            <a:r>
              <a:t>- /Users/zjl/Documents/Codex/2026-08-04/github-celveen-pawly-codex-text-link/work/pawly-full-readcheck/docs/images/knowledge.jpg</a:t>
            </a:r>
          </a:p>
          <a:p>
            <a:r>
              <a:t>- /Users/zjl/Documents/Codex/2026-08-04/github-celveen-pawly-codex-text-link/work/pawly-full-readcheck/docs/images/member.jpg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本页用于回答技术追问。架构核心是主客服Agent与知识Agent协同：一个负责理解与执行，一个负责求证与边界；工具与数据库保证回答能够进入真实业务流程。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/Users/zjl/Documents/Codex/2026-08-04/github-celveen-pawly-codex-text-link/work/pawly-full-readcheck/docs/images/architecture.png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项目需要持续积累四类能力：可信知识、宠物档案、商品与交易数据，以及合规与用户信任。每次咨询和真实交易都会补充这些数据，并用于改进下一次服务。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淘宝和京东擅长商品交易，小红书擅长经验分享，垂直宠物平台拥有行业资源，通用AI擅长问答。Pawly承担购买前的个性化判断，并把咨询结果用于档案、提醒和复购服务。</a:t>
            </a:r>
          </a:p>
          <a:p/>
          <a:p>
            <a:r>
              <a:t>[Sources]</a:t>
            </a:r>
          </a:p>
          <a:p>
            <a:r>
              <a:t>- https://www-next.epet.com/article/about.html</a:t>
            </a:r>
          </a:p>
          <a:p>
            <a:r>
              <a:t>- https://www.chewy.com/app/content/about-us</a:t>
            </a:r>
          </a:p>
          <a:p>
            <a:r>
              <a:t>- https://www.chewy.com/pethealth</a:t>
            </a:r>
          </a:p>
          <a:p>
            <a:r>
              <a:t>- https://www.aboutamazon.com/news/retail/amazon-rufus-ai-assistant-personalized-shopping-features</a:t>
            </a:r>
          </a:p>
          <a:p>
            <a:r>
              <a:t>- https://help.pawp.com/en/articles/7153880-what-is-pawp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前期收入主要来自联盟佣金和会员服务。用户在熟悉的电商平台完成支付和售后，Pawly根据有效订单获得佣金。精选商品将在复购数据稳定后试点，品牌和机构合作暂时不作为主要销售方向。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内容渠道负责让用户看到具体养宠问题，用户通过提问和建档进入产品。咨询结果会保存到宠物档案，并通过提醒和回访形成下一次使用。投放是否扩大，将由留存和获客成本决定。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项目从6月完成原型，7月完成公司注册和首轮问卷，8月10日开放体验并启动内测。截至8月22日，已有100多名体验用户和50余条反馈。下一阶段将进入真实订单与留存验证。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下一阶段分三层验证。内测先看档案和咨询是否顺利完成，再看用户是否回访。商业验证增加订单、会员、获客成本和AI成本。数据未达到目标时，先调整产品与场景，再决定是否扩大投放。</a:t>
            </a:r>
          </a:p>
          <a:p/>
          <a:p>
            <a:r>
              <a:t>[Sources]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现有优势包括可运行产品、连续宠物档案和较低的库存压力。主要不足集中在品牌、真实订单和商业运营经验。团队会先验证少量高意图场景，并根据运营数据安排后续投入。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财务预测使用创业计划书中的基准假设。前三年的月活、GMV和收入结构逐年提高，联盟佣金按5%测算，会员年均约100元。品牌服务属于补充收入，不是现阶段主要销售方向。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财务上，前两年仍以产品验证和用户积累为主，第三年预计营业收入220万元、税前利润75万元，完成阶段性盈亏转正。这里使用财务表口径，因为它与现金流和资产负债预测能够对应。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本轮计划融资50万元，出让20%股权，比例按照创业园规定设置。资金用于市场获客、产品研发、合规、云服务和运营储备。未来12个月将完成小程序、联盟支付和真实订单验证。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http://220.154.139.89:28888</a:t>
            </a:r>
          </a:p>
          <a:p>
            <a:r>
              <a:t>- https://quickchart.io/qr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Pawly记录每只宠物的具体情况，提供带依据的日常养宠信息，帮助用户比较商品和行动方案，并通过档案与提醒持续服务。谢谢各位老师，欢迎扫码体验。</a:t>
            </a:r>
          </a:p>
          <a:p/>
          <a:p>
            <a:r>
              <a:t>[Sources]</a:t>
            </a:r>
          </a:p>
          <a:p>
            <a:r>
              <a:t>- http://220.154.139.89:28888</a:t>
            </a:r>
          </a:p>
          <a:p>
            <a:r>
              <a:t>- https://quickchart.io/qr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628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AI智能养宠助手</a:t>
            </a:r>
            <a:endParaRPr sz="40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571750"/>
            <a:ext cx="5810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基于宠物档案的个性化养宠咨询与持续服务</a:t>
            </a:r>
            <a:endParaRPr sz="2100" b="0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905250"/>
            <a:ext cx="5048250" cy="190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1910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  ×  可信知识  ×  商品服务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90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2026.08  ·  项目路演</a:t>
            </a:r>
            <a:endParaRPr sz="12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0" y="1241028"/>
            <a:ext cx="3476625" cy="3766344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086600" y="1104900"/>
            <a:ext cx="19050" cy="4095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8" name="文本框 7"/>
          <p:cNvSpPr txBox="1"/>
          <p:nvPr/>
        </p:nvSpPr>
        <p:spPr>
          <a:xfrm>
            <a:off x="4299585" y="3549650"/>
            <a:ext cx="140525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汇报人</a:t>
            </a:r>
            <a:r>
              <a:rPr lang="en-US" altLang="zh-CN" sz="1400"/>
              <a:t>：</a:t>
            </a:r>
            <a:r>
              <a:rPr lang="zh-CN" altLang="en-US" sz="1400"/>
              <a:t>林晨</a:t>
            </a:r>
            <a:endParaRPr lang="zh-C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· 项目介绍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100977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Pawly通过档案和</a:t>
            </a:r>
            <a:r>
              <a:rPr lang="zh-CN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科普</a:t>
            </a: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，帮助宠主完成日常养宠决策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90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2098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面向C端宠主的</a:t>
            </a:r>
            <a:endParaRPr sz="25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AI智能养宠助手</a:t>
            </a:r>
            <a:endParaRPr sz="25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333750"/>
            <a:ext cx="428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建立并持续更新宠物档案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回答日常喂养、护理和健康观察问题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提供带依据的商品筛选与比较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保存咨询记录并提供后续提醒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连接第三方电商与会员服务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1752600"/>
            <a:ext cx="19050" cy="37528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676900" y="18097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67400" y="1981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</a:t>
            </a:r>
            <a:endParaRPr sz="28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67400" y="2514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真实体验用户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67400" y="28384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截至2026.08.22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15350" y="18097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05850" y="1981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</a:t>
            </a:r>
            <a:endParaRPr sz="28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514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有效需求问卷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05850" y="28384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截至2026.07.31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676900" y="34861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67400" y="36576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50+</a:t>
            </a:r>
            <a:endParaRPr sz="28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67400" y="41910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用户反馈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67400" y="45148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内测仍在进行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515350" y="34861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05850" y="36576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08.10</a:t>
            </a:r>
            <a:endParaRPr sz="28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05850" y="41910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开放体验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45148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同日启动内测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85800" y="5676900"/>
            <a:ext cx="10248900" cy="438150"/>
          </a:xfrm>
          <a:prstGeom prst="roundRect">
            <a:avLst>
              <a:gd name="adj" fmla="val 17391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1550" y="5781675"/>
            <a:ext cx="967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Web产品已部署，当前工作重点是内测迭代和商业数据验证。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· 市场机会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精细化养宠带来了更复杂的选择需求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47850"/>
            <a:ext cx="238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3126</a:t>
            </a:r>
            <a:endParaRPr sz="4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38450" y="215265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亿元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6860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2025年中国城镇犬猫消费市场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335280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1.26</a:t>
            </a:r>
            <a:endParaRPr sz="4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19350" y="3638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亿只</a:t>
            </a:r>
            <a:endParaRPr sz="16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1719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城镇犬猫数量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0" name="矩形 900"/>
          <p:cNvSpPr>
            <a:spLocks noGrp="1"/>
          </p:cNvSpPr>
          <p:nvPr/>
        </p:nvSpPr>
        <p:spPr>
          <a:xfrm>
            <a:off x="685800" y="4572000"/>
            <a:ext cx="443484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购买渠道同步分散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传统电商 46% · 新型电商 37% · 私域社群 29%（2025 艾媒咨询）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7813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2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91650" y="2343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2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31765" y="465328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预计2028年达到 4050 亿元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lang="zh-CN" altLang="en-US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数据来源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《2026</a:t>
            </a:r>
            <a:r>
              <a:rPr lang="zh-CN" altLang="en-US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年中国宠物行业白皮书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》</a:t>
            </a:r>
            <a:endParaRPr lang="en-US" altLang="zh-CN" sz="8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5257800"/>
            <a:ext cx="10458450" cy="74295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90600" y="5467350"/>
            <a:ext cx="986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消费增速高于宠物数量增速，单只宠物的喂养与服务投入正在增加。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440" y="1685925"/>
            <a:ext cx="7315200" cy="27432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核心客户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首批用户是18—35岁有明确养宠需求的宠主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3312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847850"/>
            <a:ext cx="2875280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00850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2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1270" y="207137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新手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决策型</a:t>
            </a: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宠主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5025" y="2430145"/>
            <a:ext cx="23812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初次养宠；养宠知识有限；习惯通过短视频、搜索和社交平台获取信息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信息来源杂乱；缺少判断依据；面对喂养、健康和商品选择时容易焦虑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清晰可靠的养宠指导；及时提醒疫苗、驱虫、喂养等事项</a:t>
            </a:r>
            <a:endParaRPr lang="zh-CN" altLang="en-US" sz="1200" b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200" b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V="1">
            <a:off x="895350" y="4410075"/>
            <a:ext cx="232092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8395" y="46291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建档 · 新宠清单</a:t>
            </a:r>
            <a:endParaRPr sz="11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439285" y="1847850"/>
            <a:ext cx="2865120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48835" y="199961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22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62550" y="207264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品质养宠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型青年</a:t>
            </a:r>
            <a:endParaRPr lang="zh-CN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11370" y="2420620"/>
            <a:ext cx="217868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以年轻上班族为主；愿意为宠物投入；关注科学喂养、健康和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宠物生活品质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商品种类多、成分难比较；营销信息影响判断；缺少适合自家宠物的选择依据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个性化商品比较；长期健康记录；更高效的养宠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48835" y="4371975"/>
            <a:ext cx="230695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68545" y="464058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筛选 · 比较 · 跳转</a:t>
            </a:r>
            <a:endParaRPr sz="1125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84515" y="1847850"/>
            <a:ext cx="2864485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99780" y="19875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22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03970" y="20732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多宠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管理型</a:t>
            </a: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家庭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402320" y="2432050"/>
            <a:ext cx="23209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同时饲养两只及以上宠物；宠物年龄、品种和健康情况不同；养宠事务较多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容易混淆不同宠物的档案和日程；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用品日常购物品管理复杂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分宠建档；统一管理提醒；分别生成喂养建议；集中查看健康、用品与日程信息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02320" y="4371975"/>
            <a:ext cx="249237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81720" y="46291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 · 提醒 · 复购</a:t>
            </a:r>
            <a:endParaRPr sz="1125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257300" y="5429250"/>
            <a:ext cx="9677400" cy="552450"/>
          </a:xfrm>
          <a:prstGeom prst="roundRect">
            <a:avLst>
              <a:gd name="adj" fmla="val 2069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504950" y="5562600"/>
            <a:ext cx="918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首轮商业验证优先选择日常养护和商品决策；诊断、治疗和用药不列入首批商业场景。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  <p:sp>
        <p:nvSpPr>
          <p:cNvPr id="39" name="TextBox 6"/>
          <p:cNvSpPr txBox="1"/>
          <p:nvPr/>
        </p:nvSpPr>
        <p:spPr>
          <a:xfrm>
            <a:off x="685800" y="1517904"/>
            <a:ext cx="10460736" cy="2926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strike="noStrike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聚焦</a:t>
            </a:r>
            <a:r>
              <a:rPr lang="zh-CN" alt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</a:t>
            </a:r>
            <a:r>
              <a:rPr lang="en-US" sz="1300" strike="noStrike" dirty="0" err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愿为品质与便利付费</a:t>
            </a:r>
            <a:r>
              <a:rPr lang="zh-CN" altLang="en-US" sz="1300" strike="noStrike" dirty="0" err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</a:t>
            </a:r>
            <a:r>
              <a:rPr lang="en-US" sz="1300" strike="noStrike" dirty="0" err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一二线城市养宠青年与科学养宠新手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，消费力高、信息焦虑重，付费意愿明确。</a:t>
            </a:r>
            <a:endParaRPr lang="en-US" sz="11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· 用户痛点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宠主在判断、核验和持续管理环节缺少有效工具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43375" y="1828800"/>
            <a:ext cx="19050" cy="3714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20050" y="1828800"/>
            <a:ext cx="19050" cy="3714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600" b="1">
              <a:solidFill>
                <a:srgbClr val="E8D7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55370" y="2637155"/>
            <a:ext cx="23691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缺少个体判断依据</a:t>
            </a:r>
            <a:endParaRPr 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决策成本</a:t>
            </a: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较高</a:t>
            </a:r>
            <a:endParaRPr lang="zh-CN" alt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7990" y="3352800"/>
            <a:ext cx="3009900" cy="2179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品种、年龄、体重和健康情况都会影响商品选择，通用榜单难以覆盖个体差异。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大部分商品参数晦涩且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SKU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泛滥，38%用户因'怕踩雷'延迟更换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；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且更换同类商品的宠主高度依赖熟人推荐或盲目跟风促销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lang="zh-CN" altLang="en-US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 algn="l">
              <a:lnSpc>
                <a:spcPct val="125000"/>
              </a:lnSpc>
              <a:buFont typeface="Wingdings" panose="05000000000000000000" charset="0"/>
              <a:buNone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52950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6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52950" y="2724150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信息来源难以核验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24020" y="3352800"/>
            <a:ext cx="3009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搜索、短视频和社区观点存在差异，用户难以确认来源、更新时间和适用条件。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29625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600" b="1">
              <a:solidFill>
                <a:srgbClr val="E8D7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72170" y="2581910"/>
            <a:ext cx="2259330" cy="647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服务记录不连续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客服响应</a:t>
            </a: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迟缓</a:t>
            </a:r>
            <a:endParaRPr lang="zh-CN" alt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58150" y="3352800"/>
            <a:ext cx="3009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电商平台保存订单，但很少记录宠物状态，用户每次咨询都要重新说明情况。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客服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缺乏兽医级专业支撑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导致对用户提问响应迟缓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无法及时解决用户痛点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lang="en-US" altLang="zh-CN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3950" y="5638800"/>
            <a:ext cx="994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用户需要一套能够记录宠物情况、核验信息并提供具体方案的服务。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· 产品方案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一次换粮咨询，连接档案、知识与商品服务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657350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5EEE5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184785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用户提问：8个月英短，肠胃敏感，准备换粮，应该重点看什么？</a:t>
            </a:r>
            <a:endParaRPr sz="17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3257550"/>
            <a:ext cx="9810750" cy="28575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  <p:txBody>
          <a:bodyPr/>
          <a:p/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5725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读取档案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910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年龄、品种、体重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与健康记录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2543175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54317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1932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确认条件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0502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预算、禁忌、现用粮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与换粮目标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22910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2910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90525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检索资料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9095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调用知识来源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并识别风险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915025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91502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9117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比较商品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7687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筛出2—3项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说明成分与规格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60095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0095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7710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形成方案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6280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给出换粮节奏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观察项和提示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286875" y="3028950"/>
            <a:ext cx="457200" cy="4572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28687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6302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保存结果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4872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跳转购买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记录并安排提醒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619250" y="5334000"/>
            <a:ext cx="895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885950" y="5476875"/>
            <a:ext cx="842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一次咨询同时产出筛选依据、风险提示、商品比较与后续提醒。</a:t>
            </a:r>
            <a:endParaRPr sz="15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 · 产品现状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Web产品已覆盖咨询、档案、知识和交易演示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752600"/>
            <a:ext cx="6572250" cy="36385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rcRect t="6997" b="6997"/>
          <a:stretch>
            <a:fillRect/>
          </a:stretch>
        </p:blipFill>
        <p:spPr>
          <a:xfrm>
            <a:off x="800100" y="1866900"/>
            <a:ext cx="6343650" cy="3409950"/>
          </a:xfrm>
          <a:prstGeom prst="roundRect">
            <a:avLst>
              <a:gd name="adj" fmla="val 2235"/>
            </a:avLst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76300" y="550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商品与智能导购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00950" y="17526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18497" b="18497"/>
          <a:stretch>
            <a:fillRect/>
          </a:stretch>
        </p:blipFill>
        <p:spPr>
          <a:xfrm>
            <a:off x="7715250" y="1866900"/>
            <a:ext cx="3676650" cy="1447800"/>
          </a:xfrm>
          <a:prstGeom prst="roundRect">
            <a:avLst>
              <a:gd name="adj" fmla="val 5263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715250" y="3524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循证知识与风险边界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00950" y="3943350"/>
            <a:ext cx="390525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rcRect t="23472" b="23472"/>
          <a:stretch>
            <a:fillRect/>
          </a:stretch>
        </p:blipFill>
        <p:spPr>
          <a:xfrm>
            <a:off x="7715250" y="4057650"/>
            <a:ext cx="367665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7715250" y="55054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宠物档案与持续服务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943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59 个演示商品</a:t>
            </a:r>
            <a:endParaRPr sz="13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71800" y="5943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76 篇带来源知识</a:t>
            </a:r>
            <a:r>
              <a:rPr lang="zh-CN"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科普</a:t>
            </a:r>
            <a:r>
              <a:rPr lang="zh-CN"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</a:t>
            </a:r>
            <a:endParaRPr lang="zh-CN" sz="13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10350" y="59436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当前为Web演示版本 · 真实支付及供应链对接待上线</a:t>
            </a:r>
            <a:endParaRPr sz="1125" b="0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 · 技术架构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 Agent 与业务工具共同完成咨询服务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91050" y="1657350"/>
            <a:ext cx="683895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762" y="1790700"/>
            <a:ext cx="4245527" cy="4057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85800" y="1809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架构要点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343150"/>
            <a:ext cx="32956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主客服Agent负责意图理解与业务编排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知识Agent负责检索、证据包与边界控制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10项工具连接商品、档案、社区与订单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19张数据表支撑长期上下文与业务状态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高风险健康问题保留人工就医边界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4991100"/>
            <a:ext cx="3333750" cy="819150"/>
          </a:xfrm>
          <a:prstGeom prst="roundRect">
            <a:avLst>
              <a:gd name="adj" fmla="val 13953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5162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原则</a:t>
            </a:r>
            <a:endParaRPr sz="12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5448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证据优先 · 工具可控 · 风险有界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 · 竞争能力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项目竞争能力需要长期积累四类资产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75260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175260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19812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知识质量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9650" y="247650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记录来源、更新时间和适用条件；健康内容保留风险分级和就医边界。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91250" y="175260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91250" y="175260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15100" y="19812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15100" y="247650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持续积累品种、年龄、体重、健康记录和偏好，减少重复说明。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356235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35623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3790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商品与交易数据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428625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追踪推荐、点击、订单、退货和复购，校正商品筛选规则。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0" y="356235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191250" y="35623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A85E4A"/>
          </a:solidFill>
          <a:ln w="0">
            <a:solidFill>
              <a:srgbClr val="A85E4A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790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信任与合规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15100" y="428625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展示推荐依据和风险提示，保留操作日志，并引入专业审校。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57300" y="5467350"/>
            <a:ext cx="967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这些资产会在每次咨询、反馈和真实交易中持续更新。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 · 竞争格局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Pawly专注购买前的个性化决策服务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95500" y="5391150"/>
            <a:ext cx="8286750" cy="19050"/>
          </a:xfrm>
          <a:prstGeom prst="rect">
            <a:avLst/>
          </a:prstGeom>
          <a:solidFill>
            <a:srgbClr val="2E2822"/>
          </a:solidFill>
          <a:ln w="0">
            <a:solidFill>
              <a:srgbClr val="2E282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95500" y="2095500"/>
            <a:ext cx="19050" cy="3295650"/>
          </a:xfrm>
          <a:prstGeom prst="rect">
            <a:avLst/>
          </a:prstGeom>
          <a:solidFill>
            <a:srgbClr val="2E2822"/>
          </a:solidFill>
          <a:ln w="0">
            <a:solidFill>
              <a:srgbClr val="2E2822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952625" y="56578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通用推荐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53550" y="5657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长期个性化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9530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单点内容 / 商品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0383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全旅程服务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3143250" y="4743450"/>
            <a:ext cx="171450" cy="171450"/>
          </a:xfrm>
          <a:prstGeom prst="ellipse">
            <a:avLst/>
          </a:prstGeom>
          <a:solidFill>
            <a:srgbClr val="B8AEA5"/>
          </a:solidFill>
          <a:ln w="0">
            <a:solidFill>
              <a:srgbClr val="B8AEA5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4705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淘宝 / 京东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4095750" y="3848100"/>
            <a:ext cx="171450" cy="171450"/>
          </a:xfrm>
          <a:prstGeom prst="ellipse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3810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小红书 / 波奇 / E宠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58000" y="3181350"/>
            <a:ext cx="171450" cy="171450"/>
          </a:xfrm>
          <a:prstGeom prst="ellipse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3143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Chewy / Pawp / Alexa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9096375" y="2343150"/>
            <a:ext cx="171450" cy="1714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63075" y="23050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宝狸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86600" y="44386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Pawly提供的服务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86600" y="481965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根据宠物档案筛选商品，说明依据与风险，并保存结果用于后续提醒。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77300" y="6000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定位比较，非市场份额排名</a:t>
            </a:r>
            <a:endParaRPr sz="9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· 盈利模式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近期收入以联盟佣金和会员服务为主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3162300"/>
            <a:ext cx="8858250" cy="381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428750" y="2895600"/>
            <a:ext cx="590550" cy="5905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7760" y="1943100"/>
            <a:ext cx="121094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用户在第三方平台完成购买，佣金率预计3%—8%，财务模型按5%测算。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4810125" y="2895600"/>
            <a:ext cx="590550" cy="59055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0125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33875" y="1943100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会员与精选服务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33875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会员规划9.9—15元/月；复购数据稳定后试点精选商品。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191500" y="2895600"/>
            <a:ext cx="590550" cy="590550"/>
          </a:xfrm>
          <a:prstGeom prst="ellipse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0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15250" y="1943100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补充合作收入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15250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品牌内容、平台服务和联名商品属于后续补充收入。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123950" y="5181600"/>
            <a:ext cx="9963150" cy="685800"/>
          </a:xfrm>
          <a:prstGeom prst="roundRect">
            <a:avLst>
              <a:gd name="adj" fmla="val 16667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5381625"/>
            <a:ext cx="937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当前市场工作集中在C端用户增长，联盟佣金和会员服务承担近期收入验证。</a:t>
            </a:r>
            <a:endParaRPr sz="15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· 用户增长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内容渠道负责触达，宠物档案负责留存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33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主要触达渠道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1336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小红书 · </a:t>
            </a:r>
            <a:r>
              <a:rPr lang="zh-CN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公众号</a:t>
            </a:r>
            <a:r>
              <a:rPr lang="en-US" altLang="zh-CN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lang="zh-CN" altLang="en-US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抖音达人合作</a:t>
            </a: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· 校园与宠物展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3390900"/>
            <a:ext cx="9810750" cy="381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525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内容触达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场景问题与知识内容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30480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051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提问建档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955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用具体问题进入产品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1435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00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获得方案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1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理解依据并保存结果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2390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390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961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完成转化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865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联盟订单或会员服务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334500" y="3124200"/>
            <a:ext cx="533400" cy="5334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34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91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提醒回访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82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记录变化并继续咨询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162050" y="5353050"/>
            <a:ext cx="9867900" cy="552450"/>
          </a:xfrm>
          <a:prstGeom prst="roundRect">
            <a:avLst>
              <a:gd name="adj" fmla="val 2069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28750" y="5495925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留存依靠持续更新的档案、咨询记录和提醒，投放规模由留存与获客成本决定。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· 项目里程碑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项目已经完成原型、产品部署和首轮用户验证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0"/>
            <a:ext cx="9982200" cy="38100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  <p:txBody>
          <a:bodyPr/>
          <a:p/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191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06.02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完成产品原型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76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明确核心流程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26479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812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06—07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526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开发核心模块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咨询、档案、知识、商品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4767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2100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07.21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814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公司完成注册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052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主体与资本信息确认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3055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07.31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102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300+有效问卷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340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完成首轮需求调研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1343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676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08.10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390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开放体验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628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同日启动内测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9963150" y="3124200"/>
            <a:ext cx="457200" cy="4572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6964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08.22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678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100+体验用户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916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累计50余条反馈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76300" y="51435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62050" y="52768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</a:t>
            </a:r>
            <a:r>
              <a:rPr lang="zh-CN"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</a:t>
            </a:r>
            <a:r>
              <a: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：内测迭代</a:t>
            </a:r>
            <a:endParaRPr sz="142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333750" y="5276850"/>
            <a:ext cx="767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下一阶段：微信小程序、联盟与支付接入、真实订单和留存验证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 · 验证计划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下一阶段重点验证留存、成交和成本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809750"/>
            <a:ext cx="3162300" cy="76200"/>
          </a:xfrm>
          <a:prstGeom prst="rect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已经获得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300+份有效问卷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100+名体验用户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50余条反馈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核心咨询流程已上线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健康问答边界按反馈迭代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36245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62450" y="1809750"/>
            <a:ext cx="3162300" cy="762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内测过程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宠物档案完成率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首次咨询完成率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推荐依据理解度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7日回访与高频场景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3910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39100" y="1809750"/>
            <a:ext cx="3162300" cy="76200"/>
          </a:xfrm>
          <a:prstGeom prst="rect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2485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商业验证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4390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30/90日留存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商品点击与有效订单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退货、复购、会员转化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获客成本与单用户AI成本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62050" y="5467350"/>
            <a:ext cx="9867900" cy="514350"/>
          </a:xfrm>
          <a:prstGeom prst="roundRect">
            <a:avLst>
              <a:gd name="adj" fmla="val 22222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428750" y="56007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数据达到阶段目标后扩大获客；未达到时优先调整产品流程和使用场景。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 · SWOT与经营策略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项目采取聚焦场景、谨慎扩张的经营策略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0" y="1790700"/>
            <a:ext cx="19050" cy="39243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752850"/>
            <a:ext cx="10629900" cy="190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8097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</a:t>
            </a:r>
            <a:endParaRPr sz="34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95450" y="19240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5527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结构化宠物档案形成连续上下文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循证知识与业务执行形成闭环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联盟佣金优先，早期模式轻资产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18097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</a:t>
            </a:r>
            <a:endParaRPr sz="34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96150" y="19240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短板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25527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品牌与初始用户基础仍弱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真实支付和供应链尚待对接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团队规模小，运营能力需补齐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9052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</a:t>
            </a:r>
            <a:endParaRPr sz="34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95450" y="40195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机会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46482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年轻宠主占比提升，AI接受度增长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信息过载放大可信决策需求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宠物生命周期服务仍然分散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9052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34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96150" y="40195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威胁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46482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大型平台加速接入AI推荐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健康内容面临合规与信任风险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获客成本可能随竞争上升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590550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优先验证换粮、新手清单等高意图场景，经营指标稳定后再扩大投放和自营。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· 财务假设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财务预测基于用户、GMV和收入结构三项假设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90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月活用户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17716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1万 / 4万 / 10万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2288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533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年度GMV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71700" y="2514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180万 / 720万 / 2000万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97180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276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联盟佣金率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71700" y="32575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基准按5%测算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7147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4019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会员价格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71700" y="4000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年均约100元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445770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47625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精选自营毛利率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171700" y="47434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基准按30%测算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2006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graphicFrame>
        <p:nvGraphicFramePr>
          <p:cNvPr id="48" name="表格 47"/>
          <p:cNvGraphicFramePr/>
          <p:nvPr/>
        </p:nvGraphicFramePr>
        <p:xfrm>
          <a:off x="5638800" y="1809750"/>
          <a:ext cx="5486400" cy="3009900"/>
        </p:xfrm>
        <a:graphic>
          <a:graphicData uri="http://schemas.openxmlformats.org/drawingml/2006/table">
            <a:tbl>
              <a:tblPr/>
              <a:tblGrid>
                <a:gridCol w="2057400"/>
                <a:gridCol w="1143000"/>
                <a:gridCol w="1143000"/>
                <a:gridCol w="1143000"/>
              </a:tblGrid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收入结构（万元）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第一年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第二年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第三年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联盟佣金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36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会员服务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精选自营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品牌及服务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11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合计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15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82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220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24" name="圆角矩形 23"/>
          <p:cNvSpPr>
            <a:spLocks noGrp="1"/>
          </p:cNvSpPr>
          <p:nvPr/>
        </p:nvSpPr>
        <p:spPr>
          <a:xfrm>
            <a:off x="5638800" y="5124450"/>
            <a:ext cx="5486400" cy="666750"/>
          </a:xfrm>
          <a:prstGeom prst="roundRect">
            <a:avLst>
              <a:gd name="adj" fmla="val 17143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86450" y="5248275"/>
            <a:ext cx="499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品牌及服务为补充收入；当前重点仍是C端用户、联盟佣金和会员服务。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 · 三年财务预测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基准情景下，第三年税前利润预计75万元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28" name="Chart"/>
          <p:cNvGraphicFramePr/>
          <p:nvPr/>
        </p:nvGraphicFramePr>
        <p:xfrm>
          <a:off x="685800" y="1752600"/>
          <a:ext cx="685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914400" y="18288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营业收入（万元）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81950" y="1828800"/>
            <a:ext cx="19050" cy="35433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20100" y="1962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税前利润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20100" y="27051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0" y="25336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−18</a:t>
            </a:r>
            <a:endParaRPr sz="31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35623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第二年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339090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−5</a:t>
            </a:r>
            <a:endParaRPr sz="31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20100" y="44196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第三年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0" y="42481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+75</a:t>
            </a:r>
            <a:endParaRPr sz="31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639300" y="4972050"/>
            <a:ext cx="121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单位：万元</a:t>
            </a:r>
            <a:endParaRPr sz="9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5543550"/>
            <a:ext cx="10439400" cy="49530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5667375"/>
            <a:ext cx="998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口径说明：第三年采用财务表中的税前利润75万元</a:t>
            </a:r>
            <a:r>
              <a:rPr lang="zh-CN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为事前估算</a:t>
            </a:r>
            <a:r>
              <a:rPr lang="en-US" altLang="zh-CN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具体数值代商品联盟等比例明确后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再估计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 · 融资计划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50万元主要用于未来12个月的商业验证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52600"/>
            <a:ext cx="2000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</a:t>
            </a:r>
            <a:endParaRPr sz="58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52700" y="219075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8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800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计划融资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3147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出让 20% 股权</a:t>
            </a:r>
            <a:endParaRPr sz="24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886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*融资金额及股权比例按照创业园规定设置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1" name="矩形 901"/>
          <p:cNvSpPr>
            <a:spLocks noGrp="1"/>
          </p:cNvSpPr>
          <p:nvPr/>
        </p:nvSpPr>
        <p:spPr>
          <a:xfrm>
            <a:off x="685800" y="5577840"/>
            <a:ext cx="859536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公司 2026.07.21 完成注册 · 注册资本 200 万元 · 5 人团队覆盖产品、技术、市场与财务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商标已定稿（圆形宝狸形象）待注册 · 拟申请软件著作权与发明专利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资金用途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57750" y="2400300"/>
            <a:ext cx="1981200" cy="323850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38950" y="2400300"/>
            <a:ext cx="1485900" cy="323850"/>
          </a:xfrm>
          <a:prstGeom prst="rect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2400300"/>
            <a:ext cx="495300" cy="323850"/>
          </a:xfrm>
          <a:prstGeom prst="rect">
            <a:avLst/>
          </a:prstGeom>
          <a:solidFill>
            <a:srgbClr val="B9705B"/>
          </a:solidFill>
          <a:ln w="0">
            <a:solidFill>
              <a:srgbClr val="B9705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20150" y="2400300"/>
            <a:ext cx="495300" cy="323850"/>
          </a:xfrm>
          <a:prstGeom prst="rect">
            <a:avLst/>
          </a:prstGeom>
          <a:solidFill>
            <a:srgbClr val="8D7764"/>
          </a:solidFill>
          <a:ln w="0">
            <a:solidFill>
              <a:srgbClr val="8D7764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15450" y="2400300"/>
            <a:ext cx="495300" cy="323850"/>
          </a:xfrm>
          <a:prstGeom prst="rect">
            <a:avLst/>
          </a:prstGeom>
          <a:solidFill>
            <a:srgbClr val="C8B7A6"/>
          </a:solidFill>
          <a:ln w="0">
            <a:solidFill>
              <a:srgbClr val="C8B7A6"/>
            </a:solidFill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57750" y="29527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E0B77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E0B77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40%</a:t>
            </a:r>
            <a:endParaRPr sz="1200" b="1">
              <a:solidFill>
                <a:srgbClr val="E0B77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38950" y="2952750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30%</a:t>
            </a:r>
            <a:endParaRPr sz="12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B970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970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B970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201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8D77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8D77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8D77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154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C8B7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8B7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C8B7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57750" y="3333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市场与获客 40%   ·   产品研发 30%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57750" y="3638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合规服务 / 云与AI / 运营储备  各10%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9525000" y="4000500"/>
            <a:ext cx="16573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0" y="4114800"/>
            <a:ext cx="1428750" cy="14287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9639300" y="5734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扫码体验</a:t>
            </a:r>
            <a:endParaRPr sz="112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483870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12个月交付：小程序、联盟支付、真实订单、留存与成本数据</a:t>
            </a:r>
            <a:endParaRPr sz="20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 · 项目总结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Pawly让日常养宠决策更准确、更省心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  <p:txBody>
          <a:bodyPr/>
          <a:p/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09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</a:t>
            </a:r>
            <a:endParaRPr sz="15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362200"/>
            <a:ext cx="5429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记录每只宠物的情况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提供有依据的养宠信息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比较商品与行动方案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保存历史并持续提醒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48958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欢迎体验产品，并与我们交流内测反馈。</a:t>
            </a:r>
            <a:endParaRPr sz="15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05800" y="2000250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0" y="2190750"/>
            <a:ext cx="2000250" cy="20002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8305800" y="4572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扫码体验 Pawly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6959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谢谢</a:t>
            </a:r>
            <a:endParaRPr sz="21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6763</Words>
  <Application>WPS 演示</Application>
  <PresentationFormat>Converted Presentation</PresentationFormat>
  <Paragraphs>1274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PingFang SC</vt:lpstr>
      <vt:lpstr>微软雅黑</vt:lpstr>
      <vt:lpstr>汉仪旗黑</vt:lpstr>
      <vt:lpstr>FZYaYiHei GB18030L2 R</vt:lpstr>
      <vt:lpstr>Inter</vt:lpstr>
      <vt:lpstr>Wingdings</vt:lpstr>
      <vt:lpstr>Calibri</vt:lpstr>
      <vt:lpstr>Helvetica Neue</vt:lpstr>
      <vt:lpstr>宋体</vt:lpstr>
      <vt:lpstr>汉仪书宋二KW</vt:lpstr>
      <vt:lpstr>Arial Unicode MS</vt:lpstr>
      <vt:lpstr>Thonburi</vt:lpstr>
      <vt:lpstr>FZYaYiHei GB18030L2 R</vt:lpstr>
      <vt:lpstr>Inter</vt:lpstr>
      <vt:lpstr>微软雅黑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linchen</cp:lastModifiedBy>
  <cp:revision>3</cp:revision>
  <dcterms:created xsi:type="dcterms:W3CDTF">2026-08-23T02:48:04Z</dcterms:created>
  <dcterms:modified xsi:type="dcterms:W3CDTF">2026-08-23T02:48:04Z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FFDDDD2E5B12C318635F8A6A17327D5F_43</vt:lpwstr>
  </property>
</Properties>
</file>