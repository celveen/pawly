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5"/>
    <p:sldId id="271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单家部署人时</c:v>
                </c:pt>
              </c:strCache>
            </c:strRef>
          </c:tx>
          <c:spPr>
            <a:solidFill>
              <a:srgbClr val="C792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4A3729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第 1 家</c:v>
                </c:pt>
                <c:pt idx="1">
                  <c:v>第 3 家</c:v>
                </c:pt>
                <c:pt idx="2">
                  <c:v>第 5 家</c:v>
                </c:pt>
                <c:pt idx="3">
                  <c:v>第 10 家</c:v>
                </c:pt>
                <c:pt idx="4">
                  <c:v>稳态目标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10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D746C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 cmpd="sng" algn="ctr">
              <a:solidFill>
                <a:srgbClr val="E8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B8AEA5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5"/>
      </c:valAx>
      <c:spPr>
        <a:solidFill>
          <a:srgbClr val="FDFBF8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af82906-6aac-4784-9db3-9179d0287988}"/>
      </c:ext>
    </c:extLst>
  </c:chart>
  <c:spPr>
    <a:solidFill>
      <a:srgbClr val="FDFBF8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秒。开场一句：主平台对公众开放，同一套能力逐家部署给宠物商家。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秒。先指产业链，说明切入层级，再给规模。口径主动说明，不等追问。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秒。矩阵快速带过，右侧三条依次讲。收在可复制这一句上，避免评委把异宠视为规模上限。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秒。核心页之一。三步讲完立刻补模式特征两条，把外包这个追问挡在前面。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秒，全场核心页。顺时针依次讲四个环节，重点停在回流一段。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秒。先带过交付动线，再对照两栏说明：C 端服务一项没有减少，商家版是同一套能力按品类收窄的结果。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秒，核心页。先讲付费动机，再报数字。主平台不参与交易这一条要说清楚，它是公信力的来源。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秒。这页回答规模化能力。先讲曲线，再讲三项下降来源，最后一句界定部署动作的性质。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秒。这页回答技术可行性。评委若问微调，答：壁垒来自知识库而非模型权重，微调的投入不形成壁垒。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秒。先讲三级如何叠加，再讲回流的四类内容，第三类是重点：它让建议从文献说法变为在多个个体上验证过的结论。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秒。先说明上游模型的风险，再给三层。合规两行快速带过，但要说，评委会关心。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秒。首笔收入的时点要说出口，这是对资金链问题的正面回应。待补：公司注册与部署的实际日期。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 秒。待填项在路演前补齐。注意：创业计划书 7.3 的净利润约 100 万元需同步改为 75 万元。</a:t>
            </a:r>
          </a:p>
          <a:p/>
          <a:p>
            <a:r>
              <a:t>【本次版式修改 / 截图补充说明】</a:t>
            </a:r>
          </a:p>
          <a:p>
            <a:r>
              <a:t>保留原15页章节顺序与业务逻辑。虚线框为编辑占位，不是实际产品截图。</a:t>
            </a:r>
          </a:p>
          <a:p/>
          <a:p>
            <a:r>
              <a:t>【原页完整文字备份（供核对；财务数据未补填或改动）】</a:t>
            </a:r>
          </a:p>
          <a:p>
            <a:r>
              <a:t>12 · 财务与融资</a:t>
            </a:r>
          </a:p>
          <a:p>
            <a:r>
              <a:t>三年财务预测与成本结构</a:t>
            </a:r>
          </a:p>
          <a:p>
            <a:r>
              <a:t>第三年营收 800—1,500 万元，税前利润 75 万元，采用 SOM 保守口径</a:t>
            </a:r>
          </a:p>
          <a:p>
            <a:r>
              <a:t>PAWLY · 宝狸  |  项目路演</a:t>
            </a:r>
          </a:p>
          <a:p>
            <a:r>
              <a:t>13</a:t>
            </a:r>
          </a:p>
          <a:p>
            <a:r>
              <a:t>第 1 年</a:t>
            </a:r>
          </a:p>
          <a:p>
            <a:r>
              <a:t>签约商家 · 待填</a:t>
            </a:r>
          </a:p>
          <a:p>
            <a:r>
              <a:t>营收 · 待填</a:t>
            </a:r>
          </a:p>
          <a:p>
            <a:r>
              <a:t>第 2 年</a:t>
            </a:r>
          </a:p>
          <a:p>
            <a:r>
              <a:t>签约商家 · 待填</a:t>
            </a:r>
          </a:p>
          <a:p>
            <a:r>
              <a:t>营收 · 待填</a:t>
            </a:r>
          </a:p>
          <a:p>
            <a:r>
              <a:t>第 3 年</a:t>
            </a:r>
          </a:p>
          <a:p>
            <a:r>
              <a:t>营收 800—1,500 万元</a:t>
            </a:r>
          </a:p>
          <a:p>
            <a:r>
              <a:t>税前利润 75 万元</a:t>
            </a:r>
          </a:p>
          <a:p>
            <a:r>
              <a:t>融资需求</a:t>
            </a:r>
          </a:p>
          <a:p>
            <a:r>
              <a:t>成本结构与主要风险</a:t>
            </a:r>
          </a:p>
          <a:p>
            <a:r>
              <a:t>模型调用</a:t>
            </a:r>
          </a:p>
          <a:p>
            <a:r>
              <a:t>随激活用户数线性增长，构成分成定价的下限依据</a:t>
            </a:r>
          </a:p>
          <a:p>
            <a:r>
              <a:t>内容生产</a:t>
            </a:r>
          </a:p>
          <a:p>
            <a:r>
              <a:t>单品类知识库属于一次性投入，可在商家之间复用</a:t>
            </a:r>
          </a:p>
          <a:p>
            <a:r>
              <a:t>地推与部署</a:t>
            </a:r>
          </a:p>
          <a:p>
            <a:r>
              <a:t>本阶段的主要人力投入，同时是部署人时曲线的验证对象</a:t>
            </a:r>
          </a:p>
          <a:p>
            <a:r>
              <a:t>主要风险</a:t>
            </a:r>
          </a:p>
          <a:p>
            <a:r>
              <a:t>上游模型覆盖功能、内容可信度、小程序上线资质，处置见第 07、10 页</a:t>
            </a:r>
          </a:p>
          <a:p>
            <a:r>
              <a:t>项目为轻资产结构，服务器资源由合作教师提供，本阶段现金支出集中于内容生产与地推。</a:t>
            </a:r>
          </a:p>
          <a:p>
            <a:r>
              <a:t>原第1、2年待填项继续保留。资金用途仍为市场与获客40%、产品研发30%、合规服务10%、云与AI10%、运营储备10%。资金图改为原生可编辑矢量形状，比例按原图绘制。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秒。具名前务必取得本人同意。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秒。四项对应全场四段，讲完停住，把时间留给提问。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17650"/>
            <a:ext cx="572643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zh-CN" altLang="en-US" sz="3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面向宠主与宠物商家的</a:t>
            </a:r>
            <a:endParaRPr lang="zh-CN" altLang="en-US" sz="3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ts val="4800"/>
              </a:lnSpc>
              <a:buNone/>
            </a:pPr>
            <a:r>
              <a:rPr lang="en-US" altLang="zh-CN" sz="3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3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养护服务平台</a:t>
            </a:r>
            <a:endParaRPr lang="zh-CN" altLang="en-US" sz="3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覆盖犬猫与</a:t>
            </a:r>
            <a:r>
              <a:rPr lang="zh-CN" altLang="en-US" sz="18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sz="18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类异宠，通用内核逐家部署至商家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3192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汇报人：林晨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352544"/>
            <a:ext cx="5486400" cy="10973"/>
          </a:xfrm>
          <a:prstGeom prst="rect">
            <a:avLst/>
          </a:prstGeom>
          <a:solidFill>
            <a:srgbClr val="E0B77F"/>
          </a:solidFill>
        </p:spPr>
      </p:sp>
      <p:sp>
        <p:nvSpPr>
          <p:cNvPr id="8" name="Text 6"/>
          <p:cNvSpPr txBox="1"/>
          <p:nvPr/>
        </p:nvSpPr>
        <p:spPr>
          <a:xfrm>
            <a:off x="685800" y="4535424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公众平台  ×  通用内核  ×  前置部署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8704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2026.09  ·  项目路演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86600" y="1097280"/>
            <a:ext cx="10973" cy="4114800"/>
          </a:xfrm>
          <a:prstGeom prst="rect">
            <a:avLst/>
          </a:prstGeom>
          <a:solidFill>
            <a:srgbClr val="E0B77F"/>
          </a:solidFill>
        </p:spPr>
      </p:sp>
      <p:pic>
        <p:nvPicPr>
          <p:cNvPr id="11" name="Image 0" descr="logo_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481328"/>
            <a:ext cx="26974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市场机会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终端商家的专业能力供给缺口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城镇犬猫消费 3,126 亿元，来源为派读《2026 年中国宠物行业白皮书》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5256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品牌与供应商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预算集中，存在内容需求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32304" y="2523744"/>
            <a:ext cx="310896" cy="237744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3" name="Shape 10"/>
          <p:cNvSpPr/>
          <p:nvPr/>
        </p:nvSpPr>
        <p:spPr>
          <a:xfrm>
            <a:off x="2670048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98064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经销与批发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761488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承担流通职能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25112" y="2523744"/>
            <a:ext cx="310896" cy="237744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7" name="Shape 14"/>
          <p:cNvSpPr/>
          <p:nvPr/>
        </p:nvSpPr>
        <p:spPr>
          <a:xfrm>
            <a:off x="4562856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90872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终端商家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654296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宠物店 · 卖家 · 医院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2523744"/>
            <a:ext cx="310896" cy="237744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1" name="Shape 18"/>
          <p:cNvSpPr/>
          <p:nvPr/>
        </p:nvSpPr>
        <p:spPr>
          <a:xfrm>
            <a:off x="6455664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宠主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47104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购买决策依赖商家建议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30368" y="3310128"/>
            <a:ext cx="237744" cy="365760"/>
          </a:xfrm>
          <a:prstGeom prst="upArrow">
            <a:avLst/>
          </a:prstGeom>
          <a:solidFill>
            <a:srgbClr val="C79255"/>
          </a:solidFill>
        </p:spPr>
      </p:sp>
      <p:sp>
        <p:nvSpPr>
          <p:cNvPr id="25" name="Shape 22"/>
          <p:cNvSpPr/>
          <p:nvPr/>
        </p:nvSpPr>
        <p:spPr>
          <a:xfrm>
            <a:off x="2797683" y="3712083"/>
            <a:ext cx="4206240" cy="786384"/>
          </a:xfrm>
          <a:prstGeom prst="roundRect">
            <a:avLst>
              <a:gd name="adj" fmla="val 6977"/>
            </a:avLst>
          </a:prstGeom>
          <a:solidFill>
            <a:srgbClr val="4A3729"/>
          </a:solidFill>
          <a:ln w="12700">
            <a:solidFill>
              <a:srgbClr val="4A372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889123" y="3931539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Pawly 从终端商家这一层切入</a:t>
            </a:r>
            <a:endParaRPr lang="en-US" sz="145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2521585" y="4736465"/>
            <a:ext cx="58089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lnSpc>
                <a:spcPts val="2100"/>
              </a:lnSpc>
              <a:buClr>
                <a:srgbClr val="000000"/>
              </a:buClr>
              <a:buFont typeface="Wingdings" panose="05000000000000000000" charset="0"/>
              <a:buChar char=""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终端商家数量众多、单体规模小、数字化程度低，缺少可复用的专业内容与问答能力。</a:t>
            </a:r>
            <a:endParaRPr lang="en-US" sz="1250" dirty="0">
              <a:solidFill>
                <a:srgbClr val="7D746C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indent="-285750">
              <a:lnSpc>
                <a:spcPts val="2100"/>
              </a:lnSpc>
              <a:buFont typeface="Wingdings" panose="05000000000000000000" charset="0"/>
              <a:buChar char=""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品牌方预算主要投向渠道与营销，终端服务能力的投入占比较低。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366760" y="2057400"/>
            <a:ext cx="3136392" cy="3291840"/>
          </a:xfrm>
          <a:prstGeom prst="roundRect">
            <a:avLst>
              <a:gd name="adj" fmla="val 1749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59368" y="2286000"/>
            <a:ext cx="25511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这一层能力的 B 端可支出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659368" y="27614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TAM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659368" y="3017520"/>
            <a:ext cx="25511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亿元 / 年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8659368" y="3364992"/>
            <a:ext cx="25511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可服务总市场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659368" y="36027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SAM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659368" y="3858768"/>
            <a:ext cx="25511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6.0 亿元 / 年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8659368" y="4206240"/>
            <a:ext cx="25511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三年内可达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659368" y="44439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SOM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659368" y="4700016"/>
            <a:ext cx="25511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800—1,500 万元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8659368" y="5047488"/>
            <a:ext cx="25511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第三年营收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85800" y="570585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40" name="Text 37"/>
          <p:cNvSpPr txBox="1"/>
          <p:nvPr/>
        </p:nvSpPr>
        <p:spPr>
          <a:xfrm>
            <a:off x="960120" y="587044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测算范围限定为 AI 养护知识与导购能力层的 B 端年度可支出。</a:t>
            </a:r>
            <a:endParaRPr lang="en-US" sz="1400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8190"/>
            <a:ext cx="1744345" cy="2369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切入品类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异宠品类的切入依据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 AI 产品集中于犬猫的医疗诊断方向，日常养护与异宠品类供给不足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421765" y="1851660"/>
            <a:ext cx="27311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诊断与医疗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85335" y="1851660"/>
            <a:ext cx="27311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日常养护与消费决策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788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犬猫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5811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异宠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421765" y="217170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77670" y="2427605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宠智灵 · 灵兽</a:t>
            </a:r>
            <a:endParaRPr lang="en-US" sz="1600" b="1" dirty="0">
              <a:solidFill>
                <a:srgbClr val="4A372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677670" y="2940050"/>
            <a:ext cx="242379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临床病例、影像与自研硬件构成壁垒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85335" y="217170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1875" y="2427605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 · 内容代运营</a:t>
            </a:r>
            <a:endParaRPr lang="en-US" sz="1600" b="1" dirty="0">
              <a:solidFill>
                <a:srgbClr val="4A372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4841875" y="2940050"/>
            <a:ext cx="247459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答案缺少依据来源，代运营成本较高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421765" y="396367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77670" y="4220210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尚无成规模的参与者</a:t>
            </a:r>
            <a:endParaRPr lang="en-US" sz="1600" b="1" dirty="0">
              <a:solidFill>
                <a:srgbClr val="4A372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677670" y="4732020"/>
            <a:ext cx="226758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需求规模有限，专业门槛较高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85335" y="396367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3" name="Text 20"/>
          <p:cNvSpPr txBox="1"/>
          <p:nvPr/>
        </p:nvSpPr>
        <p:spPr>
          <a:xfrm>
            <a:off x="4841875" y="4220210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</a:t>
            </a:r>
            <a:endParaRPr lang="en-US" sz="2400" b="1" dirty="0">
              <a:solidFill>
                <a:srgbClr val="C7925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4841875" y="4732020"/>
            <a:ext cx="226758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竞争产品在这一区域普遍缺席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85800" y="570585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35" name="Text 32"/>
          <p:cNvSpPr txBox="1"/>
          <p:nvPr/>
        </p:nvSpPr>
        <p:spPr>
          <a:xfrm>
            <a:off x="960120" y="587044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首轮在异宠完成模式验证，内核与配置层可直接复制到犬猫。</a:t>
            </a:r>
            <a:endParaRPr lang="en-US" sz="1400" dirty="0"/>
          </a:p>
        </p:txBody>
      </p:sp>
      <p:sp>
        <p:nvSpPr>
          <p:cNvPr id="41" name="Oval 29"/>
          <p:cNvSpPr/>
          <p:nvPr/>
        </p:nvSpPr>
        <p:spPr>
          <a:xfrm>
            <a:off x="7767192" y="3449828"/>
            <a:ext cx="82296" cy="82296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30"/>
          <p:cNvSpPr txBox="1"/>
          <p:nvPr/>
        </p:nvSpPr>
        <p:spPr>
          <a:xfrm>
            <a:off x="7968361" y="339039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新手期问题密集</a:t>
            </a:r>
            <a:endParaRPr lang="zh-CN" sz="14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31"/>
          <p:cNvSpPr txBox="1"/>
          <p:nvPr/>
        </p:nvSpPr>
        <p:spPr>
          <a:xfrm>
            <a:off x="7968361" y="3682999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温湿度、垫材、饲料与发育判断集中在购入后的前三十天</a:t>
            </a:r>
            <a:endParaRPr lang="zh-CN" sz="120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Oval 32"/>
          <p:cNvSpPr/>
          <p:nvPr/>
        </p:nvSpPr>
        <p:spPr>
          <a:xfrm>
            <a:off x="7767192" y="4190492"/>
            <a:ext cx="82296" cy="82296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33"/>
          <p:cNvSpPr txBox="1"/>
          <p:nvPr/>
        </p:nvSpPr>
        <p:spPr>
          <a:xfrm>
            <a:off x="7968361" y="413105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商家承担售后压力</a:t>
            </a:r>
            <a:endParaRPr lang="zh-CN" sz="14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34"/>
          <p:cNvSpPr txBox="1"/>
          <p:nvPr/>
        </p:nvSpPr>
        <p:spPr>
          <a:xfrm>
            <a:off x="7968361" y="4423664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饲养失败易转化为退换与差评，商家缺少应对手段</a:t>
            </a:r>
            <a:endParaRPr lang="zh-CN" sz="120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Oval 35"/>
          <p:cNvSpPr/>
          <p:nvPr/>
        </p:nvSpPr>
        <p:spPr>
          <a:xfrm>
            <a:off x="7767192" y="4931156"/>
            <a:ext cx="82296" cy="82296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36"/>
          <p:cNvSpPr txBox="1"/>
          <p:nvPr/>
        </p:nvSpPr>
        <p:spPr>
          <a:xfrm>
            <a:off x="7968361" y="487172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用户价值密度较高</a:t>
            </a:r>
            <a:endParaRPr lang="zh-CN" sz="14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37"/>
          <p:cNvSpPr txBox="1"/>
          <p:nvPr/>
        </p:nvSpPr>
        <p:spPr>
          <a:xfrm>
            <a:off x="7968361" y="5164328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忠实用户的单体价值高于泛用户，细分品类具备做深空间</a:t>
            </a:r>
            <a:endParaRPr lang="zh-CN" sz="120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350" y="1847215"/>
            <a:ext cx="4298315" cy="8915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项目定位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前置部署式的能力供应模式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结构对应 Palantir 的 Forward Deployed Engineer 模式：通用内核对外，逐一部署至客户现场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05840" y="2103120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95144" y="2359152"/>
            <a:ext cx="621792" cy="621792"/>
          </a:xfrm>
          <a:prstGeom prst="ellipse">
            <a:avLst/>
          </a:prstGeom>
          <a:solidFill>
            <a:srgbClr val="4A3729"/>
          </a:solidFill>
        </p:spPr>
      </p:sp>
      <p:sp>
        <p:nvSpPr>
          <p:cNvPr id="11" name="Text 8"/>
          <p:cNvSpPr txBox="1"/>
          <p:nvPr/>
        </p:nvSpPr>
        <p:spPr>
          <a:xfrm>
            <a:off x="2295144" y="250367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1455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通用内核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60273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知识库、检索生成与个体档案模块，所有商家共用一套代码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34256" y="3127248"/>
            <a:ext cx="329184" cy="256032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5" name="Shape 12"/>
          <p:cNvSpPr/>
          <p:nvPr/>
        </p:nvSpPr>
        <p:spPr>
          <a:xfrm>
            <a:off x="4791456" y="2103120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2359152"/>
            <a:ext cx="621792" cy="621792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7" name="Text 14"/>
          <p:cNvSpPr txBox="1"/>
          <p:nvPr/>
        </p:nvSpPr>
        <p:spPr>
          <a:xfrm>
            <a:off x="6080760" y="250367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20056" y="31455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前置部署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020056" y="360273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逐家配置标识、品类范围与商品库，半天完成上线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19872" y="3127248"/>
            <a:ext cx="329184" cy="256032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1" name="Shape 18"/>
          <p:cNvSpPr/>
          <p:nvPr/>
        </p:nvSpPr>
        <p:spPr>
          <a:xfrm>
            <a:off x="8577072" y="2103120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866376" y="2359152"/>
            <a:ext cx="621792" cy="621792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23" name="Text 20"/>
          <p:cNvSpPr txBox="1"/>
          <p:nvPr/>
        </p:nvSpPr>
        <p:spPr>
          <a:xfrm>
            <a:off x="9866376" y="250367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805672" y="31455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经验回流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805672" y="360273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部署与使用中产生的语料、商品结构与档案回到内核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68172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模式特征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0840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部署动作限于配置项填写</a:t>
            </a:r>
            <a:endParaRPr lang="en-US" sz="1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685800" y="5376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所有商家运行同一份代码的不同配置态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50840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交付内容随家数增加而标准化</a:t>
            </a:r>
            <a:endParaRPr lang="en-US" sz="1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6263640" y="5376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首家部署形成的模板适用于后续商家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85800" y="5888736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5EEE5"/>
          </a:solidFill>
        </p:spPr>
      </p:sp>
      <p:sp>
        <p:nvSpPr>
          <p:cNvPr id="32" name="Text 29"/>
          <p:cNvSpPr txBox="1"/>
          <p:nvPr/>
        </p:nvSpPr>
        <p:spPr>
          <a:xfrm>
            <a:off x="960120" y="6016752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内核可复用，部署可复制，经验可累积。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运营模式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 · 部署 · 回流 的运营闭环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30" name="Text 27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面向公众的主平台持续开放，为内核提供内容来源，并为商家版提供公信力支撑。</a:t>
            </a:r>
            <a:endParaRPr lang="en-US" sz="1400" dirty="0"/>
          </a:p>
        </p:txBody>
      </p:sp>
      <p:sp>
        <p:nvSpPr>
          <p:cNvPr id="31" name="Rounded Rectangle 7"/>
          <p:cNvSpPr/>
          <p:nvPr/>
        </p:nvSpPr>
        <p:spPr>
          <a:xfrm>
            <a:off x="685800" y="1920240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8"/>
          <p:cNvSpPr/>
          <p:nvPr/>
        </p:nvSpPr>
        <p:spPr>
          <a:xfrm>
            <a:off x="685800" y="1920240"/>
            <a:ext cx="32004" cy="1572768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9"/>
          <p:cNvSpPr txBox="1"/>
          <p:nvPr/>
        </p:nvSpPr>
        <p:spPr>
          <a:xfrm>
            <a:off x="877824" y="207568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zh-CN" sz="116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1298448" y="2029968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核心平台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16"/>
          <p:cNvSpPr txBox="1"/>
          <p:nvPr/>
        </p:nvSpPr>
        <p:spPr>
          <a:xfrm>
            <a:off x="3282696" y="2505456"/>
            <a:ext cx="2011680" cy="813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品类知识库 · 检索生成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个体档案模块 · 配置层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ounded Rectangle 17"/>
          <p:cNvSpPr/>
          <p:nvPr/>
        </p:nvSpPr>
        <p:spPr>
          <a:xfrm>
            <a:off x="6702552" y="1920240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18"/>
          <p:cNvSpPr/>
          <p:nvPr/>
        </p:nvSpPr>
        <p:spPr>
          <a:xfrm>
            <a:off x="6702552" y="1920240"/>
            <a:ext cx="32004" cy="1572768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19"/>
          <p:cNvSpPr txBox="1"/>
          <p:nvPr/>
        </p:nvSpPr>
        <p:spPr>
          <a:xfrm>
            <a:off x="6894576" y="207568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zh-CN" sz="116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20"/>
          <p:cNvSpPr txBox="1"/>
          <p:nvPr/>
        </p:nvSpPr>
        <p:spPr>
          <a:xfrm>
            <a:off x="7315200" y="2029968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商家版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26"/>
          <p:cNvSpPr txBox="1"/>
          <p:nvPr/>
        </p:nvSpPr>
        <p:spPr>
          <a:xfrm>
            <a:off x="8522335" y="2505710"/>
            <a:ext cx="2788920" cy="814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商家标识与界面、签约品类 · 商家商品库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Rounded Rectangle 27"/>
          <p:cNvSpPr/>
          <p:nvPr/>
        </p:nvSpPr>
        <p:spPr>
          <a:xfrm>
            <a:off x="6702552" y="4041648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28"/>
          <p:cNvSpPr/>
          <p:nvPr/>
        </p:nvSpPr>
        <p:spPr>
          <a:xfrm>
            <a:off x="6702552" y="4041648"/>
            <a:ext cx="32004" cy="1572768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29"/>
          <p:cNvSpPr txBox="1"/>
          <p:nvPr/>
        </p:nvSpPr>
        <p:spPr>
          <a:xfrm>
            <a:off x="6894576" y="41970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zh-CN" sz="116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30"/>
          <p:cNvSpPr txBox="1"/>
          <p:nvPr/>
        </p:nvSpPr>
        <p:spPr>
          <a:xfrm>
            <a:off x="7315200" y="4151376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宠主使用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TextBox 36"/>
          <p:cNvSpPr txBox="1"/>
          <p:nvPr/>
        </p:nvSpPr>
        <p:spPr>
          <a:xfrm>
            <a:off x="8547100" y="4626610"/>
            <a:ext cx="2764155" cy="814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扫码建档 · 三十天养护计划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问答与选购 · 工单转接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Rounded Rectangle 37"/>
          <p:cNvSpPr/>
          <p:nvPr/>
        </p:nvSpPr>
        <p:spPr>
          <a:xfrm>
            <a:off x="685800" y="4041648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38"/>
          <p:cNvSpPr/>
          <p:nvPr/>
        </p:nvSpPr>
        <p:spPr>
          <a:xfrm>
            <a:off x="685800" y="4041648"/>
            <a:ext cx="32004" cy="1572768"/>
          </a:xfrm>
          <a:prstGeom prst="rect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39"/>
          <p:cNvSpPr txBox="1"/>
          <p:nvPr/>
        </p:nvSpPr>
        <p:spPr>
          <a:xfrm>
            <a:off x="877824" y="41970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zh-CN" sz="116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TextBox 40"/>
          <p:cNvSpPr txBox="1"/>
          <p:nvPr/>
        </p:nvSpPr>
        <p:spPr>
          <a:xfrm>
            <a:off x="1298448" y="4151376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沉淀与回流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TextBox 46"/>
          <p:cNvSpPr txBox="1"/>
          <p:nvPr/>
        </p:nvSpPr>
        <p:spPr>
          <a:xfrm>
            <a:off x="3209290" y="4626610"/>
            <a:ext cx="2085340" cy="814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问答语料 · 商品与库存结构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个体档案与养护结果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Right Arrow 47"/>
          <p:cNvSpPr/>
          <p:nvPr/>
        </p:nvSpPr>
        <p:spPr>
          <a:xfrm>
            <a:off x="5614416" y="2660904"/>
            <a:ext cx="950976" cy="228600"/>
          </a:xfrm>
          <a:prstGeom prst="rightArrow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48"/>
          <p:cNvSpPr txBox="1"/>
          <p:nvPr/>
        </p:nvSpPr>
        <p:spPr>
          <a:xfrm>
            <a:off x="5504688" y="2286000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按商家</a:t>
            </a:r>
            <a:endParaRPr lang="zh-CN" sz="105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配置部署</a:t>
            </a:r>
            <a:endParaRPr lang="zh-CN" sz="105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Down Arrow 49"/>
          <p:cNvSpPr/>
          <p:nvPr/>
        </p:nvSpPr>
        <p:spPr>
          <a:xfrm>
            <a:off x="8961120" y="3593592"/>
            <a:ext cx="210312" cy="301752"/>
          </a:xfrm>
          <a:prstGeom prst="downArrow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50"/>
          <p:cNvSpPr txBox="1"/>
          <p:nvPr/>
        </p:nvSpPr>
        <p:spPr>
          <a:xfrm>
            <a:off x="9290304" y="3630168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随宠物交付</a:t>
            </a:r>
            <a:endParaRPr lang="zh-CN" sz="110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Left Arrow 51"/>
          <p:cNvSpPr/>
          <p:nvPr/>
        </p:nvSpPr>
        <p:spPr>
          <a:xfrm>
            <a:off x="5614416" y="4809744"/>
            <a:ext cx="950976" cy="228600"/>
          </a:xfrm>
          <a:prstGeom prst="leftArrow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52"/>
          <p:cNvSpPr txBox="1"/>
          <p:nvPr/>
        </p:nvSpPr>
        <p:spPr>
          <a:xfrm>
            <a:off x="5495544" y="5184648"/>
            <a:ext cx="1197864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沉淀</a:t>
            </a:r>
            <a:endParaRPr lang="zh-CN" sz="105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使用数据</a:t>
            </a:r>
            <a:endParaRPr lang="zh-CN" sz="105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Up Arrow 53"/>
          <p:cNvSpPr/>
          <p:nvPr/>
        </p:nvSpPr>
        <p:spPr>
          <a:xfrm>
            <a:off x="2962656" y="3593592"/>
            <a:ext cx="210312" cy="301752"/>
          </a:xfrm>
          <a:prstGeom prst="upArrow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54"/>
          <p:cNvSpPr txBox="1"/>
          <p:nvPr/>
        </p:nvSpPr>
        <p:spPr>
          <a:xfrm>
            <a:off x="1170432" y="3630168"/>
            <a:ext cx="167335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回流至内核</a:t>
            </a:r>
            <a:endParaRPr lang="zh-CN" sz="110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TextBox 55"/>
          <p:cNvSpPr txBox="1"/>
          <p:nvPr/>
        </p:nvSpPr>
        <p:spPr>
          <a:xfrm>
            <a:off x="5468112" y="3493008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每轮循环</a:t>
            </a:r>
            <a:endParaRPr lang="zh-CN" sz="11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内核沉淀累积</a:t>
            </a:r>
            <a:endParaRPr lang="zh-CN" sz="11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15" y="2379345"/>
            <a:ext cx="2125980" cy="93980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05" y="4423410"/>
            <a:ext cx="1280160" cy="1152525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15" y="4462780"/>
            <a:ext cx="1654810" cy="1080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服务与交付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主平台服务与商家版的配置边界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面向大众的服务持续开放；商家版在同一套能力上按签约品类收窄并接入商家商品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6968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1" name="Text 8"/>
          <p:cNvSpPr txBox="1"/>
          <p:nvPr/>
        </p:nvSpPr>
        <p:spPr>
          <a:xfrm>
            <a:off x="886968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商家签约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50392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分成或年费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258568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386584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87752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7" name="Text 14"/>
          <p:cNvSpPr txBox="1"/>
          <p:nvPr/>
        </p:nvSpPr>
        <p:spPr>
          <a:xfrm>
            <a:off x="2587752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551176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配置部署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551176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半天上线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959352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87368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88536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23" name="Text 20"/>
          <p:cNvSpPr txBox="1"/>
          <p:nvPr/>
        </p:nvSpPr>
        <p:spPr>
          <a:xfrm>
            <a:off x="4288536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251960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随宠物交付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251960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二维码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660136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788152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89320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29" name="Text 26"/>
          <p:cNvSpPr txBox="1"/>
          <p:nvPr/>
        </p:nvSpPr>
        <p:spPr>
          <a:xfrm>
            <a:off x="5989320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52744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扫码建档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952744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三十秒出计划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360920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488936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90104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35" name="Text 32"/>
          <p:cNvSpPr txBox="1"/>
          <p:nvPr/>
        </p:nvSpPr>
        <p:spPr>
          <a:xfrm>
            <a:off x="7690104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653528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日常使用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7653528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问答与选购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061704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189720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390888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41" name="Text 38"/>
          <p:cNvSpPr txBox="1"/>
          <p:nvPr/>
        </p:nvSpPr>
        <p:spPr>
          <a:xfrm>
            <a:off x="9390888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9354312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工单转接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9354312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转由商家处理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85800" y="3310128"/>
            <a:ext cx="5276088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5256" y="3493008"/>
            <a:ext cx="4837176" cy="365760"/>
          </a:xfrm>
          <a:prstGeom prst="roundRect">
            <a:avLst>
              <a:gd name="adj" fmla="val 12500"/>
            </a:avLst>
          </a:prstGeom>
          <a:solidFill>
            <a:srgbClr val="4A3729"/>
          </a:solidFill>
        </p:spPr>
      </p:sp>
      <p:sp>
        <p:nvSpPr>
          <p:cNvPr id="46" name="Text 43"/>
          <p:cNvSpPr txBox="1"/>
          <p:nvPr/>
        </p:nvSpPr>
        <p:spPr>
          <a:xfrm>
            <a:off x="1051560" y="35478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主平台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2944368" y="35661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面向大众，持续免费开放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960120" y="4050792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49" name="Text 46"/>
          <p:cNvSpPr txBox="1"/>
          <p:nvPr/>
        </p:nvSpPr>
        <p:spPr>
          <a:xfrm>
            <a:off x="1179576" y="39684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问答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2587752" y="39867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覆盖犬猫与 6 类异宠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52" name="Text 49"/>
          <p:cNvSpPr txBox="1"/>
          <p:nvPr/>
        </p:nvSpPr>
        <p:spPr>
          <a:xfrm>
            <a:off x="1179576" y="42976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宠物科普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2587752" y="431596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循证撰写，标注依据来源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60120" y="4709160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55" name="Text 52"/>
          <p:cNvSpPr txBox="1"/>
          <p:nvPr/>
        </p:nvSpPr>
        <p:spPr>
          <a:xfrm>
            <a:off x="1179576" y="46268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个体档案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2587752" y="46451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品种、月龄与饲养环境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60120" y="5038344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58" name="Text 55"/>
          <p:cNvSpPr txBox="1"/>
          <p:nvPr/>
        </p:nvSpPr>
        <p:spPr>
          <a:xfrm>
            <a:off x="1179576" y="495604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选购参考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2587752" y="497433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挑选标准与成分对比，无交易环节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960120" y="5367528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61" name="Text 58"/>
          <p:cNvSpPr txBox="1"/>
          <p:nvPr/>
        </p:nvSpPr>
        <p:spPr>
          <a:xfrm>
            <a:off x="1179576" y="52852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2587752" y="5303520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保留开放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6227064" y="3310128"/>
            <a:ext cx="5276088" cy="2304288"/>
          </a:xfrm>
          <a:prstGeom prst="roundRect">
            <a:avLst>
              <a:gd name="adj" fmla="val 2381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446520" y="3493008"/>
            <a:ext cx="4837176" cy="365760"/>
          </a:xfrm>
          <a:prstGeom prst="roundRect">
            <a:avLst>
              <a:gd name="adj" fmla="val 12500"/>
            </a:avLst>
          </a:prstGeom>
          <a:solidFill>
            <a:srgbClr val="C79255"/>
          </a:solidFill>
        </p:spPr>
      </p:sp>
      <p:sp>
        <p:nvSpPr>
          <p:cNvPr id="65" name="Text 62"/>
          <p:cNvSpPr txBox="1"/>
          <p:nvPr/>
        </p:nvSpPr>
        <p:spPr>
          <a:xfrm>
            <a:off x="6592824" y="35478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商家版（兔类示例）</a:t>
            </a:r>
            <a:endParaRPr lang="en-US" sz="1150" dirty="0"/>
          </a:p>
        </p:txBody>
      </p:sp>
      <p:sp>
        <p:nvSpPr>
          <p:cNvPr id="66" name="Text 63"/>
          <p:cNvSpPr txBox="1"/>
          <p:nvPr/>
        </p:nvSpPr>
        <p:spPr>
          <a:xfrm>
            <a:off x="8485632" y="35661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按签约商家配置生成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501384" y="4050792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68" name="Text 65"/>
          <p:cNvSpPr txBox="1"/>
          <p:nvPr/>
        </p:nvSpPr>
        <p:spPr>
          <a:xfrm>
            <a:off x="6720840" y="39684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问答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8129016" y="39867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收窄至兔类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6501384" y="4379976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71" name="Text 68"/>
          <p:cNvSpPr txBox="1"/>
          <p:nvPr/>
        </p:nvSpPr>
        <p:spPr>
          <a:xfrm>
            <a:off x="6720840" y="42976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兔类科普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8129016" y="431596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同一知识库的品类分册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6501384" y="4709160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74" name="Text 71"/>
          <p:cNvSpPr txBox="1"/>
          <p:nvPr/>
        </p:nvSpPr>
        <p:spPr>
          <a:xfrm>
            <a:off x="6720840" y="46268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个体档案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8129016" y="46451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与主平台同一模块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6501384" y="5038344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77" name="Text 74"/>
          <p:cNvSpPr txBox="1"/>
          <p:nvPr/>
        </p:nvSpPr>
        <p:spPr>
          <a:xfrm>
            <a:off x="6720840" y="495604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商品推荐</a:t>
            </a:r>
            <a:endParaRPr lang="en-US" sz="1200" dirty="0"/>
          </a:p>
        </p:txBody>
      </p:sp>
      <p:sp>
        <p:nvSpPr>
          <p:cNvPr id="78" name="Text 75"/>
          <p:cNvSpPr txBox="1"/>
          <p:nvPr/>
        </p:nvSpPr>
        <p:spPr>
          <a:xfrm>
            <a:off x="8129016" y="497433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接入商家 SKU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6501384" y="5367528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80" name="Text 77"/>
          <p:cNvSpPr txBox="1"/>
          <p:nvPr/>
        </p:nvSpPr>
        <p:spPr>
          <a:xfrm>
            <a:off x="6720840" y="52852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工单转接</a:t>
            </a:r>
            <a:endParaRPr lang="en-US" sz="1200" dirty="0"/>
          </a:p>
        </p:txBody>
      </p:sp>
      <p:sp>
        <p:nvSpPr>
          <p:cNvPr id="81" name="Text 78"/>
          <p:cNvSpPr txBox="1"/>
          <p:nvPr/>
        </p:nvSpPr>
        <p:spPr>
          <a:xfrm>
            <a:off x="8129016" y="5303520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转至商家联系方式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685800" y="5797296"/>
            <a:ext cx="10817352" cy="603504"/>
          </a:xfrm>
          <a:prstGeom prst="roundRect">
            <a:avLst>
              <a:gd name="adj" fmla="val 7576"/>
            </a:avLst>
          </a:prstGeom>
          <a:solidFill>
            <a:srgbClr val="F5EEE5"/>
          </a:solidFill>
        </p:spPr>
      </p:sp>
      <p:sp>
        <p:nvSpPr>
          <p:cNvPr id="83" name="Text 80"/>
          <p:cNvSpPr txBox="1"/>
          <p:nvPr/>
        </p:nvSpPr>
        <p:spPr>
          <a:xfrm>
            <a:off x="960120" y="5943600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主平台的问答、科普、个体档案、选购参考与社区持续对公众开放，商家版是同一套能力的品类切片。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收入来源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以售宠套餐分成为主的收入结构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付费动机来自售宠成交与耗材复购。节省人力属于成本项，付费意愿低于收入项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938528"/>
            <a:ext cx="6400800" cy="2377440"/>
          </a:xfrm>
          <a:prstGeom prst="roundRect">
            <a:avLst>
              <a:gd name="adj" fmla="val 2308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2139696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主模型 · 售宠套餐分成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54203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商家售出一只宠物即包含一年养护顾问服务，按激活用户结算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889504"/>
            <a:ext cx="23774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20—30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3227832" y="325526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 / 激活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962656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年售 200—500 只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 4,000—15,000 元 / 年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3877056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以中等规模异宠商家测算，待首家试点校准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1938528"/>
            <a:ext cx="40965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44384" y="204825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年费订阅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644384" y="232257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2,000—5,000 元 / 年（测算）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06640" y="2761488"/>
            <a:ext cx="40965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44384" y="287121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商家版内用品分佣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644384" y="314553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主粮零食 3%—8%，用品 5%—12%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06640" y="3584448"/>
            <a:ext cx="40965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44384" y="369417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品牌方内容包与洞察报告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644384" y="396849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单篇 300—1,500 元，第 7—12 个月启动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4553712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推进顺序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4864608"/>
            <a:ext cx="40965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售宠分成打底  →  商家版内分佣  →  规模形成后转年费或混合  →  语料积累后提供洞察报告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457200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主平台不参与商品交易与分佣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4974336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公众平台同时提供中立建议与商品销售会影响公信力，交易环节统一设置在标识明确的商家版内。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30" name="Text 27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收入规模与商家销售规模同步增长，续费决策依据由支出转为收益。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· 模式可行性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单家部署人力投入的下降曲线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首家部署形成的模板可直接用于后续商家，构成规模化的前提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85800" y="2011680"/>
          <a:ext cx="67665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4846320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单位：人时；为内部测算，随首批试点校准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2011680"/>
            <a:ext cx="3639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下降来源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863840" y="2505456"/>
            <a:ext cx="128016" cy="128016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3" name="Text 9"/>
          <p:cNvSpPr txBox="1"/>
          <p:nvPr/>
        </p:nvSpPr>
        <p:spPr>
          <a:xfrm>
            <a:off x="8101584" y="2450592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品类知识库复用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101584" y="2743200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同品类的后续商家无需重建内容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63840" y="3291840"/>
            <a:ext cx="128016" cy="128016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6" name="Text 12"/>
          <p:cNvSpPr txBox="1"/>
          <p:nvPr/>
        </p:nvSpPr>
        <p:spPr>
          <a:xfrm>
            <a:off x="8101584" y="3236976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配置项标准化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101584" y="3529584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首家验证过的参数固化为默认值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863840" y="4078224"/>
            <a:ext cx="128016" cy="128016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9" name="Text 15"/>
          <p:cNvSpPr txBox="1"/>
          <p:nvPr/>
        </p:nvSpPr>
        <p:spPr>
          <a:xfrm>
            <a:off x="8101584" y="4023360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交付流程模板化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101584" y="4315968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签约、导入、培训形成固定动作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863840" y="4809744"/>
            <a:ext cx="3639312" cy="969264"/>
          </a:xfrm>
          <a:prstGeom prst="roundRect">
            <a:avLst>
              <a:gd name="adj" fmla="val 5660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101584" y="4956048"/>
            <a:ext cx="3163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规模化临界点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101584" y="5248656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单品类累计部署约 10 家后，新增商家不再需要开发介入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85800" y="5888736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5EEE5"/>
          </a:solidFill>
        </p:spPr>
      </p:sp>
      <p:sp>
        <p:nvSpPr>
          <p:cNvPr id="25" name="Text 21"/>
          <p:cNvSpPr txBox="1"/>
          <p:nvPr/>
        </p:nvSpPr>
        <p:spPr>
          <a:xfrm>
            <a:off x="960120" y="6016752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部署动作限于配置项填写，交付物为同一份代码的不同配置态。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· 技术实现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四层技术结构与商家差异边界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采用检索增强方案：异宠语料规模有限且更新频繁，知识维护以文档更新为主</a:t>
            </a:r>
            <a:endParaRPr lang="en-US" sz="1250" dirty="0"/>
          </a:p>
        </p:txBody>
      </p:sp>
      <p:sp>
        <p:nvSpPr>
          <p:cNvPr id="35" name="Rounded Rectangle 8"/>
          <p:cNvSpPr/>
          <p:nvPr/>
        </p:nvSpPr>
        <p:spPr>
          <a:xfrm>
            <a:off x="685800" y="2057400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3EEE6"/>
          </a:solidFill>
          <a:ln w="8890">
            <a:solidFill>
              <a:srgbClr val="C79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9"/>
          <p:cNvSpPr/>
          <p:nvPr/>
        </p:nvSpPr>
        <p:spPr>
          <a:xfrm>
            <a:off x="905256" y="2249424"/>
            <a:ext cx="59436" cy="283464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10"/>
          <p:cNvSpPr txBox="1"/>
          <p:nvPr/>
        </p:nvSpPr>
        <p:spPr>
          <a:xfrm>
            <a:off x="1088136" y="22677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商家配置层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11"/>
          <p:cNvSpPr txBox="1"/>
          <p:nvPr/>
        </p:nvSpPr>
        <p:spPr>
          <a:xfrm>
            <a:off x="2971800" y="2185416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标识、界面、开放品类、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商品库、工单转接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12"/>
          <p:cNvSpPr txBox="1"/>
          <p:nvPr/>
        </p:nvSpPr>
        <p:spPr>
          <a:xfrm>
            <a:off x="5742432" y="229514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每家商家独有</a:t>
            </a:r>
            <a:endParaRPr lang="zh-CN" sz="102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13"/>
          <p:cNvSpPr/>
          <p:nvPr/>
        </p:nvSpPr>
        <p:spPr>
          <a:xfrm>
            <a:off x="685800" y="2889504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14"/>
          <p:cNvSpPr/>
          <p:nvPr/>
        </p:nvSpPr>
        <p:spPr>
          <a:xfrm>
            <a:off x="905256" y="3081528"/>
            <a:ext cx="59436" cy="283464"/>
          </a:xfrm>
          <a:prstGeom prst="rect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5"/>
          <p:cNvSpPr txBox="1"/>
          <p:nvPr/>
        </p:nvSpPr>
        <p:spPr>
          <a:xfrm>
            <a:off x="1088136" y="3099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品类知识库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16"/>
          <p:cNvSpPr txBox="1"/>
          <p:nvPr/>
        </p:nvSpPr>
        <p:spPr>
          <a:xfrm>
            <a:off x="2971800" y="3017520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兔 · 爬宠 · 鹦鹉 · 水族 ⋯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按品类分册，循证标注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17"/>
          <p:cNvSpPr txBox="1"/>
          <p:nvPr/>
        </p:nvSpPr>
        <p:spPr>
          <a:xfrm>
            <a:off x="5742432" y="312724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按签约品类开放</a:t>
            </a:r>
            <a:endParaRPr lang="zh-CN" sz="102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ounded Rectangle 18"/>
          <p:cNvSpPr/>
          <p:nvPr/>
        </p:nvSpPr>
        <p:spPr>
          <a:xfrm>
            <a:off x="685800" y="3721608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19"/>
          <p:cNvSpPr/>
          <p:nvPr/>
        </p:nvSpPr>
        <p:spPr>
          <a:xfrm>
            <a:off x="905256" y="3913632"/>
            <a:ext cx="59436" cy="283464"/>
          </a:xfrm>
          <a:prstGeom prst="rect">
            <a:avLst/>
          </a:prstGeom>
          <a:solidFill>
            <a:srgbClr val="51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20"/>
          <p:cNvSpPr txBox="1"/>
          <p:nvPr/>
        </p:nvSpPr>
        <p:spPr>
          <a:xfrm>
            <a:off x="1088136" y="39319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检索与生成层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21"/>
          <p:cNvSpPr txBox="1"/>
          <p:nvPr/>
        </p:nvSpPr>
        <p:spPr>
          <a:xfrm>
            <a:off x="2971800" y="3849624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检索增强生成，答案携带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依据来源与免责声明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22"/>
          <p:cNvSpPr txBox="1"/>
          <p:nvPr/>
        </p:nvSpPr>
        <p:spPr>
          <a:xfrm>
            <a:off x="5742432" y="395935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所有商家共用</a:t>
            </a:r>
            <a:endParaRPr lang="zh-CN" sz="10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Rounded Rectangle 23"/>
          <p:cNvSpPr/>
          <p:nvPr/>
        </p:nvSpPr>
        <p:spPr>
          <a:xfrm>
            <a:off x="685800" y="4553712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24"/>
          <p:cNvSpPr/>
          <p:nvPr/>
        </p:nvSpPr>
        <p:spPr>
          <a:xfrm>
            <a:off x="905256" y="4745736"/>
            <a:ext cx="59436" cy="283464"/>
          </a:xfrm>
          <a:prstGeom prst="rect">
            <a:avLst/>
          </a:prstGeom>
          <a:solidFill>
            <a:srgbClr val="51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25"/>
          <p:cNvSpPr txBox="1"/>
          <p:nvPr/>
        </p:nvSpPr>
        <p:spPr>
          <a:xfrm>
            <a:off x="1088136" y="4764024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底座模型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26"/>
          <p:cNvSpPr txBox="1"/>
          <p:nvPr/>
        </p:nvSpPr>
        <p:spPr>
          <a:xfrm>
            <a:off x="2971800" y="4681728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接入已完成算法备案的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大模型服务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27"/>
          <p:cNvSpPr txBox="1"/>
          <p:nvPr/>
        </p:nvSpPr>
        <p:spPr>
          <a:xfrm>
            <a:off x="5742432" y="479145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所有商家共用</a:t>
            </a:r>
            <a:endParaRPr lang="zh-CN" sz="10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ounded Rectangle 33"/>
          <p:cNvSpPr/>
          <p:nvPr/>
        </p:nvSpPr>
        <p:spPr>
          <a:xfrm>
            <a:off x="7507224" y="4946904"/>
            <a:ext cx="3995928" cy="704088"/>
          </a:xfrm>
          <a:prstGeom prst="roundRect">
            <a:avLst>
              <a:gd name="adj" fmla="val 4000"/>
            </a:avLst>
          </a:prstGeom>
          <a:solidFill>
            <a:srgbClr val="F3EEE6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34"/>
          <p:cNvSpPr txBox="1"/>
          <p:nvPr/>
        </p:nvSpPr>
        <p:spPr>
          <a:xfrm>
            <a:off x="7690104" y="5056632"/>
            <a:ext cx="151790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4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上线前置条件</a:t>
            </a:r>
            <a:endParaRPr lang="zh-CN" sz="124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35"/>
          <p:cNvSpPr txBox="1"/>
          <p:nvPr/>
        </p:nvSpPr>
        <p:spPr>
          <a:xfrm>
            <a:off x="7690104" y="5349240"/>
            <a:ext cx="3630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企业主体 + 深度合成类目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ectangle 36"/>
          <p:cNvSpPr/>
          <p:nvPr/>
        </p:nvSpPr>
        <p:spPr>
          <a:xfrm>
            <a:off x="685800" y="5879592"/>
            <a:ext cx="10817352" cy="475488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37"/>
          <p:cNvSpPr txBox="1"/>
          <p:nvPr/>
        </p:nvSpPr>
        <p:spPr>
          <a:xfrm>
            <a:off x="923544" y="5971031"/>
            <a:ext cx="103418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结构的好处</a:t>
            </a:r>
            <a:r>
              <a:rPr lang="en-US" altLang="zh-CN" sz="1265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sz="1265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新增商家仅调整配置层，无需开发介入，半天完成上线；知识更新通过修改文档完成，无需重新训练模型。</a:t>
            </a:r>
            <a:endParaRPr lang="zh-CN" sz="1265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320" y="1893570"/>
            <a:ext cx="4820920" cy="2568575"/>
          </a:xfrm>
          <a:prstGeom prst="rect">
            <a:avLst/>
          </a:prstGeom>
        </p:spPr>
      </p:pic>
      <p:sp>
        <p:nvSpPr>
          <p:cNvPr id="61" name="文本框 60"/>
          <p:cNvSpPr txBox="1"/>
          <p:nvPr/>
        </p:nvSpPr>
        <p:spPr>
          <a:xfrm>
            <a:off x="7443470" y="4571365"/>
            <a:ext cx="4237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Songti SC" panose="02010800040101010101" charset="-122"/>
                <a:ea typeface="Songti SC" panose="02010800040101010101" charset="-122"/>
              </a:rPr>
              <a:t>图</a:t>
            </a:r>
            <a:r>
              <a:rPr lang="en-US" altLang="zh-CN" sz="1200">
                <a:latin typeface="Songti SC" panose="02010800040101010101" charset="-122"/>
                <a:ea typeface="Songti SC" panose="02010800040101010101" charset="-122"/>
              </a:rPr>
              <a:t>. </a:t>
            </a:r>
            <a:r>
              <a:rPr lang="zh-CN" altLang="en-US" sz="1200">
                <a:latin typeface="Songti SC" panose="02010800040101010101" charset="-122"/>
                <a:ea typeface="Songti SC" panose="02010800040101010101" charset="-122"/>
              </a:rPr>
              <a:t>某科普性文案的来源说明</a:t>
            </a:r>
            <a:endParaRPr lang="zh-CN" altLang="en-US" sz="1200">
              <a:latin typeface="Songti SC" panose="02010800040101010101" charset="-122"/>
              <a:ea typeface="Songti SC" panose="020108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· 数据回流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由点及面的知识沉淀路径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每一次部署与使用产生的领域经验回流至核心知识库，覆盖面与置信度随商家与品类数量提升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2048256"/>
            <a:ext cx="3456432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78408" y="2267712"/>
            <a:ext cx="512064" cy="512064"/>
          </a:xfrm>
          <a:prstGeom prst="ellipse">
            <a:avLst/>
          </a:prstGeom>
          <a:solidFill>
            <a:srgbClr val="4A3729"/>
          </a:solidFill>
        </p:spPr>
      </p:sp>
      <p:sp>
        <p:nvSpPr>
          <p:cNvPr id="11" name="Text 8"/>
          <p:cNvSpPr txBox="1"/>
          <p:nvPr/>
        </p:nvSpPr>
        <p:spPr>
          <a:xfrm>
            <a:off x="978408" y="237744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18488" y="237744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单家商家与其顾客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978408" y="2944368"/>
            <a:ext cx="28712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真实问答、饲养环境参数、商品选择与售后记录，构成单点的原始素材。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834640"/>
            <a:ext cx="219456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5" name="Shape 12"/>
          <p:cNvSpPr/>
          <p:nvPr/>
        </p:nvSpPr>
        <p:spPr>
          <a:xfrm>
            <a:off x="4398264" y="2048256"/>
            <a:ext cx="3456432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90872" y="2267712"/>
            <a:ext cx="512064" cy="51206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7" name="Text 14"/>
          <p:cNvSpPr txBox="1"/>
          <p:nvPr/>
        </p:nvSpPr>
        <p:spPr>
          <a:xfrm>
            <a:off x="4690872" y="237744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237744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同品类多家商家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4690872" y="2944368"/>
            <a:ext cx="28712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同一条养护建议在多个个体上获得结果反馈，沉淀为该品类的知识分册与话术模板。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72984" y="2834640"/>
            <a:ext cx="219456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1" name="Shape 18"/>
          <p:cNvSpPr/>
          <p:nvPr/>
        </p:nvSpPr>
        <p:spPr>
          <a:xfrm>
            <a:off x="8110728" y="2048256"/>
            <a:ext cx="3456432" cy="1810512"/>
          </a:xfrm>
          <a:prstGeom prst="roundRect">
            <a:avLst>
              <a:gd name="adj" fmla="val 3030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03336" y="2267712"/>
            <a:ext cx="512064" cy="51206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23" name="Text 20"/>
          <p:cNvSpPr txBox="1"/>
          <p:nvPr/>
        </p:nvSpPr>
        <p:spPr>
          <a:xfrm>
            <a:off x="8403336" y="237744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043416" y="237744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跨品类与跨区域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8403336" y="2944368"/>
            <a:ext cx="28712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品类之间共用同一套结构，个体档案在商家之间迁移，形成覆盖多品类的知识网络。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0416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回流至核心知识库的四类内容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580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354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29" name="Text 26"/>
          <p:cNvSpPr txBox="1"/>
          <p:nvPr/>
        </p:nvSpPr>
        <p:spPr>
          <a:xfrm>
            <a:off x="114300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问答语料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2354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暴露知识库的覆盖缺口，补齐后提升应答范围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4043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7817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33" name="Text 30"/>
          <p:cNvSpPr txBox="1"/>
          <p:nvPr/>
        </p:nvSpPr>
        <p:spPr>
          <a:xfrm>
            <a:off x="389763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商品与库存结构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367817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形成各品类的选品标准与商品匹配规则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9506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3280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37" name="Text 34"/>
          <p:cNvSpPr txBox="1"/>
          <p:nvPr/>
        </p:nvSpPr>
        <p:spPr>
          <a:xfrm>
            <a:off x="665226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个体档案与养护结果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43280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使建议获得可追溯的效果反馈，提升置信度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94969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8743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41" name="Text 38"/>
          <p:cNvSpPr txBox="1"/>
          <p:nvPr/>
        </p:nvSpPr>
        <p:spPr>
          <a:xfrm>
            <a:off x="940689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部署配置与话术模板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918743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沉淀为后续商家的默认配置，缩短上线周期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85800" y="5724144"/>
            <a:ext cx="10817352" cy="603504"/>
          </a:xfrm>
          <a:prstGeom prst="roundRect">
            <a:avLst>
              <a:gd name="adj" fmla="val 7576"/>
            </a:avLst>
          </a:prstGeom>
          <a:solidFill>
            <a:srgbClr val="F5EEE5"/>
          </a:solidFill>
        </p:spPr>
      </p:sp>
      <p:sp>
        <p:nvSpPr>
          <p:cNvPr id="44" name="Text 41"/>
          <p:cNvSpPr txBox="1"/>
          <p:nvPr/>
        </p:nvSpPr>
        <p:spPr>
          <a:xfrm>
            <a:off x="960120" y="587044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品类之间共用同一套结构，新增品类只需补充内容；核心知识库的价值不随单家商家的变动而减少。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· 产业壁垒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入口、数据与关系三层壁垒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上一页的沉淀在此形成三项资产，均独立于上游模型的版本更新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2084832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96696" y="2304288"/>
            <a:ext cx="28346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996696" y="294436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商家私域场景中随宠物交付的扫码入口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96696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通用产品难以进入单个商家的售后流程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98264" y="2084832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2304288"/>
            <a:ext cx="28346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94436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品类知识库、商品匹配规则与养护结果记录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通用模型不掌握单店商品与个体养护轨迹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10728" y="2084832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21624" y="2304288"/>
            <a:ext cx="28346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</a:t>
            </a:r>
            <a:endParaRPr lang="en-US" sz="2500" dirty="0"/>
          </a:p>
        </p:txBody>
      </p:sp>
      <p:sp>
        <p:nvSpPr>
          <p:cNvPr id="19" name="Text 16"/>
          <p:cNvSpPr txBox="1"/>
          <p:nvPr/>
        </p:nvSpPr>
        <p:spPr>
          <a:xfrm>
            <a:off x="8421624" y="294436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宠物个体档案与连续的养护跟踪记录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421624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单次对话难以形成连续的养护记录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82803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合规边界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4828032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仅提供养护知识与选购参考，不替代兽医诊断；内容由兽医与训犬师撰写，异宠医生署名审校。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2303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数据授权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103120" y="523036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商家合同中约定脱敏与聚合使用范围，回流数据仅用于改进知识库。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26" name="Text 23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复制这三项资产需要逐家进入商家的售后场景，并积累同等时长的养护记录。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· 验证计划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八周验证计划与关键节点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1—2 周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门店调研 15—20 家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其中异宠商家不少于 8 家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公司注册启动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19272" y="3054096"/>
            <a:ext cx="155448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2" name="Shape 9"/>
          <p:cNvSpPr/>
          <p:nvPr/>
        </p:nvSpPr>
        <p:spPr>
          <a:xfrm>
            <a:off x="3483864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58184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3—4 周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758184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配置层与商家版模板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深度合成类目申请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异宠医生审校对接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17336" y="3054096"/>
            <a:ext cx="155448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6" name="Shape 13"/>
          <p:cNvSpPr/>
          <p:nvPr/>
        </p:nvSpPr>
        <p:spPr>
          <a:xfrm>
            <a:off x="6281928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56248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5—6 周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556248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首家商家上线并收费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获得真实激活数据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形成完整交付流程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915400" y="3054096"/>
            <a:ext cx="155448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0" name="Shape 17"/>
          <p:cNvSpPr/>
          <p:nvPr/>
        </p:nvSpPr>
        <p:spPr>
          <a:xfrm>
            <a:off x="9079992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54312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7—8 周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354312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复盘定价结构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洽谈第二、三家商家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形成可对外引用的案例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4718304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首家试点按 500—1,000 元收费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51206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付费意愿需通过收费试点获得验证，本轮优先验证该项指标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4718304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首笔收入的时点为第六周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51206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此后按月新增商家，观测部署人时随家数的变化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28" name="Text 25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本轮验证指标为付费意愿与部署效率。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· 财务与融资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三年财务预测与成本结构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  <p:txBody>
          <a:bodyPr/>
          <a:p/>
        </p:txBody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第三年营</a:t>
            </a:r>
            <a:r>
              <a:rPr lang="zh-CN" alt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业额</a:t>
            </a: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500—1,000 万元，税前利润 </a:t>
            </a:r>
            <a:r>
              <a:rPr lang="zh-CN" alt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</a:t>
            </a: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75 万元，采用 SOM 保守口径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685800" y="2029968"/>
            <a:ext cx="2194560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12848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第 1 年</a:t>
            </a:r>
            <a:endParaRPr lang="zh-CN" sz="138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917" y="251333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签约商家 </a:t>
            </a:r>
            <a:r>
              <a:rPr lang="en-US" alt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20</a:t>
            </a:r>
            <a:r>
              <a:rPr lang="zh-CN" altLang="en-US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家</a:t>
            </a:r>
            <a:endParaRPr lang="zh-CN" altLang="en-US" sz="131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917" y="2839720"/>
            <a:ext cx="18653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营收 约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万元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预计约亏损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万元</a:t>
            </a:r>
            <a:endParaRPr lang="zh-CN" altLang="en-US" sz="12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35808" y="2029968"/>
            <a:ext cx="2194560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12848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第 2 年</a:t>
            </a:r>
            <a:endParaRPr lang="zh-CN" sz="138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51333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签约商家 </a:t>
            </a:r>
            <a:r>
              <a:rPr lang="en-US" alt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100</a:t>
            </a:r>
            <a:r>
              <a:rPr lang="zh-CN" altLang="en-US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家</a:t>
            </a:r>
            <a:endParaRPr lang="zh-CN" altLang="en-US" sz="131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2840355"/>
            <a:ext cx="18653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营收 约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100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万元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预计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勉强达到收支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平衡</a:t>
            </a:r>
            <a:endParaRPr lang="zh-CN" altLang="en-US" sz="12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85816" y="2029968"/>
            <a:ext cx="2194560" cy="1335024"/>
          </a:xfrm>
          <a:prstGeom prst="roundRect">
            <a:avLst>
              <a:gd name="adj" fmla="val 4000"/>
            </a:avLst>
          </a:prstGeom>
          <a:solidFill>
            <a:srgbClr val="F3EEE6"/>
          </a:solidFill>
          <a:ln w="8890">
            <a:solidFill>
              <a:srgbClr val="C79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7" y="2212848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第 3 年</a:t>
            </a:r>
            <a:endParaRPr lang="zh-CN" sz="138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49772" y="251333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营业</a:t>
            </a:r>
            <a:r>
              <a:rPr lang="zh-CN" sz="131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额 </a:t>
            </a:r>
            <a:r>
              <a:rPr lang="en-US" altLang="zh-CN" sz="131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lang="zh-CN" sz="131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00—1,</a:t>
            </a:r>
            <a:r>
              <a:rPr lang="en-US" altLang="zh-CN" sz="131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zh-CN" sz="131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00 万元</a:t>
            </a:r>
            <a:endParaRPr lang="zh-CN" sz="131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49137" y="2883535"/>
            <a:ext cx="18653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税前利润</a:t>
            </a:r>
            <a:r>
              <a:rPr lang="zh-CN" sz="129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约 75 万元</a:t>
            </a:r>
            <a:endParaRPr lang="zh-CN" sz="129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630168"/>
            <a:ext cx="6812280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成本结构与主要风险</a:t>
            </a:r>
            <a:endParaRPr lang="zh-CN" sz="16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13232" y="4142232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78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模型调用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76856" y="4078224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随激活用户数线性增长，构成分成定价的下限依据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590288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5262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内容生产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76856" y="4526280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单品类知识库属于一次性投入，可在商家之间复用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13232" y="5038344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9743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地推与部署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76856" y="4974336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本阶段的主要人力投入，同时是部署人时曲线的验证对象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13232" y="5486400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42239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主要风险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76856" y="5422392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上游模型覆盖功能、内容可信度、小程序上线资质，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处置见第 07、10 页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36992" y="197510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3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融资需求 · 资金用途</a:t>
            </a:r>
            <a:endParaRPr lang="zh-CN" sz="163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资金用途扇区｜市场与获客 40%"/>
          <p:cNvSpPr/>
          <p:nvPr/>
        </p:nvSpPr>
        <p:spPr>
          <a:xfrm>
            <a:off x="9715820" y="2513500"/>
            <a:ext cx="1709180" cy="3092062"/>
          </a:xfrm>
          <a:custGeom>
            <a:avLst/>
            <a:gdLst/>
            <a:ahLst/>
            <a:cxnLst/>
            <a:rect l="l" t="t" r="r" b="b"/>
            <a:pathLst>
              <a:path w="1870" h="3383">
                <a:moveTo>
                  <a:pt x="0" y="0"/>
                </a:moveTo>
                <a:lnTo>
                  <a:pt x="65" y="1"/>
                </a:lnTo>
                <a:lnTo>
                  <a:pt x="130" y="5"/>
                </a:lnTo>
                <a:lnTo>
                  <a:pt x="195" y="10"/>
                </a:lnTo>
                <a:lnTo>
                  <a:pt x="260" y="18"/>
                </a:lnTo>
                <a:lnTo>
                  <a:pt x="325" y="28"/>
                </a:lnTo>
                <a:lnTo>
                  <a:pt x="389" y="41"/>
                </a:lnTo>
                <a:lnTo>
                  <a:pt x="452" y="56"/>
                </a:lnTo>
                <a:lnTo>
                  <a:pt x="515" y="72"/>
                </a:lnTo>
                <a:lnTo>
                  <a:pt x="578" y="92"/>
                </a:lnTo>
                <a:lnTo>
                  <a:pt x="640" y="113"/>
                </a:lnTo>
                <a:lnTo>
                  <a:pt x="701" y="136"/>
                </a:lnTo>
                <a:lnTo>
                  <a:pt x="761" y="162"/>
                </a:lnTo>
                <a:lnTo>
                  <a:pt x="820" y="189"/>
                </a:lnTo>
                <a:lnTo>
                  <a:pt x="878" y="219"/>
                </a:lnTo>
                <a:lnTo>
                  <a:pt x="935" y="251"/>
                </a:lnTo>
                <a:lnTo>
                  <a:pt x="991" y="284"/>
                </a:lnTo>
                <a:lnTo>
                  <a:pt x="1046" y="320"/>
                </a:lnTo>
                <a:lnTo>
                  <a:pt x="1099" y="357"/>
                </a:lnTo>
                <a:lnTo>
                  <a:pt x="1151" y="396"/>
                </a:lnTo>
                <a:lnTo>
                  <a:pt x="1202" y="437"/>
                </a:lnTo>
                <a:lnTo>
                  <a:pt x="1251" y="480"/>
                </a:lnTo>
                <a:lnTo>
                  <a:pt x="1299" y="525"/>
                </a:lnTo>
                <a:lnTo>
                  <a:pt x="1345" y="571"/>
                </a:lnTo>
                <a:lnTo>
                  <a:pt x="1390" y="619"/>
                </a:lnTo>
                <a:lnTo>
                  <a:pt x="1433" y="668"/>
                </a:lnTo>
                <a:lnTo>
                  <a:pt x="1474" y="719"/>
                </a:lnTo>
                <a:lnTo>
                  <a:pt x="1513" y="771"/>
                </a:lnTo>
                <a:lnTo>
                  <a:pt x="1550" y="824"/>
                </a:lnTo>
                <a:lnTo>
                  <a:pt x="1586" y="879"/>
                </a:lnTo>
                <a:lnTo>
                  <a:pt x="1619" y="935"/>
                </a:lnTo>
                <a:lnTo>
                  <a:pt x="1651" y="992"/>
                </a:lnTo>
                <a:lnTo>
                  <a:pt x="1681" y="1050"/>
                </a:lnTo>
                <a:lnTo>
                  <a:pt x="1708" y="1109"/>
                </a:lnTo>
                <a:lnTo>
                  <a:pt x="1734" y="1169"/>
                </a:lnTo>
                <a:lnTo>
                  <a:pt x="1757" y="1230"/>
                </a:lnTo>
                <a:lnTo>
                  <a:pt x="1778" y="1292"/>
                </a:lnTo>
                <a:lnTo>
                  <a:pt x="1798" y="1355"/>
                </a:lnTo>
                <a:lnTo>
                  <a:pt x="1814" y="1418"/>
                </a:lnTo>
                <a:lnTo>
                  <a:pt x="1829" y="1481"/>
                </a:lnTo>
                <a:lnTo>
                  <a:pt x="1842" y="1545"/>
                </a:lnTo>
                <a:lnTo>
                  <a:pt x="1852" y="1610"/>
                </a:lnTo>
                <a:lnTo>
                  <a:pt x="1860" y="1675"/>
                </a:lnTo>
                <a:lnTo>
                  <a:pt x="1865" y="1740"/>
                </a:lnTo>
                <a:lnTo>
                  <a:pt x="1869" y="1805"/>
                </a:lnTo>
                <a:lnTo>
                  <a:pt x="1870" y="1870"/>
                </a:lnTo>
                <a:lnTo>
                  <a:pt x="1869" y="1935"/>
                </a:lnTo>
                <a:lnTo>
                  <a:pt x="1865" y="2000"/>
                </a:lnTo>
                <a:lnTo>
                  <a:pt x="1860" y="2065"/>
                </a:lnTo>
                <a:lnTo>
                  <a:pt x="1852" y="2130"/>
                </a:lnTo>
                <a:lnTo>
                  <a:pt x="1842" y="2195"/>
                </a:lnTo>
                <a:lnTo>
                  <a:pt x="1829" y="2259"/>
                </a:lnTo>
                <a:lnTo>
                  <a:pt x="1814" y="2322"/>
                </a:lnTo>
                <a:lnTo>
                  <a:pt x="1798" y="2385"/>
                </a:lnTo>
                <a:lnTo>
                  <a:pt x="1778" y="2448"/>
                </a:lnTo>
                <a:lnTo>
                  <a:pt x="1757" y="2510"/>
                </a:lnTo>
                <a:lnTo>
                  <a:pt x="1734" y="2571"/>
                </a:lnTo>
                <a:lnTo>
                  <a:pt x="1708" y="2631"/>
                </a:lnTo>
                <a:lnTo>
                  <a:pt x="1681" y="2690"/>
                </a:lnTo>
                <a:lnTo>
                  <a:pt x="1651" y="2748"/>
                </a:lnTo>
                <a:lnTo>
                  <a:pt x="1619" y="2805"/>
                </a:lnTo>
                <a:lnTo>
                  <a:pt x="1586" y="2861"/>
                </a:lnTo>
                <a:lnTo>
                  <a:pt x="1550" y="2916"/>
                </a:lnTo>
                <a:lnTo>
                  <a:pt x="1513" y="2969"/>
                </a:lnTo>
                <a:lnTo>
                  <a:pt x="1474" y="3021"/>
                </a:lnTo>
                <a:lnTo>
                  <a:pt x="1433" y="3072"/>
                </a:lnTo>
                <a:lnTo>
                  <a:pt x="1390" y="3121"/>
                </a:lnTo>
                <a:lnTo>
                  <a:pt x="1345" y="3169"/>
                </a:lnTo>
                <a:lnTo>
                  <a:pt x="1299" y="3215"/>
                </a:lnTo>
                <a:lnTo>
                  <a:pt x="1251" y="3260"/>
                </a:lnTo>
                <a:lnTo>
                  <a:pt x="1202" y="3303"/>
                </a:lnTo>
                <a:lnTo>
                  <a:pt x="1151" y="3344"/>
                </a:lnTo>
                <a:lnTo>
                  <a:pt x="1099" y="3383"/>
                </a:lnTo>
                <a:lnTo>
                  <a:pt x="470" y="2517"/>
                </a:lnTo>
                <a:lnTo>
                  <a:pt x="493" y="2500"/>
                </a:lnTo>
                <a:lnTo>
                  <a:pt x="514" y="2483"/>
                </a:lnTo>
                <a:lnTo>
                  <a:pt x="535" y="2465"/>
                </a:lnTo>
                <a:lnTo>
                  <a:pt x="556" y="2445"/>
                </a:lnTo>
                <a:lnTo>
                  <a:pt x="575" y="2426"/>
                </a:lnTo>
                <a:lnTo>
                  <a:pt x="595" y="2405"/>
                </a:lnTo>
                <a:lnTo>
                  <a:pt x="613" y="2384"/>
                </a:lnTo>
                <a:lnTo>
                  <a:pt x="630" y="2363"/>
                </a:lnTo>
                <a:lnTo>
                  <a:pt x="647" y="2340"/>
                </a:lnTo>
                <a:lnTo>
                  <a:pt x="663" y="2317"/>
                </a:lnTo>
                <a:lnTo>
                  <a:pt x="678" y="2294"/>
                </a:lnTo>
                <a:lnTo>
                  <a:pt x="693" y="2270"/>
                </a:lnTo>
                <a:lnTo>
                  <a:pt x="706" y="2246"/>
                </a:lnTo>
                <a:lnTo>
                  <a:pt x="719" y="2221"/>
                </a:lnTo>
                <a:lnTo>
                  <a:pt x="731" y="2195"/>
                </a:lnTo>
                <a:lnTo>
                  <a:pt x="742" y="2170"/>
                </a:lnTo>
                <a:lnTo>
                  <a:pt x="752" y="2144"/>
                </a:lnTo>
                <a:lnTo>
                  <a:pt x="761" y="2117"/>
                </a:lnTo>
                <a:lnTo>
                  <a:pt x="769" y="2091"/>
                </a:lnTo>
                <a:lnTo>
                  <a:pt x="776" y="2064"/>
                </a:lnTo>
                <a:lnTo>
                  <a:pt x="783" y="2036"/>
                </a:lnTo>
                <a:lnTo>
                  <a:pt x="788" y="2009"/>
                </a:lnTo>
                <a:lnTo>
                  <a:pt x="792" y="1981"/>
                </a:lnTo>
                <a:lnTo>
                  <a:pt x="796" y="1954"/>
                </a:lnTo>
                <a:lnTo>
                  <a:pt x="798" y="1926"/>
                </a:lnTo>
                <a:lnTo>
                  <a:pt x="800" y="1898"/>
                </a:lnTo>
                <a:lnTo>
                  <a:pt x="800" y="1870"/>
                </a:lnTo>
                <a:lnTo>
                  <a:pt x="800" y="1842"/>
                </a:lnTo>
                <a:lnTo>
                  <a:pt x="798" y="1814"/>
                </a:lnTo>
                <a:lnTo>
                  <a:pt x="796" y="1786"/>
                </a:lnTo>
                <a:lnTo>
                  <a:pt x="792" y="1759"/>
                </a:lnTo>
                <a:lnTo>
                  <a:pt x="788" y="1731"/>
                </a:lnTo>
                <a:lnTo>
                  <a:pt x="783" y="1704"/>
                </a:lnTo>
                <a:lnTo>
                  <a:pt x="776" y="1676"/>
                </a:lnTo>
                <a:lnTo>
                  <a:pt x="769" y="1649"/>
                </a:lnTo>
                <a:lnTo>
                  <a:pt x="761" y="1623"/>
                </a:lnTo>
                <a:lnTo>
                  <a:pt x="752" y="1596"/>
                </a:lnTo>
                <a:lnTo>
                  <a:pt x="742" y="1570"/>
                </a:lnTo>
                <a:lnTo>
                  <a:pt x="731" y="1545"/>
                </a:lnTo>
                <a:lnTo>
                  <a:pt x="719" y="1519"/>
                </a:lnTo>
                <a:lnTo>
                  <a:pt x="706" y="1494"/>
                </a:lnTo>
                <a:lnTo>
                  <a:pt x="693" y="1470"/>
                </a:lnTo>
                <a:lnTo>
                  <a:pt x="678" y="1446"/>
                </a:lnTo>
                <a:lnTo>
                  <a:pt x="663" y="1423"/>
                </a:lnTo>
                <a:lnTo>
                  <a:pt x="647" y="1400"/>
                </a:lnTo>
                <a:lnTo>
                  <a:pt x="630" y="1377"/>
                </a:lnTo>
                <a:lnTo>
                  <a:pt x="613" y="1356"/>
                </a:lnTo>
                <a:lnTo>
                  <a:pt x="595" y="1335"/>
                </a:lnTo>
                <a:lnTo>
                  <a:pt x="575" y="1314"/>
                </a:lnTo>
                <a:lnTo>
                  <a:pt x="556" y="1295"/>
                </a:lnTo>
                <a:lnTo>
                  <a:pt x="535" y="1275"/>
                </a:lnTo>
                <a:lnTo>
                  <a:pt x="514" y="1257"/>
                </a:lnTo>
                <a:lnTo>
                  <a:pt x="493" y="1240"/>
                </a:lnTo>
                <a:lnTo>
                  <a:pt x="470" y="1223"/>
                </a:lnTo>
                <a:lnTo>
                  <a:pt x="447" y="1207"/>
                </a:lnTo>
                <a:lnTo>
                  <a:pt x="424" y="1192"/>
                </a:lnTo>
                <a:lnTo>
                  <a:pt x="400" y="1177"/>
                </a:lnTo>
                <a:lnTo>
                  <a:pt x="376" y="1164"/>
                </a:lnTo>
                <a:lnTo>
                  <a:pt x="351" y="1151"/>
                </a:lnTo>
                <a:lnTo>
                  <a:pt x="325" y="1139"/>
                </a:lnTo>
                <a:lnTo>
                  <a:pt x="300" y="1128"/>
                </a:lnTo>
                <a:lnTo>
                  <a:pt x="274" y="1118"/>
                </a:lnTo>
                <a:lnTo>
                  <a:pt x="247" y="1109"/>
                </a:lnTo>
                <a:lnTo>
                  <a:pt x="221" y="1101"/>
                </a:lnTo>
                <a:lnTo>
                  <a:pt x="194" y="1094"/>
                </a:lnTo>
                <a:lnTo>
                  <a:pt x="166" y="1087"/>
                </a:lnTo>
                <a:lnTo>
                  <a:pt x="139" y="1082"/>
                </a:lnTo>
                <a:lnTo>
                  <a:pt x="111" y="1078"/>
                </a:lnTo>
                <a:lnTo>
                  <a:pt x="84" y="1074"/>
                </a:lnTo>
                <a:lnTo>
                  <a:pt x="56" y="1072"/>
                </a:lnTo>
                <a:lnTo>
                  <a:pt x="28" y="1070"/>
                </a:lnTo>
                <a:lnTo>
                  <a:pt x="0" y="1070"/>
                </a:lnTo>
                <a:close/>
              </a:path>
            </a:pathLst>
          </a:custGeom>
          <a:solidFill>
            <a:srgbClr val="EBB675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6086" y="3613052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市场与获客</a:t>
            </a:r>
            <a:endParaRPr lang="zh-CN" sz="10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336086" y="3905660"/>
            <a:ext cx="1124712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40%</a:t>
            </a:r>
            <a:endParaRPr lang="zh-CN" sz="150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资金用途扇区｜产品研发 30%"/>
          <p:cNvSpPr/>
          <p:nvPr/>
        </p:nvSpPr>
        <p:spPr>
          <a:xfrm>
            <a:off x="8090728" y="4448438"/>
            <a:ext cx="2629578" cy="1483422"/>
          </a:xfrm>
          <a:custGeom>
            <a:avLst/>
            <a:gdLst/>
            <a:ahLst/>
            <a:cxnLst/>
            <a:rect l="l" t="t" r="r" b="b"/>
            <a:pathLst>
              <a:path w="2877" h="1623">
                <a:moveTo>
                  <a:pt x="2877" y="1266"/>
                </a:moveTo>
                <a:lnTo>
                  <a:pt x="2824" y="1303"/>
                </a:lnTo>
                <a:lnTo>
                  <a:pt x="2769" y="1339"/>
                </a:lnTo>
                <a:lnTo>
                  <a:pt x="2713" y="1372"/>
                </a:lnTo>
                <a:lnTo>
                  <a:pt x="2656" y="1404"/>
                </a:lnTo>
                <a:lnTo>
                  <a:pt x="2598" y="1434"/>
                </a:lnTo>
                <a:lnTo>
                  <a:pt x="2539" y="1461"/>
                </a:lnTo>
                <a:lnTo>
                  <a:pt x="2479" y="1487"/>
                </a:lnTo>
                <a:lnTo>
                  <a:pt x="2418" y="1510"/>
                </a:lnTo>
                <a:lnTo>
                  <a:pt x="2356" y="1531"/>
                </a:lnTo>
                <a:lnTo>
                  <a:pt x="2293" y="1551"/>
                </a:lnTo>
                <a:lnTo>
                  <a:pt x="2230" y="1567"/>
                </a:lnTo>
                <a:lnTo>
                  <a:pt x="2167" y="1582"/>
                </a:lnTo>
                <a:lnTo>
                  <a:pt x="2103" y="1595"/>
                </a:lnTo>
                <a:lnTo>
                  <a:pt x="2038" y="1605"/>
                </a:lnTo>
                <a:lnTo>
                  <a:pt x="1973" y="1613"/>
                </a:lnTo>
                <a:lnTo>
                  <a:pt x="1908" y="1618"/>
                </a:lnTo>
                <a:lnTo>
                  <a:pt x="1843" y="1622"/>
                </a:lnTo>
                <a:lnTo>
                  <a:pt x="1778" y="1623"/>
                </a:lnTo>
                <a:lnTo>
                  <a:pt x="1713" y="1622"/>
                </a:lnTo>
                <a:lnTo>
                  <a:pt x="1648" y="1618"/>
                </a:lnTo>
                <a:lnTo>
                  <a:pt x="1583" y="1613"/>
                </a:lnTo>
                <a:lnTo>
                  <a:pt x="1518" y="1605"/>
                </a:lnTo>
                <a:lnTo>
                  <a:pt x="1453" y="1595"/>
                </a:lnTo>
                <a:lnTo>
                  <a:pt x="1389" y="1582"/>
                </a:lnTo>
                <a:lnTo>
                  <a:pt x="1326" y="1567"/>
                </a:lnTo>
                <a:lnTo>
                  <a:pt x="1263" y="1551"/>
                </a:lnTo>
                <a:lnTo>
                  <a:pt x="1200" y="1531"/>
                </a:lnTo>
                <a:lnTo>
                  <a:pt x="1138" y="1510"/>
                </a:lnTo>
                <a:lnTo>
                  <a:pt x="1077" y="1487"/>
                </a:lnTo>
                <a:lnTo>
                  <a:pt x="1017" y="1461"/>
                </a:lnTo>
                <a:lnTo>
                  <a:pt x="958" y="1434"/>
                </a:lnTo>
                <a:lnTo>
                  <a:pt x="900" y="1404"/>
                </a:lnTo>
                <a:lnTo>
                  <a:pt x="843" y="1372"/>
                </a:lnTo>
                <a:lnTo>
                  <a:pt x="787" y="1339"/>
                </a:lnTo>
                <a:lnTo>
                  <a:pt x="732" y="1303"/>
                </a:lnTo>
                <a:lnTo>
                  <a:pt x="679" y="1266"/>
                </a:lnTo>
                <a:lnTo>
                  <a:pt x="627" y="1227"/>
                </a:lnTo>
                <a:lnTo>
                  <a:pt x="576" y="1186"/>
                </a:lnTo>
                <a:lnTo>
                  <a:pt x="527" y="1143"/>
                </a:lnTo>
                <a:lnTo>
                  <a:pt x="479" y="1098"/>
                </a:lnTo>
                <a:lnTo>
                  <a:pt x="433" y="1052"/>
                </a:lnTo>
                <a:lnTo>
                  <a:pt x="388" y="1004"/>
                </a:lnTo>
                <a:lnTo>
                  <a:pt x="345" y="955"/>
                </a:lnTo>
                <a:lnTo>
                  <a:pt x="304" y="904"/>
                </a:lnTo>
                <a:lnTo>
                  <a:pt x="265" y="852"/>
                </a:lnTo>
                <a:lnTo>
                  <a:pt x="228" y="799"/>
                </a:lnTo>
                <a:lnTo>
                  <a:pt x="192" y="744"/>
                </a:lnTo>
                <a:lnTo>
                  <a:pt x="159" y="688"/>
                </a:lnTo>
                <a:lnTo>
                  <a:pt x="127" y="631"/>
                </a:lnTo>
                <a:lnTo>
                  <a:pt x="97" y="573"/>
                </a:lnTo>
                <a:lnTo>
                  <a:pt x="70" y="514"/>
                </a:lnTo>
                <a:lnTo>
                  <a:pt x="44" y="454"/>
                </a:lnTo>
                <a:lnTo>
                  <a:pt x="21" y="393"/>
                </a:lnTo>
                <a:lnTo>
                  <a:pt x="0" y="331"/>
                </a:lnTo>
                <a:lnTo>
                  <a:pt x="1017" y="0"/>
                </a:lnTo>
                <a:lnTo>
                  <a:pt x="1026" y="27"/>
                </a:lnTo>
                <a:lnTo>
                  <a:pt x="1036" y="53"/>
                </a:lnTo>
                <a:lnTo>
                  <a:pt x="1047" y="78"/>
                </a:lnTo>
                <a:lnTo>
                  <a:pt x="1059" y="104"/>
                </a:lnTo>
                <a:lnTo>
                  <a:pt x="1072" y="129"/>
                </a:lnTo>
                <a:lnTo>
                  <a:pt x="1085" y="153"/>
                </a:lnTo>
                <a:lnTo>
                  <a:pt x="1100" y="177"/>
                </a:lnTo>
                <a:lnTo>
                  <a:pt x="1115" y="200"/>
                </a:lnTo>
                <a:lnTo>
                  <a:pt x="1131" y="223"/>
                </a:lnTo>
                <a:lnTo>
                  <a:pt x="1148" y="246"/>
                </a:lnTo>
                <a:lnTo>
                  <a:pt x="1165" y="267"/>
                </a:lnTo>
                <a:lnTo>
                  <a:pt x="1183" y="288"/>
                </a:lnTo>
                <a:lnTo>
                  <a:pt x="1203" y="309"/>
                </a:lnTo>
                <a:lnTo>
                  <a:pt x="1222" y="328"/>
                </a:lnTo>
                <a:lnTo>
                  <a:pt x="1243" y="348"/>
                </a:lnTo>
                <a:lnTo>
                  <a:pt x="1264" y="366"/>
                </a:lnTo>
                <a:lnTo>
                  <a:pt x="1285" y="383"/>
                </a:lnTo>
                <a:lnTo>
                  <a:pt x="1308" y="400"/>
                </a:lnTo>
                <a:lnTo>
                  <a:pt x="1331" y="416"/>
                </a:lnTo>
                <a:lnTo>
                  <a:pt x="1354" y="431"/>
                </a:lnTo>
                <a:lnTo>
                  <a:pt x="1378" y="446"/>
                </a:lnTo>
                <a:lnTo>
                  <a:pt x="1402" y="459"/>
                </a:lnTo>
                <a:lnTo>
                  <a:pt x="1427" y="472"/>
                </a:lnTo>
                <a:lnTo>
                  <a:pt x="1453" y="484"/>
                </a:lnTo>
                <a:lnTo>
                  <a:pt x="1478" y="495"/>
                </a:lnTo>
                <a:lnTo>
                  <a:pt x="1504" y="505"/>
                </a:lnTo>
                <a:lnTo>
                  <a:pt x="1531" y="514"/>
                </a:lnTo>
                <a:lnTo>
                  <a:pt x="1557" y="522"/>
                </a:lnTo>
                <a:lnTo>
                  <a:pt x="1584" y="529"/>
                </a:lnTo>
                <a:lnTo>
                  <a:pt x="1612" y="536"/>
                </a:lnTo>
                <a:lnTo>
                  <a:pt x="1639" y="541"/>
                </a:lnTo>
                <a:lnTo>
                  <a:pt x="1667" y="545"/>
                </a:lnTo>
                <a:lnTo>
                  <a:pt x="1694" y="549"/>
                </a:lnTo>
                <a:lnTo>
                  <a:pt x="1722" y="551"/>
                </a:lnTo>
                <a:lnTo>
                  <a:pt x="1750" y="553"/>
                </a:lnTo>
                <a:lnTo>
                  <a:pt x="1778" y="553"/>
                </a:lnTo>
                <a:lnTo>
                  <a:pt x="1806" y="553"/>
                </a:lnTo>
                <a:lnTo>
                  <a:pt x="1834" y="551"/>
                </a:lnTo>
                <a:lnTo>
                  <a:pt x="1862" y="549"/>
                </a:lnTo>
                <a:lnTo>
                  <a:pt x="1889" y="545"/>
                </a:lnTo>
                <a:lnTo>
                  <a:pt x="1917" y="541"/>
                </a:lnTo>
                <a:lnTo>
                  <a:pt x="1944" y="536"/>
                </a:lnTo>
                <a:lnTo>
                  <a:pt x="1972" y="529"/>
                </a:lnTo>
                <a:lnTo>
                  <a:pt x="1999" y="522"/>
                </a:lnTo>
                <a:lnTo>
                  <a:pt x="2025" y="514"/>
                </a:lnTo>
                <a:lnTo>
                  <a:pt x="2052" y="505"/>
                </a:lnTo>
                <a:lnTo>
                  <a:pt x="2078" y="495"/>
                </a:lnTo>
                <a:lnTo>
                  <a:pt x="2103" y="484"/>
                </a:lnTo>
                <a:lnTo>
                  <a:pt x="2129" y="472"/>
                </a:lnTo>
                <a:lnTo>
                  <a:pt x="2154" y="459"/>
                </a:lnTo>
                <a:lnTo>
                  <a:pt x="2178" y="446"/>
                </a:lnTo>
                <a:lnTo>
                  <a:pt x="2202" y="431"/>
                </a:lnTo>
                <a:lnTo>
                  <a:pt x="2225" y="416"/>
                </a:lnTo>
                <a:lnTo>
                  <a:pt x="2248" y="400"/>
                </a:lnTo>
                <a:close/>
              </a:path>
            </a:pathLst>
          </a:custGeom>
          <a:solidFill>
            <a:srgbClr val="6D866F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1708" y="5174298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产品研发</a:t>
            </a:r>
            <a:endParaRPr lang="zh-CN" sz="106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61708" y="5466906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30%</a:t>
            </a:r>
            <a:endParaRPr lang="zh-CN"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资金用途扇区｜合规服务 10%"/>
          <p:cNvSpPr/>
          <p:nvPr/>
        </p:nvSpPr>
        <p:spPr>
          <a:xfrm>
            <a:off x="8006640" y="3694388"/>
            <a:ext cx="1013626" cy="1056584"/>
          </a:xfrm>
          <a:custGeom>
            <a:avLst/>
            <a:gdLst/>
            <a:ahLst/>
            <a:cxnLst/>
            <a:rect l="l" t="t" r="r" b="b"/>
            <a:pathLst>
              <a:path w="1109" h="1156">
                <a:moveTo>
                  <a:pt x="92" y="1156"/>
                </a:moveTo>
                <a:lnTo>
                  <a:pt x="72" y="1093"/>
                </a:lnTo>
                <a:lnTo>
                  <a:pt x="56" y="1030"/>
                </a:lnTo>
                <a:lnTo>
                  <a:pt x="41" y="967"/>
                </a:lnTo>
                <a:lnTo>
                  <a:pt x="28" y="903"/>
                </a:lnTo>
                <a:lnTo>
                  <a:pt x="18" y="838"/>
                </a:lnTo>
                <a:lnTo>
                  <a:pt x="10" y="773"/>
                </a:lnTo>
                <a:lnTo>
                  <a:pt x="5" y="708"/>
                </a:lnTo>
                <a:lnTo>
                  <a:pt x="1" y="643"/>
                </a:lnTo>
                <a:lnTo>
                  <a:pt x="0" y="578"/>
                </a:lnTo>
                <a:lnTo>
                  <a:pt x="1" y="513"/>
                </a:lnTo>
                <a:lnTo>
                  <a:pt x="5" y="448"/>
                </a:lnTo>
                <a:lnTo>
                  <a:pt x="10" y="383"/>
                </a:lnTo>
                <a:lnTo>
                  <a:pt x="18" y="318"/>
                </a:lnTo>
                <a:lnTo>
                  <a:pt x="28" y="253"/>
                </a:lnTo>
                <a:lnTo>
                  <a:pt x="41" y="189"/>
                </a:lnTo>
                <a:lnTo>
                  <a:pt x="56" y="126"/>
                </a:lnTo>
                <a:lnTo>
                  <a:pt x="72" y="63"/>
                </a:lnTo>
                <a:lnTo>
                  <a:pt x="92" y="0"/>
                </a:lnTo>
                <a:lnTo>
                  <a:pt x="1109" y="331"/>
                </a:lnTo>
                <a:lnTo>
                  <a:pt x="1101" y="357"/>
                </a:lnTo>
                <a:lnTo>
                  <a:pt x="1094" y="384"/>
                </a:lnTo>
                <a:lnTo>
                  <a:pt x="1087" y="412"/>
                </a:lnTo>
                <a:lnTo>
                  <a:pt x="1082" y="439"/>
                </a:lnTo>
                <a:lnTo>
                  <a:pt x="1078" y="467"/>
                </a:lnTo>
                <a:lnTo>
                  <a:pt x="1074" y="494"/>
                </a:lnTo>
                <a:lnTo>
                  <a:pt x="1072" y="522"/>
                </a:lnTo>
                <a:lnTo>
                  <a:pt x="1070" y="550"/>
                </a:lnTo>
                <a:lnTo>
                  <a:pt x="1070" y="578"/>
                </a:lnTo>
                <a:lnTo>
                  <a:pt x="1070" y="606"/>
                </a:lnTo>
                <a:lnTo>
                  <a:pt x="1072" y="634"/>
                </a:lnTo>
                <a:lnTo>
                  <a:pt x="1074" y="662"/>
                </a:lnTo>
                <a:lnTo>
                  <a:pt x="1078" y="689"/>
                </a:lnTo>
                <a:lnTo>
                  <a:pt x="1082" y="717"/>
                </a:lnTo>
                <a:lnTo>
                  <a:pt x="1087" y="744"/>
                </a:lnTo>
                <a:lnTo>
                  <a:pt x="1094" y="772"/>
                </a:lnTo>
                <a:lnTo>
                  <a:pt x="1101" y="799"/>
                </a:lnTo>
                <a:lnTo>
                  <a:pt x="1109" y="825"/>
                </a:lnTo>
                <a:close/>
              </a:path>
            </a:pathLst>
          </a:custGeom>
          <a:solidFill>
            <a:srgbClr val="C66B54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5572" y="3995928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合规服务</a:t>
            </a:r>
            <a:endParaRPr lang="zh-CN" sz="106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05572" y="4288536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10%</a:t>
            </a:r>
            <a:endParaRPr lang="zh-CN"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资金用途扇区｜云与AI 10%"/>
          <p:cNvSpPr/>
          <p:nvPr/>
        </p:nvSpPr>
        <p:spPr>
          <a:xfrm>
            <a:off x="8090728" y="2839798"/>
            <a:ext cx="1195512" cy="1157124"/>
          </a:xfrm>
          <a:custGeom>
            <a:avLst/>
            <a:gdLst/>
            <a:ahLst/>
            <a:cxnLst/>
            <a:rect l="l" t="t" r="r" b="b"/>
            <a:pathLst>
              <a:path w="1308" h="1266">
                <a:moveTo>
                  <a:pt x="0" y="935"/>
                </a:moveTo>
                <a:lnTo>
                  <a:pt x="21" y="873"/>
                </a:lnTo>
                <a:lnTo>
                  <a:pt x="44" y="812"/>
                </a:lnTo>
                <a:lnTo>
                  <a:pt x="70" y="752"/>
                </a:lnTo>
                <a:lnTo>
                  <a:pt x="97" y="693"/>
                </a:lnTo>
                <a:lnTo>
                  <a:pt x="127" y="635"/>
                </a:lnTo>
                <a:lnTo>
                  <a:pt x="159" y="578"/>
                </a:lnTo>
                <a:lnTo>
                  <a:pt x="192" y="522"/>
                </a:lnTo>
                <a:lnTo>
                  <a:pt x="228" y="467"/>
                </a:lnTo>
                <a:lnTo>
                  <a:pt x="265" y="414"/>
                </a:lnTo>
                <a:lnTo>
                  <a:pt x="304" y="362"/>
                </a:lnTo>
                <a:lnTo>
                  <a:pt x="345" y="311"/>
                </a:lnTo>
                <a:lnTo>
                  <a:pt x="388" y="262"/>
                </a:lnTo>
                <a:lnTo>
                  <a:pt x="433" y="214"/>
                </a:lnTo>
                <a:lnTo>
                  <a:pt x="479" y="168"/>
                </a:lnTo>
                <a:lnTo>
                  <a:pt x="527" y="123"/>
                </a:lnTo>
                <a:lnTo>
                  <a:pt x="576" y="80"/>
                </a:lnTo>
                <a:lnTo>
                  <a:pt x="627" y="39"/>
                </a:lnTo>
                <a:lnTo>
                  <a:pt x="679" y="0"/>
                </a:lnTo>
                <a:lnTo>
                  <a:pt x="1308" y="866"/>
                </a:lnTo>
                <a:lnTo>
                  <a:pt x="1285" y="883"/>
                </a:lnTo>
                <a:lnTo>
                  <a:pt x="1264" y="900"/>
                </a:lnTo>
                <a:lnTo>
                  <a:pt x="1243" y="918"/>
                </a:lnTo>
                <a:lnTo>
                  <a:pt x="1222" y="938"/>
                </a:lnTo>
                <a:lnTo>
                  <a:pt x="1203" y="957"/>
                </a:lnTo>
                <a:lnTo>
                  <a:pt x="1183" y="978"/>
                </a:lnTo>
                <a:lnTo>
                  <a:pt x="1165" y="999"/>
                </a:lnTo>
                <a:lnTo>
                  <a:pt x="1148" y="1020"/>
                </a:lnTo>
                <a:lnTo>
                  <a:pt x="1131" y="1043"/>
                </a:lnTo>
                <a:lnTo>
                  <a:pt x="1115" y="1066"/>
                </a:lnTo>
                <a:lnTo>
                  <a:pt x="1100" y="1089"/>
                </a:lnTo>
                <a:lnTo>
                  <a:pt x="1085" y="1113"/>
                </a:lnTo>
                <a:lnTo>
                  <a:pt x="1072" y="1137"/>
                </a:lnTo>
                <a:lnTo>
                  <a:pt x="1059" y="1162"/>
                </a:lnTo>
                <a:lnTo>
                  <a:pt x="1047" y="1188"/>
                </a:lnTo>
                <a:lnTo>
                  <a:pt x="1036" y="1213"/>
                </a:lnTo>
                <a:lnTo>
                  <a:pt x="1026" y="1239"/>
                </a:lnTo>
                <a:lnTo>
                  <a:pt x="1017" y="1266"/>
                </a:lnTo>
                <a:close/>
              </a:path>
            </a:pathLst>
          </a:custGeom>
          <a:solidFill>
            <a:srgbClr val="977963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2202" y="3267655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云与AI</a:t>
            </a:r>
            <a:endParaRPr lang="zh-CN" sz="106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42202" y="3560263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10%</a:t>
            </a:r>
            <a:endParaRPr lang="zh-CN"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资金用途扇区｜运营储备 10%"/>
          <p:cNvSpPr/>
          <p:nvPr/>
        </p:nvSpPr>
        <p:spPr>
          <a:xfrm>
            <a:off x="8711334" y="2513500"/>
            <a:ext cx="1004486" cy="1117822"/>
          </a:xfrm>
          <a:custGeom>
            <a:avLst/>
            <a:gdLst/>
            <a:ahLst/>
            <a:cxnLst/>
            <a:rect l="l" t="t" r="r" b="b"/>
            <a:pathLst>
              <a:path w="1099" h="1223">
                <a:moveTo>
                  <a:pt x="0" y="357"/>
                </a:moveTo>
                <a:lnTo>
                  <a:pt x="53" y="320"/>
                </a:lnTo>
                <a:lnTo>
                  <a:pt x="108" y="284"/>
                </a:lnTo>
                <a:lnTo>
                  <a:pt x="164" y="251"/>
                </a:lnTo>
                <a:lnTo>
                  <a:pt x="221" y="219"/>
                </a:lnTo>
                <a:lnTo>
                  <a:pt x="279" y="189"/>
                </a:lnTo>
                <a:lnTo>
                  <a:pt x="338" y="162"/>
                </a:lnTo>
                <a:lnTo>
                  <a:pt x="398" y="136"/>
                </a:lnTo>
                <a:lnTo>
                  <a:pt x="459" y="113"/>
                </a:lnTo>
                <a:lnTo>
                  <a:pt x="521" y="92"/>
                </a:lnTo>
                <a:lnTo>
                  <a:pt x="584" y="72"/>
                </a:lnTo>
                <a:lnTo>
                  <a:pt x="647" y="56"/>
                </a:lnTo>
                <a:lnTo>
                  <a:pt x="710" y="41"/>
                </a:lnTo>
                <a:lnTo>
                  <a:pt x="774" y="28"/>
                </a:lnTo>
                <a:lnTo>
                  <a:pt x="839" y="18"/>
                </a:lnTo>
                <a:lnTo>
                  <a:pt x="904" y="10"/>
                </a:lnTo>
                <a:lnTo>
                  <a:pt x="969" y="5"/>
                </a:lnTo>
                <a:lnTo>
                  <a:pt x="1034" y="1"/>
                </a:lnTo>
                <a:lnTo>
                  <a:pt x="1099" y="0"/>
                </a:lnTo>
                <a:lnTo>
                  <a:pt x="1099" y="1070"/>
                </a:lnTo>
                <a:lnTo>
                  <a:pt x="1071" y="1070"/>
                </a:lnTo>
                <a:lnTo>
                  <a:pt x="1043" y="1072"/>
                </a:lnTo>
                <a:lnTo>
                  <a:pt x="1015" y="1074"/>
                </a:lnTo>
                <a:lnTo>
                  <a:pt x="988" y="1078"/>
                </a:lnTo>
                <a:lnTo>
                  <a:pt x="960" y="1082"/>
                </a:lnTo>
                <a:lnTo>
                  <a:pt x="933" y="1087"/>
                </a:lnTo>
                <a:lnTo>
                  <a:pt x="905" y="1094"/>
                </a:lnTo>
                <a:lnTo>
                  <a:pt x="878" y="1101"/>
                </a:lnTo>
                <a:lnTo>
                  <a:pt x="852" y="1109"/>
                </a:lnTo>
                <a:lnTo>
                  <a:pt x="825" y="1118"/>
                </a:lnTo>
                <a:lnTo>
                  <a:pt x="799" y="1128"/>
                </a:lnTo>
                <a:lnTo>
                  <a:pt x="774" y="1139"/>
                </a:lnTo>
                <a:lnTo>
                  <a:pt x="748" y="1151"/>
                </a:lnTo>
                <a:lnTo>
                  <a:pt x="723" y="1164"/>
                </a:lnTo>
                <a:lnTo>
                  <a:pt x="699" y="1177"/>
                </a:lnTo>
                <a:lnTo>
                  <a:pt x="675" y="1192"/>
                </a:lnTo>
                <a:lnTo>
                  <a:pt x="652" y="1207"/>
                </a:lnTo>
                <a:lnTo>
                  <a:pt x="629" y="1223"/>
                </a:lnTo>
                <a:close/>
              </a:path>
            </a:pathLst>
          </a:custGeom>
          <a:solidFill>
            <a:srgbClr val="CBB29D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1708" y="2817557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运营储备</a:t>
            </a:r>
            <a:endParaRPr lang="zh-CN" sz="106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61708" y="3110165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10%</a:t>
            </a:r>
            <a:endParaRPr lang="zh-CN" sz="150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07424" y="4014215"/>
            <a:ext cx="1225296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100%</a:t>
            </a:r>
            <a:endParaRPr lang="zh-CN" sz="240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07424" y="4498848"/>
            <a:ext cx="122529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资金分配</a:t>
            </a:r>
            <a:endParaRPr lang="zh-CN" sz="115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5800" y="6071616"/>
            <a:ext cx="10817352" cy="292608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6135624"/>
            <a:ext cx="104698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3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项目为轻资产结构，服务器资源由合作教师提供，本阶段现金支出集中于内容生产与地推。</a:t>
            </a:r>
            <a:endParaRPr lang="zh-CN" sz="113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· 团队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团队构成与外部支持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14730" y="203835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3950" y="233172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林晨</a:t>
            </a:r>
            <a:endParaRPr lang="zh-CN" alt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23950" y="266001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总</a:t>
            </a:r>
            <a:r>
              <a:rPr lang="zh-CN" altLang="en-US" sz="1150" dirty="0"/>
              <a:t>产品负责人</a:t>
            </a:r>
            <a:endParaRPr lang="zh-CN" alt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23950" y="293433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同济大学工业工程与管理</a:t>
            </a:r>
            <a:r>
              <a:rPr lang="zh-CN" altLang="en-US" sz="1150" dirty="0"/>
              <a:t>硕士</a:t>
            </a:r>
            <a:endParaRPr lang="zh-CN" alt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695575" y="203835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04795" y="233172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金柳</a:t>
            </a:r>
            <a:r>
              <a:rPr lang="zh-CN" altLang="en-US" sz="1400" dirty="0"/>
              <a:t>杨</a:t>
            </a:r>
            <a:endParaRPr lang="zh-CN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804795" y="266001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后端</a:t>
            </a:r>
            <a:r>
              <a:rPr lang="zh-CN" altLang="en-US" sz="1150" dirty="0"/>
              <a:t>工程师</a:t>
            </a:r>
            <a:endParaRPr lang="zh-CN" alt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804795" y="293433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浙江工业大学</a:t>
            </a:r>
            <a:endParaRPr lang="zh-CN" altLang="en-US" sz="1150" dirty="0"/>
          </a:p>
          <a:p>
            <a:pPr marL="0" indent="0" algn="ctr">
              <a:buNone/>
            </a:pPr>
            <a:r>
              <a:rPr lang="zh-CN" altLang="en-US" sz="1150" dirty="0"/>
              <a:t>软件工程</a:t>
            </a:r>
            <a:r>
              <a:rPr lang="zh-CN" altLang="en-US" sz="1150" dirty="0"/>
              <a:t>学士</a:t>
            </a:r>
            <a:endParaRPr lang="zh-CN" alt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76420" y="203835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5640" y="233172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吕</a:t>
            </a:r>
            <a:r>
              <a:rPr lang="zh-CN" altLang="en-US" sz="1400" dirty="0"/>
              <a:t>晓慧</a:t>
            </a:r>
            <a:endParaRPr lang="zh-CN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485640" y="266001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150" dirty="0"/>
              <a:t>Agent</a:t>
            </a:r>
            <a:r>
              <a:rPr lang="zh-CN" altLang="en-US" sz="1150" dirty="0"/>
              <a:t>架构</a:t>
            </a:r>
            <a:r>
              <a:rPr lang="zh-CN" altLang="en-US" sz="1150" dirty="0"/>
              <a:t>工程师</a:t>
            </a:r>
            <a:endParaRPr lang="zh-CN" alt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485640" y="293433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同济大学工业工程与管理硕士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057265" y="2037715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66485" y="2331085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周杰亮</a:t>
            </a:r>
            <a:endParaRPr lang="zh-CN" alt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166485" y="2659380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产品设计师</a:t>
            </a:r>
            <a:r>
              <a:rPr lang="en-US" altLang="zh-CN" sz="1150" dirty="0"/>
              <a:t>（UX/</a:t>
            </a:r>
            <a:r>
              <a:rPr lang="en-US" altLang="zh-CN" sz="1150" dirty="0"/>
              <a:t>UI）</a:t>
            </a:r>
            <a:endParaRPr lang="en-US" altLang="zh-CN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166485" y="2933700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同济大学工业工程与管理硕士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85800" y="4261104"/>
            <a:ext cx="10817352" cy="1371600"/>
          </a:xfrm>
          <a:prstGeom prst="roundRect">
            <a:avLst>
              <a:gd name="adj" fmla="val 4000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4984" y="44622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外部顾问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014984" y="4773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王常锐</a:t>
            </a:r>
            <a:r>
              <a:rPr 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</a:t>
            </a:r>
            <a:r>
              <a:rPr 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Tarry Wang</a:t>
            </a:r>
            <a:r>
              <a:rPr 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1014984" y="51937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50" dirty="0"/>
              <a:t>同济大学校外导师</a:t>
            </a:r>
            <a:r>
              <a:rPr lang="en-US" altLang="zh-CN" sz="1150" dirty="0"/>
              <a:t>，</a:t>
            </a:r>
            <a:r>
              <a:rPr lang="zh-CN" altLang="en-US" sz="1150" dirty="0"/>
              <a:t>前微软渠道总监</a:t>
            </a:r>
            <a:r>
              <a:rPr lang="en-US" altLang="zh-CN" sz="1150" dirty="0"/>
              <a:t>，</a:t>
            </a:r>
            <a:r>
              <a:rPr lang="zh-CN" altLang="en-US" sz="1150" dirty="0"/>
              <a:t>塔锐信息创始人</a:t>
            </a:r>
            <a:endParaRPr lang="zh-CN" altLang="en-US" sz="1150" dirty="0"/>
          </a:p>
          <a:p>
            <a:pPr marL="0" indent="0">
              <a:buNone/>
            </a:pPr>
            <a:r>
              <a:rPr lang="zh-CN" altLang="en-US" sz="1150" dirty="0"/>
              <a:t>主营企业</a:t>
            </a:r>
            <a:r>
              <a:rPr lang="en-US" altLang="zh-CN" sz="1150" dirty="0"/>
              <a:t>AI</a:t>
            </a:r>
            <a:r>
              <a:rPr lang="zh-CN" altLang="en-US" sz="1150" dirty="0"/>
              <a:t>赋能</a:t>
            </a:r>
            <a:endParaRPr lang="zh-CN" alt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806440" y="4462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资源支持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5806440" y="477316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合作教师提供服务器资源</a:t>
            </a:r>
            <a:r>
              <a:rPr lang="zh-CN" alt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以及部分商业</a:t>
            </a:r>
            <a:r>
              <a:rPr lang="en-US" altLang="zh-CN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</a:t>
            </a:r>
            <a:r>
              <a:rPr 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，项目整体为轻资产结构</a:t>
            </a:r>
            <a:endParaRPr lang="en-US" sz="1300" dirty="0"/>
          </a:p>
        </p:txBody>
      </p:sp>
      <p:sp>
        <p:nvSpPr>
          <p:cNvPr id="35" name="Shape 20"/>
          <p:cNvSpPr/>
          <p:nvPr/>
        </p:nvSpPr>
        <p:spPr>
          <a:xfrm>
            <a:off x="7738110" y="203581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7847330" y="232918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钟晨</a:t>
            </a:r>
            <a:r>
              <a:rPr lang="zh-CN" altLang="en-US" sz="1400" dirty="0"/>
              <a:t>瑗</a:t>
            </a:r>
            <a:endParaRPr lang="zh-CN" altLang="en-US" sz="1400" dirty="0"/>
          </a:p>
        </p:txBody>
      </p:sp>
      <p:sp>
        <p:nvSpPr>
          <p:cNvPr id="37" name="Text 23"/>
          <p:cNvSpPr txBox="1"/>
          <p:nvPr/>
        </p:nvSpPr>
        <p:spPr>
          <a:xfrm>
            <a:off x="7847330" y="265747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市场运营</a:t>
            </a:r>
            <a:r>
              <a:rPr lang="en-US" altLang="zh-CN" sz="1150" dirty="0"/>
              <a:t>/</a:t>
            </a:r>
            <a:r>
              <a:rPr lang="zh-CN" altLang="en-US" sz="1150" dirty="0"/>
              <a:t>商务</a:t>
            </a:r>
            <a:endParaRPr lang="zh-CN" altLang="en-US" sz="1150" dirty="0"/>
          </a:p>
        </p:txBody>
      </p:sp>
      <p:sp>
        <p:nvSpPr>
          <p:cNvPr id="38" name="Text 24"/>
          <p:cNvSpPr txBox="1"/>
          <p:nvPr/>
        </p:nvSpPr>
        <p:spPr>
          <a:xfrm>
            <a:off x="7847330" y="293179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同济大学工业工程与管理硕士</a:t>
            </a:r>
            <a:endParaRPr lang="en-US" sz="1150" dirty="0"/>
          </a:p>
        </p:txBody>
      </p:sp>
      <p:sp>
        <p:nvSpPr>
          <p:cNvPr id="39" name="Shape 20"/>
          <p:cNvSpPr/>
          <p:nvPr/>
        </p:nvSpPr>
        <p:spPr>
          <a:xfrm>
            <a:off x="9418955" y="202819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0" name="Text 22"/>
          <p:cNvSpPr txBox="1"/>
          <p:nvPr/>
        </p:nvSpPr>
        <p:spPr>
          <a:xfrm>
            <a:off x="9528175" y="232156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李</a:t>
            </a:r>
            <a:r>
              <a:rPr lang="zh-CN" altLang="en-US" sz="1400" dirty="0"/>
              <a:t>栋</a:t>
            </a:r>
            <a:endParaRPr lang="zh-CN" altLang="en-US" sz="1400" dirty="0"/>
          </a:p>
        </p:txBody>
      </p:sp>
      <p:sp>
        <p:nvSpPr>
          <p:cNvPr id="41" name="Text 23"/>
          <p:cNvSpPr txBox="1"/>
          <p:nvPr/>
        </p:nvSpPr>
        <p:spPr>
          <a:xfrm>
            <a:off x="9528175" y="264985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后端</a:t>
            </a:r>
            <a:r>
              <a:rPr lang="zh-CN" altLang="en-US" sz="1150" dirty="0"/>
              <a:t>工程师</a:t>
            </a:r>
            <a:endParaRPr lang="zh-CN" altLang="en-US" sz="1150" dirty="0"/>
          </a:p>
        </p:txBody>
      </p:sp>
      <p:sp>
        <p:nvSpPr>
          <p:cNvPr id="42" name="Text 24"/>
          <p:cNvSpPr txBox="1"/>
          <p:nvPr/>
        </p:nvSpPr>
        <p:spPr>
          <a:xfrm>
            <a:off x="9528175" y="292417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复旦大学</a:t>
            </a:r>
            <a:r>
              <a:rPr lang="zh-CN" altLang="en-US" sz="1150" dirty="0">
                <a:sym typeface="+mn-ea"/>
              </a:rPr>
              <a:t>计算机硕士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· 项目总结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项目要点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66544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35608" y="206654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093976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对公众开放的养宠知识平台，同时向商家输出同一套 AI 养护能力。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999232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35608" y="299923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收入来源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3026664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商家按售出的宠物数量付费，20—30 元每激活用户，收入与商家销售规模同步增长。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93192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35608" y="393192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壁垒构成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3959352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入口、数据与关系随部署家数持续累积，独立于上游模型的版本更新。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864608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35608" y="4864608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验证节奏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703320" y="489204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第六周首家商家上线并收费，八周内完成付费意愿与部署效率的验证。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491472" y="2066544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08592" y="42428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www.aipawly.com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24" name="Text 21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仅提供养宠知识和选购参考，不替代兽医诊断。</a:t>
            </a:r>
            <a:endParaRPr lang="en-US" sz="1400" dirty="0"/>
          </a:p>
        </p:txBody>
      </p:sp>
      <p:pic>
        <p:nvPicPr>
          <p:cNvPr id="27" name="图片 26" descr="/Users/zjl/Downloads/ChatGPT Image 2026年9月8日 13_22_40.pngChatGPT Image 2026年9月8日 13_22_4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02775" y="2066290"/>
            <a:ext cx="2000250" cy="2000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4351</Words>
  <Application>WPS 文字</Application>
  <PresentationFormat>On-screen Show (16:9)</PresentationFormat>
  <Paragraphs>728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方正雅意黑 GB18030L2</vt:lpstr>
      <vt:lpstr>微软雅黑</vt:lpstr>
      <vt:lpstr>微软雅黑</vt:lpstr>
      <vt:lpstr>Wingdings</vt:lpstr>
      <vt:lpstr>微软雅黑</vt:lpstr>
      <vt:lpstr>Songti SC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PingFang SC</vt:lpstr>
      <vt:lpstr>Times New Roman</vt:lpstr>
      <vt:lpstr>Hiragino Sans GB W3</vt:lpstr>
      <vt:lpstr>HYJunHei 55J</vt:lpstr>
      <vt:lpstr>HYQiHeiKW 55S</vt:lpstr>
      <vt:lpstr>Heiti SC Light</vt:lpstr>
      <vt:lpstr>STHeiti Light</vt:lpstr>
      <vt:lpstr>SimSong</vt:lpstr>
      <vt:lpstr>华文宋体</vt:lpstr>
      <vt:lpstr>华文楷体</vt:lpstr>
      <vt:lpstr>Lantinghei TC Extralight</vt:lpstr>
      <vt:lpstr>Lantinghei SC Extralight</vt:lpstr>
      <vt:lpstr>黑体</vt:lpstr>
      <vt:lpstr>汉仪中黑KW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Pawly 路演 · 第二轮</dc:title>
  <dc:creator>Pawly</dc:creator>
  <dc:subject>PptxGenJS Presentation</dc:subject>
  <cp:lastModifiedBy>chen</cp:lastModifiedBy>
  <cp:revision>13</cp:revision>
  <dcterms:created xsi:type="dcterms:W3CDTF">2026-09-09T05:47:27Z</dcterms:created>
  <dcterms:modified xsi:type="dcterms:W3CDTF">2026-09-09T05:47:27Z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2052-12.1.28492.28492</vt:lpwstr>
  </property>
  <property fmtid="{D5CDD505-2E9C-101B-9397-08002B2CF9AE}" pid="3" name="ICV">
    <vt:lpwstr>1C262535915AF4C9D6CDA06A55E9F74A_43</vt:lpwstr>
  </property>
</Properties>
</file>