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2"/>
    <p:sldId id="264" r:id="rId11"/>
    <p:sldId id="265" r:id="rId13"/>
    <p:sldId id="266" r:id="rId14"/>
    <p:sldId id="267" r:id="rId15"/>
    <p:sldId id="271" r:id="rId16"/>
    <p:sldId id="269" r:id="rId17"/>
    <p:sldId id="270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9.xml"/><Relationship Id="rId12" Type="http://schemas.openxmlformats.org/officeDocument/2006/relationships/slide" Target="slides/slide8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单家部署人时</c:v>
                </c:pt>
              </c:strCache>
            </c:strRef>
          </c:tx>
          <c:spPr>
            <a:solidFill>
              <a:srgbClr val="C79255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100" b="0" i="0" u="none" strike="noStrike" kern="1200" baseline="0">
                    <a:solidFill>
                      <a:srgbClr val="4A3729"/>
                    </a:solidFill>
                    <a:latin typeface="微软雅黑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Sheet1!$A$2:$A$6</c:f>
              <c:strCache>
                <c:ptCount val="5"/>
                <c:pt idx="0">
                  <c:v>第 1 家</c:v>
                </c:pt>
                <c:pt idx="1">
                  <c:v>第 3 家</c:v>
                </c:pt>
                <c:pt idx="2">
                  <c:v>第 5 家</c:v>
                </c:pt>
                <c:pt idx="3">
                  <c:v>第 10 家</c:v>
                </c:pt>
                <c:pt idx="4">
                  <c:v>稳态目标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40</c:v>
                </c:pt>
                <c:pt idx="1">
                  <c:v>20</c:v>
                </c:pt>
                <c:pt idx="2">
                  <c:v>10</c:v>
                </c:pt>
                <c:pt idx="3">
                  <c:v>5</c:v>
                </c:pt>
                <c:pt idx="4">
                  <c:v>4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9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100" b="0" i="0" u="none" strike="noStrike" kern="1200" baseline="0">
                <a:solidFill>
                  <a:srgbClr val="7D746C"/>
                </a:solidFill>
                <a:latin typeface="微软雅黑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5"/>
          <c:min val="0"/>
        </c:scaling>
        <c:delete val="0"/>
        <c:axPos val="l"/>
        <c:majorGridlines>
          <c:spPr>
            <a:ln w="9525" cap="flat" cmpd="sng" algn="ctr">
              <a:solidFill>
                <a:srgbClr val="E8DFD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rgbClr val="B8AEA5"/>
                </a:solidFill>
                <a:latin typeface="微软雅黑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  <c:majorUnit val="15"/>
      </c:valAx>
      <c:spPr>
        <a:solidFill>
          <a:srgbClr val="FDFBF8"/>
        </a:solidFill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eaf82906-6aac-4784-9db3-9179d0287988}"/>
      </c:ext>
    </c:extLst>
  </c:chart>
  <c:spPr>
    <a:solidFill>
      <a:srgbClr val="FDFBF8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秒。开场一句：主平台对公众开放，同一套能力逐家部署给宠物商家。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50 秒。先指产业链，说明切入层级，再给规模。口径主动说明，不等追问。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 秒。矩阵快速带过，右侧三条依次讲。收在可复制这一句上，避免评委把异宠视为规模上限。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55 秒。核心页之一。三步讲完立刻补模式特征两条，把外包这个追问挡在前面。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70 秒，全场核心页。顺时针依次讲四个环节，重点停在回流一段。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50 秒。先带过交付动线，再对照两栏说明：C 端服务一项没有减少，商家版是同一套能力按品类收窄的结果。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60 秒，核心页。先讲付费动机，再报数字。主平台不参与交易这一条要说清楚，它是公信力的来源。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55 秒。这页回答规模化能力。先讲曲线，再讲三项下降来源，最后一句界定部署动作的性质。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 秒。这页回答技术可行性。评委若问微调，答：壁垒来自知识库而非模型权重，微调的投入不形成壁垒。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50 秒。先讲三级如何叠加，再讲回流的四类内容，第三类是重点：它让建议从文献说法变为在多个个体上验证过的结论。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50 秒。先说明上游模型的风险，再给三层。合规两行快速带过，但要说，评委会关心。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 秒。首笔收入的时点要说出口，这是对资金链问题的正面回应。待补：公司注册与部署的实际日期。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45 秒。待填项在路演前补齐。注意：创业计划书 7.3 的净利润约 100 万元需同步改为 75 万元。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25 秒。具名前务必取得本人同意。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20 秒。四项对应全场四段，讲完停住，把时间留给提问。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79255"/>
          </a:solidFill>
        </p:spPr>
      </p:sp>
      <p:sp>
        <p:nvSpPr>
          <p:cNvPr id="3" name="Text 1"/>
          <p:cNvSpPr txBox="1"/>
          <p:nvPr/>
        </p:nvSpPr>
        <p:spPr>
          <a:xfrm>
            <a:off x="685800" y="658368"/>
            <a:ext cx="36576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C7925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PAWLY · 宝狸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517650"/>
            <a:ext cx="5726430" cy="1554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4800"/>
              </a:lnSpc>
              <a:buNone/>
            </a:pPr>
            <a:r>
              <a:rPr lang="zh-CN" altLang="en-US" sz="3400" b="1" dirty="0">
                <a:solidFill>
                  <a:srgbClr val="2E28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面向宠主与宠物商家的</a:t>
            </a:r>
            <a:endParaRPr lang="zh-CN" altLang="en-US" sz="3400" b="1" dirty="0">
              <a:solidFill>
                <a:srgbClr val="2E2822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  <a:p>
            <a:pPr marL="0" indent="0">
              <a:lnSpc>
                <a:spcPts val="4800"/>
              </a:lnSpc>
              <a:buNone/>
            </a:pPr>
            <a:r>
              <a:rPr lang="en-US" altLang="zh-CN" sz="3400" b="1" dirty="0">
                <a:solidFill>
                  <a:srgbClr val="2E28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</a:t>
            </a:r>
            <a:r>
              <a:rPr lang="zh-CN" altLang="en-US" sz="3400" b="1" dirty="0">
                <a:solidFill>
                  <a:srgbClr val="2E28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养护服务平台</a:t>
            </a:r>
            <a:endParaRPr lang="zh-CN" altLang="en-US" sz="3400" b="1" dirty="0">
              <a:solidFill>
                <a:srgbClr val="2E2822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685800" y="3200400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E28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覆盖犬猫与</a:t>
            </a:r>
            <a:r>
              <a:rPr lang="zh-CN" altLang="en-US" sz="1800" dirty="0">
                <a:solidFill>
                  <a:srgbClr val="2E28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</a:t>
            </a:r>
            <a:r>
              <a:rPr lang="en-US" sz="1800" dirty="0">
                <a:solidFill>
                  <a:srgbClr val="2E28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类异宠，通用内核逐家部署至商家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931920"/>
            <a:ext cx="54864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2E28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汇报人：林晨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4352544"/>
            <a:ext cx="5486400" cy="10973"/>
          </a:xfrm>
          <a:prstGeom prst="rect">
            <a:avLst/>
          </a:prstGeom>
          <a:solidFill>
            <a:srgbClr val="E0B77F"/>
          </a:solidFill>
        </p:spPr>
      </p:sp>
      <p:sp>
        <p:nvSpPr>
          <p:cNvPr id="8" name="Text 6"/>
          <p:cNvSpPr txBox="1"/>
          <p:nvPr/>
        </p:nvSpPr>
        <p:spPr>
          <a:xfrm>
            <a:off x="685800" y="4535424"/>
            <a:ext cx="64008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7D74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公众平台  ×  通用内核  ×  前置部署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5870448"/>
            <a:ext cx="4572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8AEA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2026.09  ·  项目路演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086600" y="1097280"/>
            <a:ext cx="10973" cy="4114800"/>
          </a:xfrm>
          <a:prstGeom prst="rect">
            <a:avLst/>
          </a:prstGeom>
          <a:solidFill>
            <a:srgbClr val="E0B77F"/>
          </a:solidFill>
        </p:spPr>
      </p:sp>
      <p:pic>
        <p:nvPicPr>
          <p:cNvPr id="11" name="Image 0" descr="logo_mar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481328"/>
            <a:ext cx="2697480" cy="29260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7925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 · 市场机会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868680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28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终端商家的专业能力供给缺口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353312"/>
            <a:ext cx="804672" cy="32004"/>
          </a:xfrm>
          <a:prstGeom prst="rect">
            <a:avLst/>
          </a:prstGeom>
          <a:solidFill>
            <a:srgbClr val="C79255"/>
          </a:solidFill>
        </p:spPr>
      </p:sp>
      <p:pic>
        <p:nvPicPr>
          <p:cNvPr id="5" name="Image 0" descr="logo_ba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28632" y="310896"/>
            <a:ext cx="1874520" cy="74066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1517904"/>
            <a:ext cx="1081735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D74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城镇犬猫消费 3,126 亿元，来源为派读《2026 年中国宠物行业白皮书》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640080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AEA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PAWLY · 宝狸  |  项目路演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0771632" y="6400800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AEA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777240" y="2057400"/>
            <a:ext cx="1572768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E8DFD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905256" y="2286000"/>
            <a:ext cx="1316736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A37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品牌与供应商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2651760"/>
            <a:ext cx="138988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7D74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预算集中，存在内容需求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2432304" y="2523744"/>
            <a:ext cx="310896" cy="237744"/>
          </a:xfrm>
          <a:prstGeom prst="rightArrow">
            <a:avLst/>
          </a:prstGeom>
          <a:solidFill>
            <a:srgbClr val="E0B77F"/>
          </a:solidFill>
        </p:spPr>
      </p:sp>
      <p:sp>
        <p:nvSpPr>
          <p:cNvPr id="13" name="Shape 10"/>
          <p:cNvSpPr/>
          <p:nvPr/>
        </p:nvSpPr>
        <p:spPr>
          <a:xfrm>
            <a:off x="2670048" y="2057400"/>
            <a:ext cx="1572768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E8DFD3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798064" y="2286000"/>
            <a:ext cx="1316736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A37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经销与批发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2761488" y="2651760"/>
            <a:ext cx="138988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7D74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承担流通职能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325112" y="2523744"/>
            <a:ext cx="310896" cy="237744"/>
          </a:xfrm>
          <a:prstGeom prst="rightArrow">
            <a:avLst/>
          </a:prstGeom>
          <a:solidFill>
            <a:srgbClr val="E0B77F"/>
          </a:solidFill>
        </p:spPr>
      </p:sp>
      <p:sp>
        <p:nvSpPr>
          <p:cNvPr id="17" name="Shape 14"/>
          <p:cNvSpPr/>
          <p:nvPr/>
        </p:nvSpPr>
        <p:spPr>
          <a:xfrm>
            <a:off x="4562856" y="2057400"/>
            <a:ext cx="1572768" cy="1170432"/>
          </a:xfrm>
          <a:prstGeom prst="roundRect">
            <a:avLst>
              <a:gd name="adj" fmla="val 4688"/>
            </a:avLst>
          </a:prstGeom>
          <a:solidFill>
            <a:srgbClr val="F5EEE5"/>
          </a:solidFill>
          <a:ln w="12700">
            <a:solidFill>
              <a:srgbClr val="C79255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690872" y="2286000"/>
            <a:ext cx="1316736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925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终端商家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4654296" y="2651760"/>
            <a:ext cx="138988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7D74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宠物店 · 卖家 · 医院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6217920" y="2523744"/>
            <a:ext cx="310896" cy="237744"/>
          </a:xfrm>
          <a:prstGeom prst="rightArrow">
            <a:avLst/>
          </a:prstGeom>
          <a:solidFill>
            <a:srgbClr val="E0B77F"/>
          </a:solidFill>
        </p:spPr>
      </p:sp>
      <p:sp>
        <p:nvSpPr>
          <p:cNvPr id="21" name="Shape 18"/>
          <p:cNvSpPr/>
          <p:nvPr/>
        </p:nvSpPr>
        <p:spPr>
          <a:xfrm>
            <a:off x="6455664" y="2057400"/>
            <a:ext cx="1572768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E8DFD3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0" y="2286000"/>
            <a:ext cx="1316736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A37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宠主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6547104" y="2651760"/>
            <a:ext cx="1389888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7D74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购买决策依赖商家建议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5230368" y="3310128"/>
            <a:ext cx="237744" cy="365760"/>
          </a:xfrm>
          <a:prstGeom prst="upArrow">
            <a:avLst/>
          </a:prstGeom>
          <a:solidFill>
            <a:srgbClr val="C79255"/>
          </a:solidFill>
        </p:spPr>
      </p:sp>
      <p:sp>
        <p:nvSpPr>
          <p:cNvPr id="25" name="Shape 22"/>
          <p:cNvSpPr/>
          <p:nvPr/>
        </p:nvSpPr>
        <p:spPr>
          <a:xfrm>
            <a:off x="2797683" y="3712083"/>
            <a:ext cx="4206240" cy="786384"/>
          </a:xfrm>
          <a:prstGeom prst="roundRect">
            <a:avLst>
              <a:gd name="adj" fmla="val 6977"/>
            </a:avLst>
          </a:prstGeom>
          <a:solidFill>
            <a:srgbClr val="4A3729"/>
          </a:solidFill>
          <a:ln w="12700">
            <a:solidFill>
              <a:srgbClr val="4A3729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2889123" y="3931539"/>
            <a:ext cx="402336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黑体" charset="0"/>
                <a:ea typeface="黑体" charset="0"/>
                <a:cs typeface="黑体" charset="0"/>
              </a:rPr>
              <a:t>Pawly 从终端商家这一层切入</a:t>
            </a:r>
            <a:endParaRPr lang="en-US" sz="1450" dirty="0">
              <a:latin typeface="黑体" charset="0"/>
              <a:ea typeface="黑体" charset="0"/>
              <a:cs typeface="黑体" charset="0"/>
            </a:endParaRPr>
          </a:p>
        </p:txBody>
      </p:sp>
      <p:sp>
        <p:nvSpPr>
          <p:cNvPr id="27" name="Text 24"/>
          <p:cNvSpPr txBox="1"/>
          <p:nvPr/>
        </p:nvSpPr>
        <p:spPr>
          <a:xfrm>
            <a:off x="2521585" y="4736465"/>
            <a:ext cx="580898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285750" indent="-285750">
              <a:lnSpc>
                <a:spcPts val="2100"/>
              </a:lnSpc>
              <a:buClr>
                <a:srgbClr val="000000"/>
              </a:buClr>
              <a:buFont typeface="Wingdings" panose="05000000000000000000" charset="0"/>
              <a:buChar char=""/>
            </a:pPr>
            <a:r>
              <a:rPr lang="en-US" sz="1250" dirty="0">
                <a:solidFill>
                  <a:srgbClr val="7D74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终端商家数量众多、单体规模小、数字化程度低，缺少可复用的专业内容与问答能力。</a:t>
            </a:r>
            <a:endParaRPr lang="en-US" sz="1250" dirty="0">
              <a:solidFill>
                <a:srgbClr val="7D746C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  <a:p>
            <a:pPr marL="285750" indent="-285750">
              <a:lnSpc>
                <a:spcPts val="2100"/>
              </a:lnSpc>
              <a:buFont typeface="Wingdings" panose="05000000000000000000" charset="0"/>
              <a:buChar char=""/>
            </a:pPr>
            <a:r>
              <a:rPr lang="en-US" sz="1250" dirty="0">
                <a:solidFill>
                  <a:srgbClr val="7D74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品牌方预算主要投向渠道与营销，终端服务能力的投入占比较低。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8366760" y="2057400"/>
            <a:ext cx="3136392" cy="3291840"/>
          </a:xfrm>
          <a:prstGeom prst="roundRect">
            <a:avLst>
              <a:gd name="adj" fmla="val 1749"/>
            </a:avLst>
          </a:prstGeom>
          <a:solidFill>
            <a:srgbClr val="F5EEE5"/>
          </a:solidFill>
          <a:ln w="12700">
            <a:solidFill>
              <a:srgbClr val="E0B77F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8659368" y="2286000"/>
            <a:ext cx="2551176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A37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这一层能力的 B 端可支出</a:t>
            </a:r>
            <a:endParaRPr lang="en-US" sz="1250" dirty="0"/>
          </a:p>
        </p:txBody>
      </p:sp>
      <p:sp>
        <p:nvSpPr>
          <p:cNvPr id="30" name="Text 27"/>
          <p:cNvSpPr txBox="1"/>
          <p:nvPr/>
        </p:nvSpPr>
        <p:spPr>
          <a:xfrm>
            <a:off x="8659368" y="276148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7D74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TAM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8659368" y="3017520"/>
            <a:ext cx="2551176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C7925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22 亿元 / 年</a:t>
            </a:r>
            <a:endParaRPr lang="en-US" sz="1900" dirty="0"/>
          </a:p>
        </p:txBody>
      </p:sp>
      <p:sp>
        <p:nvSpPr>
          <p:cNvPr id="32" name="Text 29"/>
          <p:cNvSpPr txBox="1"/>
          <p:nvPr/>
        </p:nvSpPr>
        <p:spPr>
          <a:xfrm>
            <a:off x="8659368" y="3364992"/>
            <a:ext cx="2551176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D74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可服务总市场</a:t>
            </a:r>
            <a:endParaRPr lang="en-US" sz="1000" dirty="0"/>
          </a:p>
        </p:txBody>
      </p:sp>
      <p:sp>
        <p:nvSpPr>
          <p:cNvPr id="33" name="Text 30"/>
          <p:cNvSpPr txBox="1"/>
          <p:nvPr/>
        </p:nvSpPr>
        <p:spPr>
          <a:xfrm>
            <a:off x="8659368" y="3602736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7D74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SAM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8659368" y="3858768"/>
            <a:ext cx="2551176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C7925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6.0 亿元 / 年</a:t>
            </a:r>
            <a:endParaRPr lang="en-US" sz="1900" dirty="0"/>
          </a:p>
        </p:txBody>
      </p:sp>
      <p:sp>
        <p:nvSpPr>
          <p:cNvPr id="35" name="Text 32"/>
          <p:cNvSpPr txBox="1"/>
          <p:nvPr/>
        </p:nvSpPr>
        <p:spPr>
          <a:xfrm>
            <a:off x="8659368" y="4206240"/>
            <a:ext cx="2551176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D74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三年内可达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8659368" y="4443984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7D74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SOM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8659368" y="4700016"/>
            <a:ext cx="2551176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C7925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500—1,000 万元</a:t>
            </a:r>
            <a:endParaRPr lang="en-US" sz="1900" dirty="0"/>
          </a:p>
        </p:txBody>
      </p:sp>
      <p:sp>
        <p:nvSpPr>
          <p:cNvPr id="38" name="Text 35"/>
          <p:cNvSpPr txBox="1"/>
          <p:nvPr/>
        </p:nvSpPr>
        <p:spPr>
          <a:xfrm>
            <a:off x="8659368" y="5047488"/>
            <a:ext cx="2551176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D74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第三年营收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685800" y="5705856"/>
            <a:ext cx="10817352" cy="640080"/>
          </a:xfrm>
          <a:prstGeom prst="roundRect">
            <a:avLst>
              <a:gd name="adj" fmla="val 7143"/>
            </a:avLst>
          </a:prstGeom>
          <a:solidFill>
            <a:srgbClr val="F5EEE5"/>
          </a:solidFill>
        </p:spPr>
      </p:sp>
      <p:sp>
        <p:nvSpPr>
          <p:cNvPr id="40" name="Text 37"/>
          <p:cNvSpPr txBox="1"/>
          <p:nvPr/>
        </p:nvSpPr>
        <p:spPr>
          <a:xfrm>
            <a:off x="960120" y="5870448"/>
            <a:ext cx="1026871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A37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测算范围限定为 AI 养护知识与导购能力层的 B 端年度可支出。</a:t>
            </a:r>
            <a:endParaRPr lang="en-US" sz="1400" dirty="0"/>
          </a:p>
        </p:txBody>
      </p:sp>
      <p:pic>
        <p:nvPicPr>
          <p:cNvPr id="41" name="图片 4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298190"/>
            <a:ext cx="1744345" cy="23698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7925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· 切入品类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868680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28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异宠品类的切入依据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353312"/>
            <a:ext cx="804672" cy="32004"/>
          </a:xfrm>
          <a:prstGeom prst="rect">
            <a:avLst/>
          </a:prstGeom>
          <a:solidFill>
            <a:srgbClr val="C79255"/>
          </a:solidFill>
        </p:spPr>
      </p:sp>
      <p:pic>
        <p:nvPicPr>
          <p:cNvPr id="5" name="Image 0" descr="logo_ba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28632" y="310896"/>
            <a:ext cx="1874520" cy="74066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1517904"/>
            <a:ext cx="1081735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D74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现有 AI 产品集中于犬猫的医疗诊断方向，日常养护与异宠品类供给不足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640080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AEA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PAWLY · 宝狸  |  项目路演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0771632" y="6400800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AEA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421765" y="1851660"/>
            <a:ext cx="2731135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7D74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诊断与医疗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4585335" y="1851660"/>
            <a:ext cx="2731135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7D74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日常养护与消费决策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960120" y="2788920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D74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犬猫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960120" y="4581144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7D74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异宠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1421765" y="2171700"/>
            <a:ext cx="2731135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8DFD3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677670" y="2427605"/>
            <a:ext cx="226758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A37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宠智灵 · 灵兽</a:t>
            </a:r>
            <a:endParaRPr lang="en-US" sz="1600" b="1" dirty="0">
              <a:solidFill>
                <a:srgbClr val="4A3729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15" name="Text 12"/>
          <p:cNvSpPr txBox="1"/>
          <p:nvPr/>
        </p:nvSpPr>
        <p:spPr>
          <a:xfrm>
            <a:off x="1677670" y="2940050"/>
            <a:ext cx="2423795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7D74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临床病例、影像与自研硬件构成壁垒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4585335" y="2171700"/>
            <a:ext cx="2731135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8DFD3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841875" y="2427605"/>
            <a:ext cx="226758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A37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通用大模型 · 内容代运营</a:t>
            </a:r>
            <a:endParaRPr lang="en-US" sz="1600" b="1" dirty="0">
              <a:solidFill>
                <a:srgbClr val="4A3729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18" name="Text 15"/>
          <p:cNvSpPr txBox="1"/>
          <p:nvPr/>
        </p:nvSpPr>
        <p:spPr>
          <a:xfrm>
            <a:off x="4841875" y="2940050"/>
            <a:ext cx="2474595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7D74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答案缺少依据来源，代运营成本较高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1421765" y="3963670"/>
            <a:ext cx="2731135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8DFD3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677670" y="4220210"/>
            <a:ext cx="226758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A37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尚无成规模的参与者</a:t>
            </a:r>
            <a:endParaRPr lang="en-US" sz="1600" b="1" dirty="0">
              <a:solidFill>
                <a:srgbClr val="4A3729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21" name="Text 18"/>
          <p:cNvSpPr txBox="1"/>
          <p:nvPr/>
        </p:nvSpPr>
        <p:spPr>
          <a:xfrm>
            <a:off x="1677670" y="4732020"/>
            <a:ext cx="2267585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7D74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需求规模有限，专业门槛较高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4585335" y="3963670"/>
            <a:ext cx="2731135" cy="1645920"/>
          </a:xfrm>
          <a:prstGeom prst="roundRect">
            <a:avLst>
              <a:gd name="adj" fmla="val 3333"/>
            </a:avLst>
          </a:prstGeom>
          <a:solidFill>
            <a:srgbClr val="F5EEE5"/>
          </a:solidFill>
          <a:ln w="12700">
            <a:solidFill>
              <a:srgbClr val="C79255"/>
            </a:solidFill>
            <a:prstDash val="solid"/>
          </a:ln>
        </p:spPr>
        <p:txBody>
          <a:bodyPr/>
          <a:p>
            <a:endParaRPr lang="zh-CN" altLang="en-US"/>
          </a:p>
        </p:txBody>
      </p:sp>
      <p:sp>
        <p:nvSpPr>
          <p:cNvPr id="23" name="Text 20"/>
          <p:cNvSpPr txBox="1"/>
          <p:nvPr/>
        </p:nvSpPr>
        <p:spPr>
          <a:xfrm>
            <a:off x="4841875" y="4220210"/>
            <a:ext cx="226758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7925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Pawly</a:t>
            </a:r>
            <a:endParaRPr lang="en-US" sz="2400" b="1" dirty="0">
              <a:solidFill>
                <a:srgbClr val="C79255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24" name="Text 21"/>
          <p:cNvSpPr txBox="1"/>
          <p:nvPr/>
        </p:nvSpPr>
        <p:spPr>
          <a:xfrm>
            <a:off x="4841875" y="4732020"/>
            <a:ext cx="2267585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7D74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竞争产品在这一区域普遍缺席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685800" y="5705856"/>
            <a:ext cx="10817352" cy="640080"/>
          </a:xfrm>
          <a:prstGeom prst="roundRect">
            <a:avLst>
              <a:gd name="adj" fmla="val 7143"/>
            </a:avLst>
          </a:prstGeom>
          <a:solidFill>
            <a:srgbClr val="F5EEE5"/>
          </a:solidFill>
        </p:spPr>
      </p:sp>
      <p:sp>
        <p:nvSpPr>
          <p:cNvPr id="35" name="Text 32"/>
          <p:cNvSpPr txBox="1"/>
          <p:nvPr/>
        </p:nvSpPr>
        <p:spPr>
          <a:xfrm>
            <a:off x="960120" y="5870448"/>
            <a:ext cx="1026871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A37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首轮在异宠完成模式验证，内核与配置层可直接复制到犬猫。</a:t>
            </a:r>
            <a:endParaRPr lang="en-US" sz="1400" dirty="0"/>
          </a:p>
        </p:txBody>
      </p:sp>
      <p:sp>
        <p:nvSpPr>
          <p:cNvPr id="41" name="Oval 29"/>
          <p:cNvSpPr/>
          <p:nvPr/>
        </p:nvSpPr>
        <p:spPr>
          <a:xfrm>
            <a:off x="7767192" y="3449828"/>
            <a:ext cx="82296" cy="82296"/>
          </a:xfrm>
          <a:prstGeom prst="ellipse">
            <a:avLst/>
          </a:prstGeom>
          <a:solidFill>
            <a:srgbClr val="C79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30"/>
          <p:cNvSpPr txBox="1"/>
          <p:nvPr/>
        </p:nvSpPr>
        <p:spPr>
          <a:xfrm>
            <a:off x="7968361" y="3390392"/>
            <a:ext cx="384048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10" b="1">
                <a:solidFill>
                  <a:srgbClr val="513F30"/>
                </a:solidFill>
                <a:latin typeface="微软雅黑"/>
                <a:ea typeface="微软雅黑"/>
                <a:cs typeface="微软雅黑"/>
              </a:rPr>
              <a:t>新手期问题密集</a:t>
            </a:r>
            <a:endParaRPr lang="zh-CN" sz="1410" b="1">
              <a:solidFill>
                <a:srgbClr val="513F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3" name="TextBox 31"/>
          <p:cNvSpPr txBox="1"/>
          <p:nvPr/>
        </p:nvSpPr>
        <p:spPr>
          <a:xfrm>
            <a:off x="7968361" y="3682999"/>
            <a:ext cx="3840480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46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0">
                <a:solidFill>
                  <a:srgbClr val="7D746C"/>
                </a:solidFill>
                <a:latin typeface="微软雅黑"/>
                <a:ea typeface="微软雅黑"/>
                <a:cs typeface="微软雅黑"/>
              </a:rPr>
              <a:t>温湿度、垫材、饲料与发育判断集中在购入后的前三十天</a:t>
            </a:r>
            <a:endParaRPr lang="zh-CN" sz="1200" b="0">
              <a:solidFill>
                <a:srgbClr val="7D746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4" name="Oval 32"/>
          <p:cNvSpPr/>
          <p:nvPr/>
        </p:nvSpPr>
        <p:spPr>
          <a:xfrm>
            <a:off x="7767192" y="4190492"/>
            <a:ext cx="82296" cy="82296"/>
          </a:xfrm>
          <a:prstGeom prst="ellipse">
            <a:avLst/>
          </a:prstGeom>
          <a:solidFill>
            <a:srgbClr val="C79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33"/>
          <p:cNvSpPr txBox="1"/>
          <p:nvPr/>
        </p:nvSpPr>
        <p:spPr>
          <a:xfrm>
            <a:off x="7968361" y="4131056"/>
            <a:ext cx="384048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10" b="1">
                <a:solidFill>
                  <a:srgbClr val="513F30"/>
                </a:solidFill>
                <a:latin typeface="微软雅黑"/>
                <a:ea typeface="微软雅黑"/>
                <a:cs typeface="微软雅黑"/>
              </a:rPr>
              <a:t>商家承担售后压力</a:t>
            </a:r>
            <a:endParaRPr lang="zh-CN" sz="1410" b="1">
              <a:solidFill>
                <a:srgbClr val="513F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6" name="TextBox 34"/>
          <p:cNvSpPr txBox="1"/>
          <p:nvPr/>
        </p:nvSpPr>
        <p:spPr>
          <a:xfrm>
            <a:off x="7968361" y="4423664"/>
            <a:ext cx="3840480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46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0">
                <a:solidFill>
                  <a:srgbClr val="7D746C"/>
                </a:solidFill>
                <a:latin typeface="微软雅黑"/>
                <a:ea typeface="微软雅黑"/>
                <a:cs typeface="微软雅黑"/>
              </a:rPr>
              <a:t>饲养失败易转化为退换与差评，商家缺少应对手段</a:t>
            </a:r>
            <a:endParaRPr lang="zh-CN" sz="1200" b="0">
              <a:solidFill>
                <a:srgbClr val="7D746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7" name="Oval 35"/>
          <p:cNvSpPr/>
          <p:nvPr/>
        </p:nvSpPr>
        <p:spPr>
          <a:xfrm>
            <a:off x="7767192" y="4931156"/>
            <a:ext cx="82296" cy="82296"/>
          </a:xfrm>
          <a:prstGeom prst="ellipse">
            <a:avLst/>
          </a:prstGeom>
          <a:solidFill>
            <a:srgbClr val="C79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36"/>
          <p:cNvSpPr txBox="1"/>
          <p:nvPr/>
        </p:nvSpPr>
        <p:spPr>
          <a:xfrm>
            <a:off x="7968361" y="4871720"/>
            <a:ext cx="3840480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9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410" b="1">
                <a:solidFill>
                  <a:srgbClr val="513F30"/>
                </a:solidFill>
                <a:latin typeface="微软雅黑"/>
                <a:ea typeface="微软雅黑"/>
                <a:cs typeface="微软雅黑"/>
              </a:rPr>
              <a:t>用户价值密度较高</a:t>
            </a:r>
            <a:endParaRPr lang="zh-CN" sz="1410" b="1">
              <a:solidFill>
                <a:srgbClr val="513F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9" name="TextBox 37"/>
          <p:cNvSpPr txBox="1"/>
          <p:nvPr/>
        </p:nvSpPr>
        <p:spPr>
          <a:xfrm>
            <a:off x="7968361" y="5164328"/>
            <a:ext cx="3840480" cy="4023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46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00" b="0">
                <a:solidFill>
                  <a:srgbClr val="7D746C"/>
                </a:solidFill>
                <a:latin typeface="微软雅黑"/>
                <a:ea typeface="微软雅黑"/>
                <a:cs typeface="微软雅黑"/>
              </a:rPr>
              <a:t>忠实用户的单体价值高于泛用户，细分品类具备做深空间</a:t>
            </a:r>
            <a:endParaRPr lang="zh-CN" sz="1200" b="0">
              <a:solidFill>
                <a:srgbClr val="7D746C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50" name="图片 4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6350" y="1847215"/>
            <a:ext cx="4298315" cy="8915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7925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· 项目定位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868680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28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前置部署式的能力供应模式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353312"/>
            <a:ext cx="804672" cy="32004"/>
          </a:xfrm>
          <a:prstGeom prst="rect">
            <a:avLst/>
          </a:prstGeom>
          <a:solidFill>
            <a:srgbClr val="C79255"/>
          </a:solidFill>
        </p:spPr>
      </p:sp>
      <p:pic>
        <p:nvPicPr>
          <p:cNvPr id="5" name="Image 0" descr="logo_ba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28632" y="310896"/>
            <a:ext cx="1874520" cy="74066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1517904"/>
            <a:ext cx="1081735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D74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结构对应 Palantir 的 Forward Deployed Engineer 模式：通用内核对外，逐一部署至客户现场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640080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AEA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PAWLY · 宝狸  |  项目路演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0771632" y="6400800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AEA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005840" y="2103120"/>
            <a:ext cx="320040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E8DFD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295144" y="2359152"/>
            <a:ext cx="621792" cy="621792"/>
          </a:xfrm>
          <a:prstGeom prst="ellipse">
            <a:avLst/>
          </a:prstGeom>
          <a:solidFill>
            <a:srgbClr val="4A3729"/>
          </a:solidFill>
        </p:spPr>
      </p:sp>
      <p:sp>
        <p:nvSpPr>
          <p:cNvPr id="11" name="Text 8"/>
          <p:cNvSpPr txBox="1"/>
          <p:nvPr/>
        </p:nvSpPr>
        <p:spPr>
          <a:xfrm>
            <a:off x="2295144" y="2503678"/>
            <a:ext cx="62179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1234440" y="3145536"/>
            <a:ext cx="27432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A37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通用内核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1234440" y="3602736"/>
            <a:ext cx="27432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200" dirty="0">
                <a:solidFill>
                  <a:srgbClr val="7D74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知识库、检索生成与个体档案模块，所有商家共用一套代码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334256" y="3127248"/>
            <a:ext cx="329184" cy="256032"/>
          </a:xfrm>
          <a:prstGeom prst="rightArrow">
            <a:avLst/>
          </a:prstGeom>
          <a:solidFill>
            <a:srgbClr val="E0B77F"/>
          </a:solidFill>
        </p:spPr>
      </p:sp>
      <p:sp>
        <p:nvSpPr>
          <p:cNvPr id="15" name="Shape 12"/>
          <p:cNvSpPr/>
          <p:nvPr/>
        </p:nvSpPr>
        <p:spPr>
          <a:xfrm>
            <a:off x="4791456" y="2103120"/>
            <a:ext cx="320040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E8DFD3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080760" y="2359152"/>
            <a:ext cx="621792" cy="621792"/>
          </a:xfrm>
          <a:prstGeom prst="ellipse">
            <a:avLst/>
          </a:prstGeom>
          <a:solidFill>
            <a:srgbClr val="C79255"/>
          </a:solidFill>
        </p:spPr>
      </p:sp>
      <p:sp>
        <p:nvSpPr>
          <p:cNvPr id="17" name="Text 14"/>
          <p:cNvSpPr txBox="1"/>
          <p:nvPr/>
        </p:nvSpPr>
        <p:spPr>
          <a:xfrm>
            <a:off x="6080760" y="2503678"/>
            <a:ext cx="62179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5020056" y="3145536"/>
            <a:ext cx="27432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A37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前置部署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5020056" y="3602736"/>
            <a:ext cx="27432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200" dirty="0">
                <a:solidFill>
                  <a:srgbClr val="7D74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逐家配置标识、品类范围与商品库，半天完成上线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8119872" y="3127248"/>
            <a:ext cx="329184" cy="256032"/>
          </a:xfrm>
          <a:prstGeom prst="rightArrow">
            <a:avLst/>
          </a:prstGeom>
          <a:solidFill>
            <a:srgbClr val="E0B77F"/>
          </a:solidFill>
        </p:spPr>
      </p:sp>
      <p:sp>
        <p:nvSpPr>
          <p:cNvPr id="21" name="Shape 18"/>
          <p:cNvSpPr/>
          <p:nvPr/>
        </p:nvSpPr>
        <p:spPr>
          <a:xfrm>
            <a:off x="8577072" y="2103120"/>
            <a:ext cx="320040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E8DFD3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9866376" y="2359152"/>
            <a:ext cx="621792" cy="621792"/>
          </a:xfrm>
          <a:prstGeom prst="ellipse">
            <a:avLst/>
          </a:prstGeom>
          <a:solidFill>
            <a:srgbClr val="72866F"/>
          </a:solidFill>
        </p:spPr>
      </p:sp>
      <p:sp>
        <p:nvSpPr>
          <p:cNvPr id="23" name="Text 20"/>
          <p:cNvSpPr txBox="1"/>
          <p:nvPr/>
        </p:nvSpPr>
        <p:spPr>
          <a:xfrm>
            <a:off x="9866376" y="2503678"/>
            <a:ext cx="621792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8805672" y="3145536"/>
            <a:ext cx="27432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A37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经验回流</a:t>
            </a:r>
            <a:endParaRPr lang="en-US" sz="1800" dirty="0"/>
          </a:p>
        </p:txBody>
      </p:sp>
      <p:sp>
        <p:nvSpPr>
          <p:cNvPr id="25" name="Text 22"/>
          <p:cNvSpPr txBox="1"/>
          <p:nvPr/>
        </p:nvSpPr>
        <p:spPr>
          <a:xfrm>
            <a:off x="8805672" y="3602736"/>
            <a:ext cx="2743200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000"/>
              </a:lnSpc>
              <a:buNone/>
            </a:pPr>
            <a:r>
              <a:rPr lang="en-US" sz="1200" dirty="0">
                <a:solidFill>
                  <a:srgbClr val="7D74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部署与使用中产生的语料、商品结构与档案回到内核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685800" y="4681728"/>
            <a:ext cx="457200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37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模式特征</a:t>
            </a:r>
            <a:endParaRPr lang="en-US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685800" y="5084064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28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 部署动作限于配置项填写</a:t>
            </a:r>
            <a:endParaRPr lang="en-US" sz="1400" b="1" dirty="0">
              <a:solidFill>
                <a:srgbClr val="2E2822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28" name="Text 25"/>
          <p:cNvSpPr txBox="1"/>
          <p:nvPr/>
        </p:nvSpPr>
        <p:spPr>
          <a:xfrm>
            <a:off x="685800" y="5376672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D74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 所有商家运行同一份代码的不同配置态</a:t>
            </a:r>
            <a:endParaRPr lang="en-US" sz="1150" dirty="0"/>
          </a:p>
        </p:txBody>
      </p:sp>
      <p:sp>
        <p:nvSpPr>
          <p:cNvPr id="29" name="Text 26"/>
          <p:cNvSpPr txBox="1"/>
          <p:nvPr/>
        </p:nvSpPr>
        <p:spPr>
          <a:xfrm>
            <a:off x="6263640" y="5084064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28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·  交付内容随家数增加而标准化</a:t>
            </a:r>
            <a:endParaRPr lang="en-US" sz="1400" b="1" dirty="0">
              <a:solidFill>
                <a:srgbClr val="2E2822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  <p:sp>
        <p:nvSpPr>
          <p:cNvPr id="30" name="Text 27"/>
          <p:cNvSpPr txBox="1"/>
          <p:nvPr/>
        </p:nvSpPr>
        <p:spPr>
          <a:xfrm>
            <a:off x="6263640" y="5376672"/>
            <a:ext cx="5303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D74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  首家部署形成的模板适用于后续商家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685800" y="5888736"/>
            <a:ext cx="10817352" cy="566928"/>
          </a:xfrm>
          <a:prstGeom prst="roundRect">
            <a:avLst>
              <a:gd name="adj" fmla="val 8065"/>
            </a:avLst>
          </a:prstGeom>
          <a:solidFill>
            <a:srgbClr val="F5EEE5"/>
          </a:solidFill>
        </p:spPr>
      </p:sp>
      <p:sp>
        <p:nvSpPr>
          <p:cNvPr id="32" name="Text 29"/>
          <p:cNvSpPr txBox="1"/>
          <p:nvPr/>
        </p:nvSpPr>
        <p:spPr>
          <a:xfrm>
            <a:off x="960120" y="6016752"/>
            <a:ext cx="1026871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A37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内核可复用，部署可复制，经验可累积。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7925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 · 运营模式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868680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28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内核 · 部署 · 回流 的运营闭环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353312"/>
            <a:ext cx="804672" cy="32004"/>
          </a:xfrm>
          <a:prstGeom prst="rect">
            <a:avLst/>
          </a:prstGeom>
          <a:solidFill>
            <a:srgbClr val="C79255"/>
          </a:solidFill>
        </p:spPr>
      </p:sp>
      <p:pic>
        <p:nvPicPr>
          <p:cNvPr id="5" name="Image 0" descr="logo_ba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28632" y="310896"/>
            <a:ext cx="1874520" cy="74066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640080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AEA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PAWLY · 宝狸  |  项目路演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0771632" y="6400800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AEA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685800" y="5797296"/>
            <a:ext cx="10817352" cy="640080"/>
          </a:xfrm>
          <a:prstGeom prst="roundRect">
            <a:avLst>
              <a:gd name="adj" fmla="val 7143"/>
            </a:avLst>
          </a:prstGeom>
          <a:solidFill>
            <a:srgbClr val="F5EEE5"/>
          </a:solidFill>
        </p:spPr>
      </p:sp>
      <p:sp>
        <p:nvSpPr>
          <p:cNvPr id="30" name="Text 27"/>
          <p:cNvSpPr txBox="1"/>
          <p:nvPr/>
        </p:nvSpPr>
        <p:spPr>
          <a:xfrm>
            <a:off x="960120" y="5961888"/>
            <a:ext cx="1026871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A37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面向公众的主平台持续开放，为内核提供内容来源，并为商家版提供公信力支撑。</a:t>
            </a:r>
            <a:endParaRPr lang="en-US" sz="1400" dirty="0"/>
          </a:p>
        </p:txBody>
      </p:sp>
      <p:sp>
        <p:nvSpPr>
          <p:cNvPr id="31" name="Rounded Rectangle 7"/>
          <p:cNvSpPr/>
          <p:nvPr/>
        </p:nvSpPr>
        <p:spPr>
          <a:xfrm>
            <a:off x="685800" y="1920240"/>
            <a:ext cx="4800600" cy="15727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8890">
            <a:solidFill>
              <a:srgbClr val="E8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8"/>
          <p:cNvSpPr/>
          <p:nvPr/>
        </p:nvSpPr>
        <p:spPr>
          <a:xfrm>
            <a:off x="685800" y="1920240"/>
            <a:ext cx="32004" cy="1572768"/>
          </a:xfrm>
          <a:prstGeom prst="rect">
            <a:avLst/>
          </a:prstGeom>
          <a:solidFill>
            <a:srgbClr val="C79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9"/>
          <p:cNvSpPr txBox="1"/>
          <p:nvPr/>
        </p:nvSpPr>
        <p:spPr>
          <a:xfrm>
            <a:off x="877824" y="2075688"/>
            <a:ext cx="347472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9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60" b="1">
                <a:solidFill>
                  <a:srgbClr val="C79255"/>
                </a:solidFill>
                <a:latin typeface="微软雅黑"/>
                <a:ea typeface="微软雅黑"/>
                <a:cs typeface="微软雅黑"/>
              </a:rPr>
              <a:t>01</a:t>
            </a:r>
            <a:endParaRPr lang="zh-CN" sz="1160" b="1">
              <a:solidFill>
                <a:srgbClr val="C792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4" name="TextBox 10"/>
          <p:cNvSpPr txBox="1"/>
          <p:nvPr/>
        </p:nvSpPr>
        <p:spPr>
          <a:xfrm>
            <a:off x="1298448" y="2029968"/>
            <a:ext cx="3950208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22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50" b="1">
                <a:solidFill>
                  <a:srgbClr val="513F30"/>
                </a:solidFill>
                <a:latin typeface="微软雅黑"/>
                <a:ea typeface="微软雅黑"/>
                <a:cs typeface="微软雅黑"/>
              </a:rPr>
              <a:t>核心平台</a:t>
            </a:r>
            <a:endParaRPr lang="zh-CN" sz="1850" b="1">
              <a:solidFill>
                <a:srgbClr val="513F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TextBox 16"/>
          <p:cNvSpPr txBox="1"/>
          <p:nvPr/>
        </p:nvSpPr>
        <p:spPr>
          <a:xfrm>
            <a:off x="3282696" y="2505456"/>
            <a:ext cx="2011680" cy="8138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3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20" b="0">
                <a:solidFill>
                  <a:srgbClr val="7D746C"/>
                </a:solidFill>
                <a:latin typeface="微软雅黑"/>
                <a:ea typeface="微软雅黑"/>
                <a:cs typeface="微软雅黑"/>
              </a:rPr>
              <a:t>品类知识库 · 检索生成</a:t>
            </a:r>
            <a:endParaRPr lang="zh-CN" sz="1220" b="0">
              <a:solidFill>
                <a:srgbClr val="7D746C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ts val="163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20" b="0">
                <a:solidFill>
                  <a:srgbClr val="7D746C"/>
                </a:solidFill>
                <a:latin typeface="微软雅黑"/>
                <a:ea typeface="微软雅黑"/>
                <a:cs typeface="微软雅黑"/>
              </a:rPr>
              <a:t>个体档案模块 · 配置层</a:t>
            </a:r>
            <a:endParaRPr lang="zh-CN" sz="1220" b="0">
              <a:solidFill>
                <a:srgbClr val="7D746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1" name="Rounded Rectangle 17"/>
          <p:cNvSpPr/>
          <p:nvPr/>
        </p:nvSpPr>
        <p:spPr>
          <a:xfrm>
            <a:off x="6702552" y="1920240"/>
            <a:ext cx="4800600" cy="15727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8890">
            <a:solidFill>
              <a:srgbClr val="E8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18"/>
          <p:cNvSpPr/>
          <p:nvPr/>
        </p:nvSpPr>
        <p:spPr>
          <a:xfrm>
            <a:off x="6702552" y="1920240"/>
            <a:ext cx="32004" cy="1572768"/>
          </a:xfrm>
          <a:prstGeom prst="rect">
            <a:avLst/>
          </a:prstGeom>
          <a:solidFill>
            <a:srgbClr val="C79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19"/>
          <p:cNvSpPr txBox="1"/>
          <p:nvPr/>
        </p:nvSpPr>
        <p:spPr>
          <a:xfrm>
            <a:off x="6894576" y="2075688"/>
            <a:ext cx="347472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9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60" b="1">
                <a:solidFill>
                  <a:srgbClr val="C79255"/>
                </a:solidFill>
                <a:latin typeface="微软雅黑"/>
                <a:ea typeface="微软雅黑"/>
                <a:cs typeface="微软雅黑"/>
              </a:rPr>
              <a:t>02</a:t>
            </a:r>
            <a:endParaRPr lang="zh-CN" sz="1160" b="1">
              <a:solidFill>
                <a:srgbClr val="C792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4" name="TextBox 20"/>
          <p:cNvSpPr txBox="1"/>
          <p:nvPr/>
        </p:nvSpPr>
        <p:spPr>
          <a:xfrm>
            <a:off x="7315200" y="2029968"/>
            <a:ext cx="3950208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22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50" b="1">
                <a:solidFill>
                  <a:srgbClr val="513F30"/>
                </a:solidFill>
                <a:latin typeface="微软雅黑"/>
                <a:ea typeface="微软雅黑"/>
                <a:cs typeface="微软雅黑"/>
              </a:rPr>
              <a:t>商家版</a:t>
            </a:r>
            <a:endParaRPr lang="zh-CN" sz="1850" b="1">
              <a:solidFill>
                <a:srgbClr val="513F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0" name="TextBox 26"/>
          <p:cNvSpPr txBox="1"/>
          <p:nvPr/>
        </p:nvSpPr>
        <p:spPr>
          <a:xfrm>
            <a:off x="8522335" y="2505710"/>
            <a:ext cx="2788920" cy="81407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3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20" b="0">
                <a:solidFill>
                  <a:srgbClr val="7D746C"/>
                </a:solidFill>
                <a:latin typeface="微软雅黑"/>
                <a:ea typeface="微软雅黑"/>
                <a:cs typeface="微软雅黑"/>
              </a:rPr>
              <a:t>商家标识与界面、签约品类 · 商家商品库</a:t>
            </a:r>
            <a:endParaRPr lang="zh-CN" sz="1220" b="0">
              <a:solidFill>
                <a:srgbClr val="7D746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1" name="Rounded Rectangle 27"/>
          <p:cNvSpPr/>
          <p:nvPr/>
        </p:nvSpPr>
        <p:spPr>
          <a:xfrm>
            <a:off x="6702552" y="4041648"/>
            <a:ext cx="4800600" cy="15727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8890">
            <a:solidFill>
              <a:srgbClr val="E8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28"/>
          <p:cNvSpPr/>
          <p:nvPr/>
        </p:nvSpPr>
        <p:spPr>
          <a:xfrm>
            <a:off x="6702552" y="4041648"/>
            <a:ext cx="32004" cy="1572768"/>
          </a:xfrm>
          <a:prstGeom prst="rect">
            <a:avLst/>
          </a:prstGeom>
          <a:solidFill>
            <a:srgbClr val="C79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29"/>
          <p:cNvSpPr txBox="1"/>
          <p:nvPr/>
        </p:nvSpPr>
        <p:spPr>
          <a:xfrm>
            <a:off x="6894576" y="4197096"/>
            <a:ext cx="347472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9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60" b="1">
                <a:solidFill>
                  <a:srgbClr val="C79255"/>
                </a:solidFill>
                <a:latin typeface="微软雅黑"/>
                <a:ea typeface="微软雅黑"/>
                <a:cs typeface="微软雅黑"/>
              </a:rPr>
              <a:t>03</a:t>
            </a:r>
            <a:endParaRPr lang="zh-CN" sz="1160" b="1">
              <a:solidFill>
                <a:srgbClr val="C792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4" name="TextBox 30"/>
          <p:cNvSpPr txBox="1"/>
          <p:nvPr/>
        </p:nvSpPr>
        <p:spPr>
          <a:xfrm>
            <a:off x="7315200" y="4151376"/>
            <a:ext cx="3950208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22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50" b="1">
                <a:solidFill>
                  <a:srgbClr val="513F30"/>
                </a:solidFill>
                <a:latin typeface="微软雅黑"/>
                <a:ea typeface="微软雅黑"/>
                <a:cs typeface="微软雅黑"/>
              </a:rPr>
              <a:t>宠主使用</a:t>
            </a:r>
            <a:endParaRPr lang="zh-CN" sz="1850" b="1">
              <a:solidFill>
                <a:srgbClr val="513F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0" name="TextBox 36"/>
          <p:cNvSpPr txBox="1"/>
          <p:nvPr/>
        </p:nvSpPr>
        <p:spPr>
          <a:xfrm>
            <a:off x="8547100" y="4626610"/>
            <a:ext cx="2764155" cy="81407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3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20" b="0">
                <a:solidFill>
                  <a:srgbClr val="7D746C"/>
                </a:solidFill>
                <a:latin typeface="微软雅黑"/>
                <a:ea typeface="微软雅黑"/>
                <a:cs typeface="微软雅黑"/>
              </a:rPr>
              <a:t>扫码建档 · 三十天养护计划</a:t>
            </a:r>
            <a:endParaRPr lang="zh-CN" sz="1220" b="0">
              <a:solidFill>
                <a:srgbClr val="7D746C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ts val="163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20" b="0">
                <a:solidFill>
                  <a:srgbClr val="7D746C"/>
                </a:solidFill>
                <a:latin typeface="微软雅黑"/>
                <a:ea typeface="微软雅黑"/>
                <a:cs typeface="微软雅黑"/>
              </a:rPr>
              <a:t>问答与选购 · 工单转接</a:t>
            </a:r>
            <a:endParaRPr lang="zh-CN" sz="1220" b="0">
              <a:solidFill>
                <a:srgbClr val="7D746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1" name="Rounded Rectangle 37"/>
          <p:cNvSpPr/>
          <p:nvPr/>
        </p:nvSpPr>
        <p:spPr>
          <a:xfrm>
            <a:off x="685800" y="4041648"/>
            <a:ext cx="4800600" cy="1572768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8890">
            <a:solidFill>
              <a:srgbClr val="E8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38"/>
          <p:cNvSpPr/>
          <p:nvPr/>
        </p:nvSpPr>
        <p:spPr>
          <a:xfrm>
            <a:off x="685800" y="4041648"/>
            <a:ext cx="32004" cy="1572768"/>
          </a:xfrm>
          <a:prstGeom prst="rect">
            <a:avLst/>
          </a:prstGeom>
          <a:solidFill>
            <a:srgbClr val="7488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39"/>
          <p:cNvSpPr txBox="1"/>
          <p:nvPr/>
        </p:nvSpPr>
        <p:spPr>
          <a:xfrm>
            <a:off x="877824" y="4197096"/>
            <a:ext cx="347472" cy="23774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9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60" b="1">
                <a:solidFill>
                  <a:srgbClr val="748871"/>
                </a:solidFill>
                <a:latin typeface="微软雅黑"/>
                <a:ea typeface="微软雅黑"/>
                <a:cs typeface="微软雅黑"/>
              </a:rPr>
              <a:t>04</a:t>
            </a:r>
            <a:endParaRPr lang="zh-CN" sz="1160" b="1">
              <a:solidFill>
                <a:srgbClr val="74887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4" name="TextBox 40"/>
          <p:cNvSpPr txBox="1"/>
          <p:nvPr/>
        </p:nvSpPr>
        <p:spPr>
          <a:xfrm>
            <a:off x="1298448" y="4151376"/>
            <a:ext cx="3950208" cy="32918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222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850" b="1">
                <a:solidFill>
                  <a:srgbClr val="513F30"/>
                </a:solidFill>
                <a:latin typeface="微软雅黑"/>
                <a:ea typeface="微软雅黑"/>
                <a:cs typeface="微软雅黑"/>
              </a:rPr>
              <a:t>沉淀与回流</a:t>
            </a:r>
            <a:endParaRPr lang="zh-CN" sz="1850" b="1">
              <a:solidFill>
                <a:srgbClr val="513F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0" name="TextBox 46"/>
          <p:cNvSpPr txBox="1"/>
          <p:nvPr/>
        </p:nvSpPr>
        <p:spPr>
          <a:xfrm>
            <a:off x="3209290" y="4626610"/>
            <a:ext cx="2085340" cy="81407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3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20" b="0">
                <a:solidFill>
                  <a:srgbClr val="7D746C"/>
                </a:solidFill>
                <a:latin typeface="微软雅黑"/>
                <a:ea typeface="微软雅黑"/>
                <a:cs typeface="微软雅黑"/>
              </a:rPr>
              <a:t>问答语料 · 商品与库存结构</a:t>
            </a:r>
            <a:endParaRPr lang="zh-CN" sz="1220" b="0">
              <a:solidFill>
                <a:srgbClr val="7D746C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ts val="163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20" b="0">
                <a:solidFill>
                  <a:srgbClr val="7D746C"/>
                </a:solidFill>
                <a:latin typeface="微软雅黑"/>
                <a:ea typeface="微软雅黑"/>
                <a:cs typeface="微软雅黑"/>
              </a:rPr>
              <a:t>个体档案与养护结果</a:t>
            </a:r>
            <a:endParaRPr lang="zh-CN" sz="1220" b="0">
              <a:solidFill>
                <a:srgbClr val="7D746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1" name="Right Arrow 47"/>
          <p:cNvSpPr/>
          <p:nvPr/>
        </p:nvSpPr>
        <p:spPr>
          <a:xfrm>
            <a:off x="5614416" y="2660904"/>
            <a:ext cx="950976" cy="228600"/>
          </a:xfrm>
          <a:prstGeom prst="rightArrow">
            <a:avLst/>
          </a:prstGeom>
          <a:solidFill>
            <a:srgbClr val="C79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48"/>
          <p:cNvSpPr txBox="1"/>
          <p:nvPr/>
        </p:nvSpPr>
        <p:spPr>
          <a:xfrm>
            <a:off x="5504688" y="2286000"/>
            <a:ext cx="1170432" cy="3383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15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C79255"/>
                </a:solidFill>
                <a:latin typeface="微软雅黑"/>
                <a:ea typeface="微软雅黑"/>
                <a:cs typeface="微软雅黑"/>
              </a:rPr>
              <a:t>按商家</a:t>
            </a:r>
            <a:endParaRPr lang="zh-CN" sz="1050" b="1">
              <a:solidFill>
                <a:srgbClr val="C79255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ts val="115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C79255"/>
                </a:solidFill>
                <a:latin typeface="微软雅黑"/>
                <a:ea typeface="微软雅黑"/>
                <a:cs typeface="微软雅黑"/>
              </a:rPr>
              <a:t>配置部署</a:t>
            </a:r>
            <a:endParaRPr lang="zh-CN" sz="1050" b="1">
              <a:solidFill>
                <a:srgbClr val="C792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3" name="Down Arrow 49"/>
          <p:cNvSpPr/>
          <p:nvPr/>
        </p:nvSpPr>
        <p:spPr>
          <a:xfrm>
            <a:off x="8961120" y="3593592"/>
            <a:ext cx="210312" cy="301752"/>
          </a:xfrm>
          <a:prstGeom prst="downArrow">
            <a:avLst/>
          </a:prstGeom>
          <a:solidFill>
            <a:srgbClr val="C79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50"/>
          <p:cNvSpPr txBox="1"/>
          <p:nvPr/>
        </p:nvSpPr>
        <p:spPr>
          <a:xfrm>
            <a:off x="9290304" y="3630168"/>
            <a:ext cx="2103120" cy="2103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00" b="1">
                <a:solidFill>
                  <a:srgbClr val="C79255"/>
                </a:solidFill>
                <a:latin typeface="微软雅黑"/>
                <a:ea typeface="微软雅黑"/>
                <a:cs typeface="微软雅黑"/>
              </a:rPr>
              <a:t>随宠物交付</a:t>
            </a:r>
            <a:endParaRPr lang="zh-CN" sz="1100" b="1">
              <a:solidFill>
                <a:srgbClr val="C792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5" name="Left Arrow 51"/>
          <p:cNvSpPr/>
          <p:nvPr/>
        </p:nvSpPr>
        <p:spPr>
          <a:xfrm>
            <a:off x="5614416" y="4809744"/>
            <a:ext cx="950976" cy="228600"/>
          </a:xfrm>
          <a:prstGeom prst="leftArrow">
            <a:avLst/>
          </a:prstGeom>
          <a:solidFill>
            <a:srgbClr val="7488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52"/>
          <p:cNvSpPr txBox="1"/>
          <p:nvPr/>
        </p:nvSpPr>
        <p:spPr>
          <a:xfrm>
            <a:off x="5495544" y="5184648"/>
            <a:ext cx="1197864" cy="3383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15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748871"/>
                </a:solidFill>
                <a:latin typeface="微软雅黑"/>
                <a:ea typeface="微软雅黑"/>
                <a:cs typeface="微软雅黑"/>
              </a:rPr>
              <a:t>沉淀</a:t>
            </a:r>
            <a:endParaRPr lang="zh-CN" sz="1050" b="1">
              <a:solidFill>
                <a:srgbClr val="748871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ts val="115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748871"/>
                </a:solidFill>
                <a:latin typeface="微软雅黑"/>
                <a:ea typeface="微软雅黑"/>
                <a:cs typeface="微软雅黑"/>
              </a:rPr>
              <a:t>使用数据</a:t>
            </a:r>
            <a:endParaRPr lang="zh-CN" sz="1050" b="1">
              <a:solidFill>
                <a:srgbClr val="74887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7" name="Up Arrow 53"/>
          <p:cNvSpPr/>
          <p:nvPr/>
        </p:nvSpPr>
        <p:spPr>
          <a:xfrm>
            <a:off x="2962656" y="3593592"/>
            <a:ext cx="210312" cy="301752"/>
          </a:xfrm>
          <a:prstGeom prst="upArrow">
            <a:avLst/>
          </a:prstGeom>
          <a:solidFill>
            <a:srgbClr val="7488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54"/>
          <p:cNvSpPr txBox="1"/>
          <p:nvPr/>
        </p:nvSpPr>
        <p:spPr>
          <a:xfrm>
            <a:off x="1170432" y="3630168"/>
            <a:ext cx="1673352" cy="21031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ts val="132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00" b="1">
                <a:solidFill>
                  <a:srgbClr val="748871"/>
                </a:solidFill>
                <a:latin typeface="微软雅黑"/>
                <a:ea typeface="微软雅黑"/>
                <a:cs typeface="微软雅黑"/>
              </a:rPr>
              <a:t>回流至内核</a:t>
            </a:r>
            <a:endParaRPr lang="zh-CN" sz="1100" b="1">
              <a:solidFill>
                <a:srgbClr val="74887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9" name="TextBox 55"/>
          <p:cNvSpPr txBox="1"/>
          <p:nvPr/>
        </p:nvSpPr>
        <p:spPr>
          <a:xfrm>
            <a:off x="5468112" y="3493008"/>
            <a:ext cx="1280160" cy="56692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6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50" b="1">
                <a:solidFill>
                  <a:srgbClr val="513F30"/>
                </a:solidFill>
                <a:latin typeface="微软雅黑"/>
                <a:ea typeface="微软雅黑"/>
                <a:cs typeface="微软雅黑"/>
              </a:rPr>
              <a:t>每轮循环</a:t>
            </a:r>
            <a:endParaRPr lang="zh-CN" sz="1150" b="1">
              <a:solidFill>
                <a:srgbClr val="513F30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lnSpc>
                <a:spcPts val="16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50" b="1">
                <a:solidFill>
                  <a:srgbClr val="513F30"/>
                </a:solidFill>
                <a:latin typeface="微软雅黑"/>
                <a:ea typeface="微软雅黑"/>
                <a:cs typeface="微软雅黑"/>
              </a:rPr>
              <a:t>内核沉淀累积</a:t>
            </a:r>
            <a:endParaRPr lang="zh-CN" sz="1150" b="1">
              <a:solidFill>
                <a:srgbClr val="513F30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81" name="图片 8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115" y="2379345"/>
            <a:ext cx="2125980" cy="939800"/>
          </a:xfrm>
          <a:prstGeom prst="rect">
            <a:avLst/>
          </a:prstGeom>
        </p:spPr>
      </p:pic>
      <p:pic>
        <p:nvPicPr>
          <p:cNvPr id="82" name="图片 8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1205" y="4423410"/>
            <a:ext cx="1280160" cy="1152525"/>
          </a:xfrm>
          <a:prstGeom prst="rect">
            <a:avLst/>
          </a:prstGeom>
        </p:spPr>
      </p:pic>
      <p:pic>
        <p:nvPicPr>
          <p:cNvPr id="83" name="图片 8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7115" y="4462780"/>
            <a:ext cx="1654810" cy="108077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7925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 · 服务与交付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868680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28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主平台服务与商家版的配置边界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353312"/>
            <a:ext cx="804672" cy="32004"/>
          </a:xfrm>
          <a:prstGeom prst="rect">
            <a:avLst/>
          </a:prstGeom>
          <a:solidFill>
            <a:srgbClr val="C79255"/>
          </a:solidFill>
        </p:spPr>
      </p:sp>
      <p:pic>
        <p:nvPicPr>
          <p:cNvPr id="5" name="Image 0" descr="logo_ba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28632" y="310896"/>
            <a:ext cx="1874520" cy="74066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1517904"/>
            <a:ext cx="1081735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D74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面向大众的服务持续开放；商家版在同一套能力上按签约品类收窄并接入商家商品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640080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AEA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PAWLY · 宝狸  |  项目路演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0771632" y="6400800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AEA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06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85800" y="1938528"/>
            <a:ext cx="1572768" cy="1115568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12700">
            <a:solidFill>
              <a:srgbClr val="E8DFD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86968" y="2084832"/>
            <a:ext cx="292608" cy="292608"/>
          </a:xfrm>
          <a:prstGeom prst="ellipse">
            <a:avLst/>
          </a:prstGeom>
          <a:solidFill>
            <a:srgbClr val="C79255"/>
          </a:solidFill>
        </p:spPr>
      </p:sp>
      <p:sp>
        <p:nvSpPr>
          <p:cNvPr id="11" name="Text 8"/>
          <p:cNvSpPr txBox="1"/>
          <p:nvPr/>
        </p:nvSpPr>
        <p:spPr>
          <a:xfrm>
            <a:off x="886968" y="2130552"/>
            <a:ext cx="292608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850392" y="2450592"/>
            <a:ext cx="124358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A37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商家签约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850392" y="2724912"/>
            <a:ext cx="124358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D74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分成或年费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2258568" y="2377440"/>
            <a:ext cx="12801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0B77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›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2386584" y="1938528"/>
            <a:ext cx="1572768" cy="1115568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12700">
            <a:solidFill>
              <a:srgbClr val="E8DFD3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587752" y="2084832"/>
            <a:ext cx="292608" cy="292608"/>
          </a:xfrm>
          <a:prstGeom prst="ellipse">
            <a:avLst/>
          </a:prstGeom>
          <a:solidFill>
            <a:srgbClr val="C79255"/>
          </a:solidFill>
        </p:spPr>
      </p:sp>
      <p:sp>
        <p:nvSpPr>
          <p:cNvPr id="17" name="Text 14"/>
          <p:cNvSpPr txBox="1"/>
          <p:nvPr/>
        </p:nvSpPr>
        <p:spPr>
          <a:xfrm>
            <a:off x="2587752" y="2130552"/>
            <a:ext cx="292608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2551176" y="2450592"/>
            <a:ext cx="124358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A37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配置部署</a:t>
            </a:r>
            <a:endParaRPr lang="en-US" sz="1250" dirty="0"/>
          </a:p>
        </p:txBody>
      </p:sp>
      <p:sp>
        <p:nvSpPr>
          <p:cNvPr id="19" name="Text 16"/>
          <p:cNvSpPr txBox="1"/>
          <p:nvPr/>
        </p:nvSpPr>
        <p:spPr>
          <a:xfrm>
            <a:off x="2551176" y="2724912"/>
            <a:ext cx="124358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D74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半天上线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3959352" y="2377440"/>
            <a:ext cx="12801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0B77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›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4087368" y="1938528"/>
            <a:ext cx="1572768" cy="1115568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12700">
            <a:solidFill>
              <a:srgbClr val="E8DFD3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288536" y="2084832"/>
            <a:ext cx="292608" cy="292608"/>
          </a:xfrm>
          <a:prstGeom prst="ellipse">
            <a:avLst/>
          </a:prstGeom>
          <a:solidFill>
            <a:srgbClr val="C79255"/>
          </a:solidFill>
        </p:spPr>
      </p:sp>
      <p:sp>
        <p:nvSpPr>
          <p:cNvPr id="23" name="Text 20"/>
          <p:cNvSpPr txBox="1"/>
          <p:nvPr/>
        </p:nvSpPr>
        <p:spPr>
          <a:xfrm>
            <a:off x="4288536" y="2130552"/>
            <a:ext cx="292608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050" dirty="0"/>
          </a:p>
        </p:txBody>
      </p:sp>
      <p:sp>
        <p:nvSpPr>
          <p:cNvPr id="24" name="Text 21"/>
          <p:cNvSpPr txBox="1"/>
          <p:nvPr/>
        </p:nvSpPr>
        <p:spPr>
          <a:xfrm>
            <a:off x="4251960" y="2450592"/>
            <a:ext cx="124358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A37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随宠物交付</a:t>
            </a:r>
            <a:endParaRPr lang="en-US" sz="1250" dirty="0"/>
          </a:p>
        </p:txBody>
      </p:sp>
      <p:sp>
        <p:nvSpPr>
          <p:cNvPr id="25" name="Text 22"/>
          <p:cNvSpPr txBox="1"/>
          <p:nvPr/>
        </p:nvSpPr>
        <p:spPr>
          <a:xfrm>
            <a:off x="4251960" y="2724912"/>
            <a:ext cx="124358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D74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二维码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5660136" y="2377440"/>
            <a:ext cx="12801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0B77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›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5788152" y="1938528"/>
            <a:ext cx="1572768" cy="1115568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12700">
            <a:solidFill>
              <a:srgbClr val="E8DFD3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989320" y="2084832"/>
            <a:ext cx="292608" cy="292608"/>
          </a:xfrm>
          <a:prstGeom prst="ellipse">
            <a:avLst/>
          </a:prstGeom>
          <a:solidFill>
            <a:srgbClr val="C79255"/>
          </a:solidFill>
        </p:spPr>
      </p:sp>
      <p:sp>
        <p:nvSpPr>
          <p:cNvPr id="29" name="Text 26"/>
          <p:cNvSpPr txBox="1"/>
          <p:nvPr/>
        </p:nvSpPr>
        <p:spPr>
          <a:xfrm>
            <a:off x="5989320" y="2130552"/>
            <a:ext cx="292608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050" dirty="0"/>
          </a:p>
        </p:txBody>
      </p:sp>
      <p:sp>
        <p:nvSpPr>
          <p:cNvPr id="30" name="Text 27"/>
          <p:cNvSpPr txBox="1"/>
          <p:nvPr/>
        </p:nvSpPr>
        <p:spPr>
          <a:xfrm>
            <a:off x="5952744" y="2450592"/>
            <a:ext cx="124358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A37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扫码建档</a:t>
            </a:r>
            <a:endParaRPr lang="en-US" sz="1250" dirty="0"/>
          </a:p>
        </p:txBody>
      </p:sp>
      <p:sp>
        <p:nvSpPr>
          <p:cNvPr id="31" name="Text 28"/>
          <p:cNvSpPr txBox="1"/>
          <p:nvPr/>
        </p:nvSpPr>
        <p:spPr>
          <a:xfrm>
            <a:off x="5952744" y="2724912"/>
            <a:ext cx="124358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D74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三十秒出计划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7360920" y="2377440"/>
            <a:ext cx="12801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0B77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›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7488936" y="1938528"/>
            <a:ext cx="1572768" cy="1115568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12700">
            <a:solidFill>
              <a:srgbClr val="E8DFD3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7690104" y="2084832"/>
            <a:ext cx="292608" cy="292608"/>
          </a:xfrm>
          <a:prstGeom prst="ellipse">
            <a:avLst/>
          </a:prstGeom>
          <a:solidFill>
            <a:srgbClr val="C79255"/>
          </a:solidFill>
        </p:spPr>
      </p:sp>
      <p:sp>
        <p:nvSpPr>
          <p:cNvPr id="35" name="Text 32"/>
          <p:cNvSpPr txBox="1"/>
          <p:nvPr/>
        </p:nvSpPr>
        <p:spPr>
          <a:xfrm>
            <a:off x="7690104" y="2130552"/>
            <a:ext cx="292608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</a:t>
            </a:r>
            <a:endParaRPr lang="en-US" sz="1050" dirty="0"/>
          </a:p>
        </p:txBody>
      </p:sp>
      <p:sp>
        <p:nvSpPr>
          <p:cNvPr id="36" name="Text 33"/>
          <p:cNvSpPr txBox="1"/>
          <p:nvPr/>
        </p:nvSpPr>
        <p:spPr>
          <a:xfrm>
            <a:off x="7653528" y="2450592"/>
            <a:ext cx="124358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A37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日常使用</a:t>
            </a:r>
            <a:endParaRPr lang="en-US" sz="1250" dirty="0"/>
          </a:p>
        </p:txBody>
      </p:sp>
      <p:sp>
        <p:nvSpPr>
          <p:cNvPr id="37" name="Text 34"/>
          <p:cNvSpPr txBox="1"/>
          <p:nvPr/>
        </p:nvSpPr>
        <p:spPr>
          <a:xfrm>
            <a:off x="7653528" y="2724912"/>
            <a:ext cx="124358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D74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问答与选购</a:t>
            </a:r>
            <a:endParaRPr lang="en-US" sz="1000" dirty="0"/>
          </a:p>
        </p:txBody>
      </p:sp>
      <p:sp>
        <p:nvSpPr>
          <p:cNvPr id="38" name="Text 35"/>
          <p:cNvSpPr txBox="1"/>
          <p:nvPr/>
        </p:nvSpPr>
        <p:spPr>
          <a:xfrm>
            <a:off x="9061704" y="2377440"/>
            <a:ext cx="12801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0B77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›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9189720" y="1938528"/>
            <a:ext cx="1572768" cy="1115568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12700">
            <a:solidFill>
              <a:srgbClr val="E8DFD3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9390888" y="2084832"/>
            <a:ext cx="292608" cy="292608"/>
          </a:xfrm>
          <a:prstGeom prst="ellipse">
            <a:avLst/>
          </a:prstGeom>
          <a:solidFill>
            <a:srgbClr val="C79255"/>
          </a:solidFill>
        </p:spPr>
      </p:sp>
      <p:sp>
        <p:nvSpPr>
          <p:cNvPr id="41" name="Text 38"/>
          <p:cNvSpPr txBox="1"/>
          <p:nvPr/>
        </p:nvSpPr>
        <p:spPr>
          <a:xfrm>
            <a:off x="9390888" y="2130552"/>
            <a:ext cx="292608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</a:t>
            </a:r>
            <a:endParaRPr lang="en-US" sz="1050" dirty="0"/>
          </a:p>
        </p:txBody>
      </p:sp>
      <p:sp>
        <p:nvSpPr>
          <p:cNvPr id="42" name="Text 39"/>
          <p:cNvSpPr txBox="1"/>
          <p:nvPr/>
        </p:nvSpPr>
        <p:spPr>
          <a:xfrm>
            <a:off x="9354312" y="2450592"/>
            <a:ext cx="124358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A37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工单转接</a:t>
            </a:r>
            <a:endParaRPr lang="en-US" sz="1250" dirty="0"/>
          </a:p>
        </p:txBody>
      </p:sp>
      <p:sp>
        <p:nvSpPr>
          <p:cNvPr id="43" name="Text 40"/>
          <p:cNvSpPr txBox="1"/>
          <p:nvPr/>
        </p:nvSpPr>
        <p:spPr>
          <a:xfrm>
            <a:off x="9354312" y="2724912"/>
            <a:ext cx="124358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D74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转由商家处理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685800" y="3310128"/>
            <a:ext cx="5276088" cy="2304288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2700">
            <a:solidFill>
              <a:srgbClr val="E8DFD3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905256" y="3493008"/>
            <a:ext cx="4837176" cy="365760"/>
          </a:xfrm>
          <a:prstGeom prst="roundRect">
            <a:avLst>
              <a:gd name="adj" fmla="val 12500"/>
            </a:avLst>
          </a:prstGeom>
          <a:solidFill>
            <a:srgbClr val="4A3729"/>
          </a:solidFill>
        </p:spPr>
      </p:sp>
      <p:sp>
        <p:nvSpPr>
          <p:cNvPr id="46" name="Text 43"/>
          <p:cNvSpPr txBox="1"/>
          <p:nvPr/>
        </p:nvSpPr>
        <p:spPr>
          <a:xfrm>
            <a:off x="1051560" y="3547872"/>
            <a:ext cx="2560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Pawly 主平台</a:t>
            </a:r>
            <a:endParaRPr lang="en-US" sz="1150" dirty="0"/>
          </a:p>
        </p:txBody>
      </p:sp>
      <p:sp>
        <p:nvSpPr>
          <p:cNvPr id="47" name="Text 44"/>
          <p:cNvSpPr txBox="1"/>
          <p:nvPr/>
        </p:nvSpPr>
        <p:spPr>
          <a:xfrm>
            <a:off x="2944368" y="3566160"/>
            <a:ext cx="2606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面向大众，持续免费开放</a:t>
            </a:r>
            <a:endParaRPr lang="en-US" sz="950" dirty="0"/>
          </a:p>
        </p:txBody>
      </p:sp>
      <p:sp>
        <p:nvSpPr>
          <p:cNvPr id="48" name="Shape 45"/>
          <p:cNvSpPr/>
          <p:nvPr/>
        </p:nvSpPr>
        <p:spPr>
          <a:xfrm>
            <a:off x="960120" y="4050792"/>
            <a:ext cx="100584" cy="100584"/>
          </a:xfrm>
          <a:prstGeom prst="ellipse">
            <a:avLst/>
          </a:prstGeom>
          <a:solidFill>
            <a:srgbClr val="72866F"/>
          </a:solidFill>
        </p:spPr>
      </p:sp>
      <p:sp>
        <p:nvSpPr>
          <p:cNvPr id="49" name="Text 46"/>
          <p:cNvSpPr txBox="1"/>
          <p:nvPr/>
        </p:nvSpPr>
        <p:spPr>
          <a:xfrm>
            <a:off x="1179576" y="3968496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28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问答</a:t>
            </a:r>
            <a:endParaRPr lang="en-US" sz="1200" dirty="0"/>
          </a:p>
        </p:txBody>
      </p:sp>
      <p:sp>
        <p:nvSpPr>
          <p:cNvPr id="50" name="Text 47"/>
          <p:cNvSpPr txBox="1"/>
          <p:nvPr/>
        </p:nvSpPr>
        <p:spPr>
          <a:xfrm>
            <a:off x="2587752" y="3986784"/>
            <a:ext cx="309981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D74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覆盖犬猫与 6 类异宠</a:t>
            </a:r>
            <a:endParaRPr lang="en-US" sz="1100" dirty="0"/>
          </a:p>
        </p:txBody>
      </p:sp>
      <p:sp>
        <p:nvSpPr>
          <p:cNvPr id="51" name="Shape 48"/>
          <p:cNvSpPr/>
          <p:nvPr/>
        </p:nvSpPr>
        <p:spPr>
          <a:xfrm>
            <a:off x="960120" y="4379976"/>
            <a:ext cx="100584" cy="100584"/>
          </a:xfrm>
          <a:prstGeom prst="ellipse">
            <a:avLst/>
          </a:prstGeom>
          <a:solidFill>
            <a:srgbClr val="72866F"/>
          </a:solidFill>
        </p:spPr>
      </p:sp>
      <p:sp>
        <p:nvSpPr>
          <p:cNvPr id="52" name="Text 49"/>
          <p:cNvSpPr txBox="1"/>
          <p:nvPr/>
        </p:nvSpPr>
        <p:spPr>
          <a:xfrm>
            <a:off x="1179576" y="4297680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28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宠物科普</a:t>
            </a:r>
            <a:endParaRPr lang="en-US" sz="1200" dirty="0"/>
          </a:p>
        </p:txBody>
      </p:sp>
      <p:sp>
        <p:nvSpPr>
          <p:cNvPr id="53" name="Text 50"/>
          <p:cNvSpPr txBox="1"/>
          <p:nvPr/>
        </p:nvSpPr>
        <p:spPr>
          <a:xfrm>
            <a:off x="2587752" y="4315968"/>
            <a:ext cx="309981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D74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循证撰写，标注依据来源</a:t>
            </a:r>
            <a:endParaRPr lang="en-US" sz="1100" dirty="0"/>
          </a:p>
        </p:txBody>
      </p:sp>
      <p:sp>
        <p:nvSpPr>
          <p:cNvPr id="54" name="Shape 51"/>
          <p:cNvSpPr/>
          <p:nvPr/>
        </p:nvSpPr>
        <p:spPr>
          <a:xfrm>
            <a:off x="960120" y="4709160"/>
            <a:ext cx="100584" cy="100584"/>
          </a:xfrm>
          <a:prstGeom prst="ellipse">
            <a:avLst/>
          </a:prstGeom>
          <a:solidFill>
            <a:srgbClr val="72866F"/>
          </a:solidFill>
        </p:spPr>
      </p:sp>
      <p:sp>
        <p:nvSpPr>
          <p:cNvPr id="55" name="Text 52"/>
          <p:cNvSpPr txBox="1"/>
          <p:nvPr/>
        </p:nvSpPr>
        <p:spPr>
          <a:xfrm>
            <a:off x="1179576" y="4626864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28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个体档案</a:t>
            </a:r>
            <a:endParaRPr lang="en-US" sz="1200" dirty="0"/>
          </a:p>
        </p:txBody>
      </p:sp>
      <p:sp>
        <p:nvSpPr>
          <p:cNvPr id="56" name="Text 53"/>
          <p:cNvSpPr txBox="1"/>
          <p:nvPr/>
        </p:nvSpPr>
        <p:spPr>
          <a:xfrm>
            <a:off x="2587752" y="4645152"/>
            <a:ext cx="309981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D74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品种、月龄与饲养环境</a:t>
            </a:r>
            <a:endParaRPr lang="en-US" sz="1100" dirty="0"/>
          </a:p>
        </p:txBody>
      </p:sp>
      <p:sp>
        <p:nvSpPr>
          <p:cNvPr id="57" name="Shape 54"/>
          <p:cNvSpPr/>
          <p:nvPr/>
        </p:nvSpPr>
        <p:spPr>
          <a:xfrm>
            <a:off x="960120" y="5038344"/>
            <a:ext cx="100584" cy="100584"/>
          </a:xfrm>
          <a:prstGeom prst="ellipse">
            <a:avLst/>
          </a:prstGeom>
          <a:solidFill>
            <a:srgbClr val="72866F"/>
          </a:solidFill>
        </p:spPr>
      </p:sp>
      <p:sp>
        <p:nvSpPr>
          <p:cNvPr id="58" name="Text 55"/>
          <p:cNvSpPr txBox="1"/>
          <p:nvPr/>
        </p:nvSpPr>
        <p:spPr>
          <a:xfrm>
            <a:off x="1179576" y="4956048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28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选购参考</a:t>
            </a:r>
            <a:endParaRPr lang="en-US" sz="1200" dirty="0"/>
          </a:p>
        </p:txBody>
      </p:sp>
      <p:sp>
        <p:nvSpPr>
          <p:cNvPr id="59" name="Text 56"/>
          <p:cNvSpPr txBox="1"/>
          <p:nvPr/>
        </p:nvSpPr>
        <p:spPr>
          <a:xfrm>
            <a:off x="2587752" y="4974336"/>
            <a:ext cx="309981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D74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挑选标准与成分对比，无交易环节</a:t>
            </a:r>
            <a:endParaRPr lang="en-US" sz="1100" dirty="0"/>
          </a:p>
        </p:txBody>
      </p:sp>
      <p:sp>
        <p:nvSpPr>
          <p:cNvPr id="60" name="Shape 57"/>
          <p:cNvSpPr/>
          <p:nvPr/>
        </p:nvSpPr>
        <p:spPr>
          <a:xfrm>
            <a:off x="960120" y="5367528"/>
            <a:ext cx="100584" cy="100584"/>
          </a:xfrm>
          <a:prstGeom prst="ellipse">
            <a:avLst/>
          </a:prstGeom>
          <a:solidFill>
            <a:srgbClr val="72866F"/>
          </a:solidFill>
        </p:spPr>
      </p:sp>
      <p:sp>
        <p:nvSpPr>
          <p:cNvPr id="61" name="Text 58"/>
          <p:cNvSpPr txBox="1"/>
          <p:nvPr/>
        </p:nvSpPr>
        <p:spPr>
          <a:xfrm>
            <a:off x="1179576" y="5285232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28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社区</a:t>
            </a:r>
            <a:endParaRPr lang="en-US" sz="1200" dirty="0"/>
          </a:p>
        </p:txBody>
      </p:sp>
      <p:sp>
        <p:nvSpPr>
          <p:cNvPr id="62" name="Text 59"/>
          <p:cNvSpPr txBox="1"/>
          <p:nvPr/>
        </p:nvSpPr>
        <p:spPr>
          <a:xfrm>
            <a:off x="2587752" y="5303520"/>
            <a:ext cx="309981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D74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保留开放</a:t>
            </a:r>
            <a:endParaRPr lang="en-US" sz="1100" dirty="0"/>
          </a:p>
        </p:txBody>
      </p:sp>
      <p:sp>
        <p:nvSpPr>
          <p:cNvPr id="63" name="Shape 60"/>
          <p:cNvSpPr/>
          <p:nvPr/>
        </p:nvSpPr>
        <p:spPr>
          <a:xfrm>
            <a:off x="6227064" y="3310128"/>
            <a:ext cx="5276088" cy="2304288"/>
          </a:xfrm>
          <a:prstGeom prst="roundRect">
            <a:avLst>
              <a:gd name="adj" fmla="val 2381"/>
            </a:avLst>
          </a:prstGeom>
          <a:solidFill>
            <a:srgbClr val="F5EEE5"/>
          </a:solidFill>
          <a:ln w="12700">
            <a:solidFill>
              <a:srgbClr val="E0B77F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6446520" y="3493008"/>
            <a:ext cx="4837176" cy="365760"/>
          </a:xfrm>
          <a:prstGeom prst="roundRect">
            <a:avLst>
              <a:gd name="adj" fmla="val 12500"/>
            </a:avLst>
          </a:prstGeom>
          <a:solidFill>
            <a:srgbClr val="C79255"/>
          </a:solidFill>
        </p:spPr>
      </p:sp>
      <p:sp>
        <p:nvSpPr>
          <p:cNvPr id="65" name="Text 62"/>
          <p:cNvSpPr txBox="1"/>
          <p:nvPr/>
        </p:nvSpPr>
        <p:spPr>
          <a:xfrm>
            <a:off x="6592824" y="3547872"/>
            <a:ext cx="25603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商家版（兔类示例）</a:t>
            </a:r>
            <a:endParaRPr lang="en-US" sz="1150" dirty="0"/>
          </a:p>
        </p:txBody>
      </p:sp>
      <p:sp>
        <p:nvSpPr>
          <p:cNvPr id="66" name="Text 63"/>
          <p:cNvSpPr txBox="1"/>
          <p:nvPr/>
        </p:nvSpPr>
        <p:spPr>
          <a:xfrm>
            <a:off x="8485632" y="3566160"/>
            <a:ext cx="2606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按签约商家配置生成</a:t>
            </a:r>
            <a:endParaRPr lang="en-US" sz="950" dirty="0"/>
          </a:p>
        </p:txBody>
      </p:sp>
      <p:sp>
        <p:nvSpPr>
          <p:cNvPr id="67" name="Shape 64"/>
          <p:cNvSpPr/>
          <p:nvPr/>
        </p:nvSpPr>
        <p:spPr>
          <a:xfrm>
            <a:off x="6501384" y="4050792"/>
            <a:ext cx="100584" cy="100584"/>
          </a:xfrm>
          <a:prstGeom prst="ellipse">
            <a:avLst/>
          </a:prstGeom>
          <a:solidFill>
            <a:srgbClr val="C79255"/>
          </a:solidFill>
        </p:spPr>
      </p:sp>
      <p:sp>
        <p:nvSpPr>
          <p:cNvPr id="68" name="Text 65"/>
          <p:cNvSpPr txBox="1"/>
          <p:nvPr/>
        </p:nvSpPr>
        <p:spPr>
          <a:xfrm>
            <a:off x="6720840" y="3968496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28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问答</a:t>
            </a:r>
            <a:endParaRPr lang="en-US" sz="1200" dirty="0"/>
          </a:p>
        </p:txBody>
      </p:sp>
      <p:sp>
        <p:nvSpPr>
          <p:cNvPr id="69" name="Text 66"/>
          <p:cNvSpPr txBox="1"/>
          <p:nvPr/>
        </p:nvSpPr>
        <p:spPr>
          <a:xfrm>
            <a:off x="8129016" y="3986784"/>
            <a:ext cx="309981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D74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收窄至兔类</a:t>
            </a:r>
            <a:endParaRPr lang="en-US" sz="1100" dirty="0"/>
          </a:p>
        </p:txBody>
      </p:sp>
      <p:sp>
        <p:nvSpPr>
          <p:cNvPr id="70" name="Shape 67"/>
          <p:cNvSpPr/>
          <p:nvPr/>
        </p:nvSpPr>
        <p:spPr>
          <a:xfrm>
            <a:off x="6501384" y="4379976"/>
            <a:ext cx="100584" cy="100584"/>
          </a:xfrm>
          <a:prstGeom prst="ellipse">
            <a:avLst/>
          </a:prstGeom>
          <a:solidFill>
            <a:srgbClr val="C79255"/>
          </a:solidFill>
        </p:spPr>
      </p:sp>
      <p:sp>
        <p:nvSpPr>
          <p:cNvPr id="71" name="Text 68"/>
          <p:cNvSpPr txBox="1"/>
          <p:nvPr/>
        </p:nvSpPr>
        <p:spPr>
          <a:xfrm>
            <a:off x="6720840" y="4297680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28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兔类科普</a:t>
            </a:r>
            <a:endParaRPr lang="en-US" sz="1200" dirty="0"/>
          </a:p>
        </p:txBody>
      </p:sp>
      <p:sp>
        <p:nvSpPr>
          <p:cNvPr id="72" name="Text 69"/>
          <p:cNvSpPr txBox="1"/>
          <p:nvPr/>
        </p:nvSpPr>
        <p:spPr>
          <a:xfrm>
            <a:off x="8129016" y="4315968"/>
            <a:ext cx="309981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D74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同一知识库的品类分册</a:t>
            </a:r>
            <a:endParaRPr lang="en-US" sz="1100" dirty="0"/>
          </a:p>
        </p:txBody>
      </p:sp>
      <p:sp>
        <p:nvSpPr>
          <p:cNvPr id="73" name="Shape 70"/>
          <p:cNvSpPr/>
          <p:nvPr/>
        </p:nvSpPr>
        <p:spPr>
          <a:xfrm>
            <a:off x="6501384" y="4709160"/>
            <a:ext cx="100584" cy="100584"/>
          </a:xfrm>
          <a:prstGeom prst="ellipse">
            <a:avLst/>
          </a:prstGeom>
          <a:solidFill>
            <a:srgbClr val="C79255"/>
          </a:solidFill>
        </p:spPr>
      </p:sp>
      <p:sp>
        <p:nvSpPr>
          <p:cNvPr id="74" name="Text 71"/>
          <p:cNvSpPr txBox="1"/>
          <p:nvPr/>
        </p:nvSpPr>
        <p:spPr>
          <a:xfrm>
            <a:off x="6720840" y="4626864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28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个体档案</a:t>
            </a:r>
            <a:endParaRPr lang="en-US" sz="1200" dirty="0"/>
          </a:p>
        </p:txBody>
      </p:sp>
      <p:sp>
        <p:nvSpPr>
          <p:cNvPr id="75" name="Text 72"/>
          <p:cNvSpPr txBox="1"/>
          <p:nvPr/>
        </p:nvSpPr>
        <p:spPr>
          <a:xfrm>
            <a:off x="8129016" y="4645152"/>
            <a:ext cx="309981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D74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与主平台同一模块</a:t>
            </a:r>
            <a:endParaRPr lang="en-US" sz="1100" dirty="0"/>
          </a:p>
        </p:txBody>
      </p:sp>
      <p:sp>
        <p:nvSpPr>
          <p:cNvPr id="76" name="Shape 73"/>
          <p:cNvSpPr/>
          <p:nvPr/>
        </p:nvSpPr>
        <p:spPr>
          <a:xfrm>
            <a:off x="6501384" y="5038344"/>
            <a:ext cx="100584" cy="100584"/>
          </a:xfrm>
          <a:prstGeom prst="ellipse">
            <a:avLst/>
          </a:prstGeom>
          <a:solidFill>
            <a:srgbClr val="C79255"/>
          </a:solidFill>
        </p:spPr>
      </p:sp>
      <p:sp>
        <p:nvSpPr>
          <p:cNvPr id="77" name="Text 74"/>
          <p:cNvSpPr txBox="1"/>
          <p:nvPr/>
        </p:nvSpPr>
        <p:spPr>
          <a:xfrm>
            <a:off x="6720840" y="4956048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28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商品推荐</a:t>
            </a:r>
            <a:endParaRPr lang="en-US" sz="1200" dirty="0"/>
          </a:p>
        </p:txBody>
      </p:sp>
      <p:sp>
        <p:nvSpPr>
          <p:cNvPr id="78" name="Text 75"/>
          <p:cNvSpPr txBox="1"/>
          <p:nvPr/>
        </p:nvSpPr>
        <p:spPr>
          <a:xfrm>
            <a:off x="8129016" y="4974336"/>
            <a:ext cx="309981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D74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接入商家 SKU</a:t>
            </a:r>
            <a:endParaRPr lang="en-US" sz="1100" dirty="0"/>
          </a:p>
        </p:txBody>
      </p:sp>
      <p:sp>
        <p:nvSpPr>
          <p:cNvPr id="79" name="Shape 76"/>
          <p:cNvSpPr/>
          <p:nvPr/>
        </p:nvSpPr>
        <p:spPr>
          <a:xfrm>
            <a:off x="6501384" y="5367528"/>
            <a:ext cx="100584" cy="100584"/>
          </a:xfrm>
          <a:prstGeom prst="ellipse">
            <a:avLst/>
          </a:prstGeom>
          <a:solidFill>
            <a:srgbClr val="C79255"/>
          </a:solidFill>
        </p:spPr>
      </p:sp>
      <p:sp>
        <p:nvSpPr>
          <p:cNvPr id="80" name="Text 77"/>
          <p:cNvSpPr txBox="1"/>
          <p:nvPr/>
        </p:nvSpPr>
        <p:spPr>
          <a:xfrm>
            <a:off x="6720840" y="5285232"/>
            <a:ext cx="1371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28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工单转接</a:t>
            </a:r>
            <a:endParaRPr lang="en-US" sz="1200" dirty="0"/>
          </a:p>
        </p:txBody>
      </p:sp>
      <p:sp>
        <p:nvSpPr>
          <p:cNvPr id="81" name="Text 78"/>
          <p:cNvSpPr txBox="1"/>
          <p:nvPr/>
        </p:nvSpPr>
        <p:spPr>
          <a:xfrm>
            <a:off x="8129016" y="5303520"/>
            <a:ext cx="309981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D74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转至商家联系方式</a:t>
            </a:r>
            <a:endParaRPr lang="en-US" sz="1100" dirty="0"/>
          </a:p>
        </p:txBody>
      </p:sp>
      <p:sp>
        <p:nvSpPr>
          <p:cNvPr id="82" name="Shape 79"/>
          <p:cNvSpPr/>
          <p:nvPr/>
        </p:nvSpPr>
        <p:spPr>
          <a:xfrm>
            <a:off x="685800" y="5797296"/>
            <a:ext cx="10817352" cy="603504"/>
          </a:xfrm>
          <a:prstGeom prst="roundRect">
            <a:avLst>
              <a:gd name="adj" fmla="val 7576"/>
            </a:avLst>
          </a:prstGeom>
          <a:solidFill>
            <a:srgbClr val="F5EEE5"/>
          </a:solidFill>
        </p:spPr>
      </p:sp>
      <p:sp>
        <p:nvSpPr>
          <p:cNvPr id="83" name="Text 80"/>
          <p:cNvSpPr txBox="1"/>
          <p:nvPr/>
        </p:nvSpPr>
        <p:spPr>
          <a:xfrm>
            <a:off x="960120" y="5943600"/>
            <a:ext cx="1026871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A37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主平台的问答、科普、个体档案、选购参考与社区持续对公众开放，商家版是同一套能力的品类切片。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7925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06 · 收入来源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868680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28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以售宠套餐分成为主的收入结构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353312"/>
            <a:ext cx="804672" cy="32004"/>
          </a:xfrm>
          <a:prstGeom prst="rect">
            <a:avLst/>
          </a:prstGeom>
          <a:solidFill>
            <a:srgbClr val="C79255"/>
          </a:solidFill>
        </p:spPr>
      </p:sp>
      <p:pic>
        <p:nvPicPr>
          <p:cNvPr id="5" name="Image 0" descr="logo_ba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28632" y="310896"/>
            <a:ext cx="1874520" cy="74066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1517904"/>
            <a:ext cx="1081735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D74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付费动机来自售宠成交与耗材复购。节省人力属于成本项，付费意愿低于收入项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640080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AEA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PAWLY · 宝狸  |  项目路演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0771632" y="6400800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AEA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07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85800" y="1938528"/>
            <a:ext cx="6400800" cy="2377440"/>
          </a:xfrm>
          <a:prstGeom prst="roundRect">
            <a:avLst>
              <a:gd name="adj" fmla="val 2308"/>
            </a:avLst>
          </a:prstGeom>
          <a:solidFill>
            <a:srgbClr val="F5EEE5"/>
          </a:solidFill>
          <a:ln w="12700">
            <a:solidFill>
              <a:srgbClr val="E0B77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051560" y="2139696"/>
            <a:ext cx="45720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A37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主模型 · 售宠套餐分成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051560" y="2542032"/>
            <a:ext cx="56692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D74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商家售出一只宠物即包含一年养护顾问服务，按激活用户结算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1051560" y="2889504"/>
            <a:ext cx="2377440" cy="6766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C7925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20—30</a:t>
            </a:r>
            <a:endParaRPr lang="en-US" sz="4200" dirty="0"/>
          </a:p>
        </p:txBody>
      </p:sp>
      <p:sp>
        <p:nvSpPr>
          <p:cNvPr id="13" name="Text 10"/>
          <p:cNvSpPr txBox="1"/>
          <p:nvPr/>
        </p:nvSpPr>
        <p:spPr>
          <a:xfrm>
            <a:off x="3227832" y="3255264"/>
            <a:ext cx="1371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D74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元 / 激活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4526280" y="2962656"/>
            <a:ext cx="23774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250" b="1" dirty="0">
                <a:solidFill>
                  <a:srgbClr val="2E28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年售 200—500 只</a:t>
            </a:r>
            <a:endParaRPr lang="en-US" sz="125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250" b="1" dirty="0">
                <a:solidFill>
                  <a:srgbClr val="2E28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对应 4,000—15,000 元 / 年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1051560" y="3877056"/>
            <a:ext cx="5669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AEA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以中等规模异宠商家测算，待首家试点校准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7406640" y="1938528"/>
            <a:ext cx="4096512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8DFD3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644384" y="2048256"/>
            <a:ext cx="362102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A37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年费订阅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7644384" y="2322576"/>
            <a:ext cx="362102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D74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2,000—5,000 元 / 年（测算）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7406640" y="2761488"/>
            <a:ext cx="4096512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8DFD3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644384" y="2871216"/>
            <a:ext cx="362102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A37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商家版内用品分佣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7644384" y="3145536"/>
            <a:ext cx="362102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D74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主粮零食 3%—8%，用品 5%—12%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7406640" y="3584448"/>
            <a:ext cx="4096512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8DFD3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644384" y="3694176"/>
            <a:ext cx="362102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A37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品牌方内容包与洞察报告</a:t>
            </a:r>
            <a:endParaRPr lang="en-US" sz="1250" dirty="0"/>
          </a:p>
        </p:txBody>
      </p:sp>
      <p:sp>
        <p:nvSpPr>
          <p:cNvPr id="24" name="Text 21"/>
          <p:cNvSpPr txBox="1"/>
          <p:nvPr/>
        </p:nvSpPr>
        <p:spPr>
          <a:xfrm>
            <a:off x="7644384" y="3968496"/>
            <a:ext cx="362102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D74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单篇 300—1,500 元，第 7—12 个月启动</a:t>
            </a:r>
            <a:endParaRPr lang="en-US" sz="1050" dirty="0"/>
          </a:p>
        </p:txBody>
      </p:sp>
      <p:sp>
        <p:nvSpPr>
          <p:cNvPr id="25" name="Text 22"/>
          <p:cNvSpPr txBox="1"/>
          <p:nvPr/>
        </p:nvSpPr>
        <p:spPr>
          <a:xfrm>
            <a:off x="7406640" y="4553712"/>
            <a:ext cx="409651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4A37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推进顺序</a:t>
            </a:r>
            <a:endParaRPr lang="en-US" sz="1250" dirty="0"/>
          </a:p>
        </p:txBody>
      </p:sp>
      <p:sp>
        <p:nvSpPr>
          <p:cNvPr id="26" name="Text 23"/>
          <p:cNvSpPr txBox="1"/>
          <p:nvPr/>
        </p:nvSpPr>
        <p:spPr>
          <a:xfrm>
            <a:off x="7406640" y="4864608"/>
            <a:ext cx="4096512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00" dirty="0">
                <a:solidFill>
                  <a:srgbClr val="2E28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售宠分成打底  →  商家版内分佣  →  规模形成后转年费或混合  →  语料积累后提供洞察报告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685800" y="4572000"/>
            <a:ext cx="64008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7925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主平台不参与商品交易与分佣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685800" y="4974336"/>
            <a:ext cx="6400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200" dirty="0">
                <a:solidFill>
                  <a:srgbClr val="7D74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公众平台同时提供中立建议与商品销售会影响公信力，交易环节统一设置在标识明确的商家版内。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685800" y="5797296"/>
            <a:ext cx="10817352" cy="640080"/>
          </a:xfrm>
          <a:prstGeom prst="roundRect">
            <a:avLst>
              <a:gd name="adj" fmla="val 7143"/>
            </a:avLst>
          </a:prstGeom>
          <a:solidFill>
            <a:srgbClr val="F5EEE5"/>
          </a:solidFill>
        </p:spPr>
      </p:sp>
      <p:sp>
        <p:nvSpPr>
          <p:cNvPr id="30" name="Text 27"/>
          <p:cNvSpPr txBox="1"/>
          <p:nvPr/>
        </p:nvSpPr>
        <p:spPr>
          <a:xfrm>
            <a:off x="960120" y="5961888"/>
            <a:ext cx="1026871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A37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收入规模与商家销售规模同步增长，续费决策依据由支出转为收益。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7925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07 · 技术实现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868680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28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四层技术结构与商家差异边界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353312"/>
            <a:ext cx="804672" cy="32004"/>
          </a:xfrm>
          <a:prstGeom prst="rect">
            <a:avLst/>
          </a:prstGeom>
          <a:solidFill>
            <a:srgbClr val="C79255"/>
          </a:solidFill>
        </p:spPr>
      </p:sp>
      <p:pic>
        <p:nvPicPr>
          <p:cNvPr id="5" name="Image 0" descr="logo_ba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28632" y="310896"/>
            <a:ext cx="1874520" cy="74066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85800" y="640080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AEA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PAWLY · 宝狸  |  项目路演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0771632" y="6400800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AEA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08</a:t>
            </a:r>
            <a:endParaRPr lang="en-US" sz="900" dirty="0"/>
          </a:p>
        </p:txBody>
      </p:sp>
      <p:sp>
        <p:nvSpPr>
          <p:cNvPr id="34" name="Text 3"/>
          <p:cNvSpPr txBox="1"/>
          <p:nvPr/>
        </p:nvSpPr>
        <p:spPr>
          <a:xfrm>
            <a:off x="685800" y="1517904"/>
            <a:ext cx="1081735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D74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采用检索增强方案：异宠语料规模有限且更新频繁，知识维护以文档更新为主</a:t>
            </a:r>
            <a:endParaRPr lang="en-US" sz="1250" dirty="0"/>
          </a:p>
        </p:txBody>
      </p:sp>
      <p:sp>
        <p:nvSpPr>
          <p:cNvPr id="35" name="Rounded Rectangle 8"/>
          <p:cNvSpPr/>
          <p:nvPr/>
        </p:nvSpPr>
        <p:spPr>
          <a:xfrm>
            <a:off x="685800" y="2057400"/>
            <a:ext cx="6492240" cy="676656"/>
          </a:xfrm>
          <a:prstGeom prst="roundRect">
            <a:avLst>
              <a:gd name="adj" fmla="val 4000"/>
            </a:avLst>
          </a:prstGeom>
          <a:solidFill>
            <a:srgbClr val="F3EEE6"/>
          </a:solidFill>
          <a:ln w="8890">
            <a:solidFill>
              <a:srgbClr val="C79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9"/>
          <p:cNvSpPr/>
          <p:nvPr/>
        </p:nvSpPr>
        <p:spPr>
          <a:xfrm>
            <a:off x="905256" y="2249424"/>
            <a:ext cx="59436" cy="283464"/>
          </a:xfrm>
          <a:prstGeom prst="rect">
            <a:avLst/>
          </a:prstGeom>
          <a:solidFill>
            <a:srgbClr val="C79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10"/>
          <p:cNvSpPr txBox="1"/>
          <p:nvPr/>
        </p:nvSpPr>
        <p:spPr>
          <a:xfrm>
            <a:off x="1088136" y="2267712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82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20" b="1">
                <a:solidFill>
                  <a:srgbClr val="513F30"/>
                </a:solidFill>
                <a:latin typeface="微软雅黑"/>
                <a:ea typeface="微软雅黑"/>
                <a:cs typeface="微软雅黑"/>
              </a:rPr>
              <a:t>商家配置层</a:t>
            </a:r>
            <a:endParaRPr lang="zh-CN" sz="1520" b="1">
              <a:solidFill>
                <a:srgbClr val="513F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8" name="TextBox 11"/>
          <p:cNvSpPr txBox="1"/>
          <p:nvPr/>
        </p:nvSpPr>
        <p:spPr>
          <a:xfrm>
            <a:off x="2971800" y="2185416"/>
            <a:ext cx="2624328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47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80" b="0">
                <a:solidFill>
                  <a:srgbClr val="7D746C"/>
                </a:solidFill>
                <a:latin typeface="微软雅黑"/>
                <a:ea typeface="微软雅黑"/>
                <a:cs typeface="微软雅黑"/>
              </a:rPr>
              <a:t>标识、界面、开放品类、</a:t>
            </a:r>
            <a:endParaRPr lang="zh-CN" sz="1180" b="0">
              <a:solidFill>
                <a:srgbClr val="7D746C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ts val="147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80" b="0">
                <a:solidFill>
                  <a:srgbClr val="7D746C"/>
                </a:solidFill>
                <a:latin typeface="微软雅黑"/>
                <a:ea typeface="微软雅黑"/>
                <a:cs typeface="微软雅黑"/>
              </a:rPr>
              <a:t>商品库、工单转接</a:t>
            </a:r>
            <a:endParaRPr lang="zh-CN" sz="1180" b="0">
              <a:solidFill>
                <a:srgbClr val="7D746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9" name="TextBox 12"/>
          <p:cNvSpPr txBox="1"/>
          <p:nvPr/>
        </p:nvSpPr>
        <p:spPr>
          <a:xfrm>
            <a:off x="5742432" y="2295144"/>
            <a:ext cx="128016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22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20" b="1">
                <a:solidFill>
                  <a:srgbClr val="C79255"/>
                </a:solidFill>
                <a:latin typeface="微软雅黑"/>
                <a:ea typeface="微软雅黑"/>
                <a:cs typeface="微软雅黑"/>
              </a:rPr>
              <a:t>每家商家独有</a:t>
            </a:r>
            <a:endParaRPr lang="zh-CN" sz="1020" b="1">
              <a:solidFill>
                <a:srgbClr val="C792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Rounded Rectangle 13"/>
          <p:cNvSpPr/>
          <p:nvPr/>
        </p:nvSpPr>
        <p:spPr>
          <a:xfrm>
            <a:off x="685800" y="2889504"/>
            <a:ext cx="6492240" cy="67665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8890">
            <a:solidFill>
              <a:srgbClr val="E8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14"/>
          <p:cNvSpPr/>
          <p:nvPr/>
        </p:nvSpPr>
        <p:spPr>
          <a:xfrm>
            <a:off x="905256" y="3081528"/>
            <a:ext cx="59436" cy="283464"/>
          </a:xfrm>
          <a:prstGeom prst="rect">
            <a:avLst/>
          </a:prstGeom>
          <a:solidFill>
            <a:srgbClr val="7488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15"/>
          <p:cNvSpPr txBox="1"/>
          <p:nvPr/>
        </p:nvSpPr>
        <p:spPr>
          <a:xfrm>
            <a:off x="1088136" y="3099816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82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20" b="1">
                <a:solidFill>
                  <a:srgbClr val="513F30"/>
                </a:solidFill>
                <a:latin typeface="微软雅黑"/>
                <a:ea typeface="微软雅黑"/>
                <a:cs typeface="微软雅黑"/>
              </a:rPr>
              <a:t>品类知识库</a:t>
            </a:r>
            <a:endParaRPr lang="zh-CN" sz="1520" b="1">
              <a:solidFill>
                <a:srgbClr val="513F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3" name="TextBox 16"/>
          <p:cNvSpPr txBox="1"/>
          <p:nvPr/>
        </p:nvSpPr>
        <p:spPr>
          <a:xfrm>
            <a:off x="2971800" y="3017520"/>
            <a:ext cx="2624328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47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80" b="0">
                <a:solidFill>
                  <a:srgbClr val="7D746C"/>
                </a:solidFill>
                <a:latin typeface="微软雅黑"/>
                <a:ea typeface="微软雅黑"/>
                <a:cs typeface="微软雅黑"/>
              </a:rPr>
              <a:t>兔 · 爬宠 · 鹦鹉 · 水族 ⋯</a:t>
            </a:r>
            <a:endParaRPr lang="zh-CN" sz="1180" b="0">
              <a:solidFill>
                <a:srgbClr val="7D746C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ts val="147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80" b="0">
                <a:solidFill>
                  <a:srgbClr val="7D746C"/>
                </a:solidFill>
                <a:latin typeface="微软雅黑"/>
                <a:ea typeface="微软雅黑"/>
                <a:cs typeface="微软雅黑"/>
              </a:rPr>
              <a:t>按品类分册，循证标注</a:t>
            </a:r>
            <a:endParaRPr lang="zh-CN" sz="1180" b="0">
              <a:solidFill>
                <a:srgbClr val="7D746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4" name="TextBox 17"/>
          <p:cNvSpPr txBox="1"/>
          <p:nvPr/>
        </p:nvSpPr>
        <p:spPr>
          <a:xfrm>
            <a:off x="5742432" y="3127248"/>
            <a:ext cx="128016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22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20" b="1">
                <a:solidFill>
                  <a:srgbClr val="748871"/>
                </a:solidFill>
                <a:latin typeface="微软雅黑"/>
                <a:ea typeface="微软雅黑"/>
                <a:cs typeface="微软雅黑"/>
              </a:rPr>
              <a:t>按签约品类开放</a:t>
            </a:r>
            <a:endParaRPr lang="zh-CN" sz="1020" b="1">
              <a:solidFill>
                <a:srgbClr val="74887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5" name="Rounded Rectangle 18"/>
          <p:cNvSpPr/>
          <p:nvPr/>
        </p:nvSpPr>
        <p:spPr>
          <a:xfrm>
            <a:off x="685800" y="3721608"/>
            <a:ext cx="6492240" cy="67665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8890">
            <a:solidFill>
              <a:srgbClr val="E8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19"/>
          <p:cNvSpPr/>
          <p:nvPr/>
        </p:nvSpPr>
        <p:spPr>
          <a:xfrm>
            <a:off x="905256" y="3913632"/>
            <a:ext cx="59436" cy="283464"/>
          </a:xfrm>
          <a:prstGeom prst="rect">
            <a:avLst/>
          </a:prstGeom>
          <a:solidFill>
            <a:srgbClr val="513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20"/>
          <p:cNvSpPr txBox="1"/>
          <p:nvPr/>
        </p:nvSpPr>
        <p:spPr>
          <a:xfrm>
            <a:off x="1088136" y="3931920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82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20" b="1">
                <a:solidFill>
                  <a:srgbClr val="513F30"/>
                </a:solidFill>
                <a:latin typeface="微软雅黑"/>
                <a:ea typeface="微软雅黑"/>
                <a:cs typeface="微软雅黑"/>
              </a:rPr>
              <a:t>检索与生成层</a:t>
            </a:r>
            <a:endParaRPr lang="zh-CN" sz="1520" b="1">
              <a:solidFill>
                <a:srgbClr val="513F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8" name="TextBox 21"/>
          <p:cNvSpPr txBox="1"/>
          <p:nvPr/>
        </p:nvSpPr>
        <p:spPr>
          <a:xfrm>
            <a:off x="2971800" y="3849624"/>
            <a:ext cx="2624328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47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80" b="0">
                <a:solidFill>
                  <a:srgbClr val="7D746C"/>
                </a:solidFill>
                <a:latin typeface="微软雅黑"/>
                <a:ea typeface="微软雅黑"/>
                <a:cs typeface="微软雅黑"/>
              </a:rPr>
              <a:t>检索增强生成，答案携带</a:t>
            </a:r>
            <a:endParaRPr lang="zh-CN" sz="1180" b="0">
              <a:solidFill>
                <a:srgbClr val="7D746C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ts val="147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80" b="0">
                <a:solidFill>
                  <a:srgbClr val="7D746C"/>
                </a:solidFill>
                <a:latin typeface="微软雅黑"/>
                <a:ea typeface="微软雅黑"/>
                <a:cs typeface="微软雅黑"/>
              </a:rPr>
              <a:t>依据来源与免责声明</a:t>
            </a:r>
            <a:endParaRPr lang="zh-CN" sz="1180" b="0">
              <a:solidFill>
                <a:srgbClr val="7D746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9" name="TextBox 22"/>
          <p:cNvSpPr txBox="1"/>
          <p:nvPr/>
        </p:nvSpPr>
        <p:spPr>
          <a:xfrm>
            <a:off x="5742432" y="3959352"/>
            <a:ext cx="128016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22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20" b="1">
                <a:solidFill>
                  <a:srgbClr val="513F30"/>
                </a:solidFill>
                <a:latin typeface="微软雅黑"/>
                <a:ea typeface="微软雅黑"/>
                <a:cs typeface="微软雅黑"/>
              </a:rPr>
              <a:t>所有商家共用</a:t>
            </a:r>
            <a:endParaRPr lang="zh-CN" sz="1020" b="1">
              <a:solidFill>
                <a:srgbClr val="513F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0" name="Rounded Rectangle 23"/>
          <p:cNvSpPr/>
          <p:nvPr/>
        </p:nvSpPr>
        <p:spPr>
          <a:xfrm>
            <a:off x="685800" y="4553712"/>
            <a:ext cx="6492240" cy="676656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8890">
            <a:solidFill>
              <a:srgbClr val="E8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24"/>
          <p:cNvSpPr/>
          <p:nvPr/>
        </p:nvSpPr>
        <p:spPr>
          <a:xfrm>
            <a:off x="905256" y="4745736"/>
            <a:ext cx="59436" cy="283464"/>
          </a:xfrm>
          <a:prstGeom prst="rect">
            <a:avLst/>
          </a:prstGeom>
          <a:solidFill>
            <a:srgbClr val="513F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25"/>
          <p:cNvSpPr txBox="1"/>
          <p:nvPr/>
        </p:nvSpPr>
        <p:spPr>
          <a:xfrm>
            <a:off x="1088136" y="4764024"/>
            <a:ext cx="1783080" cy="2743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82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20" b="1">
                <a:solidFill>
                  <a:srgbClr val="513F30"/>
                </a:solidFill>
                <a:latin typeface="微软雅黑"/>
                <a:ea typeface="微软雅黑"/>
                <a:cs typeface="微软雅黑"/>
              </a:rPr>
              <a:t>底座模型</a:t>
            </a:r>
            <a:endParaRPr lang="zh-CN" sz="1520" b="1">
              <a:solidFill>
                <a:srgbClr val="513F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3" name="TextBox 26"/>
          <p:cNvSpPr txBox="1"/>
          <p:nvPr/>
        </p:nvSpPr>
        <p:spPr>
          <a:xfrm>
            <a:off x="2971800" y="4681728"/>
            <a:ext cx="2624328" cy="5120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47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80" b="0">
                <a:solidFill>
                  <a:srgbClr val="7D746C"/>
                </a:solidFill>
                <a:latin typeface="微软雅黑"/>
                <a:ea typeface="微软雅黑"/>
                <a:cs typeface="微软雅黑"/>
              </a:rPr>
              <a:t>接入已完成算法备案的</a:t>
            </a:r>
            <a:endParaRPr lang="zh-CN" sz="1180" b="0">
              <a:solidFill>
                <a:srgbClr val="7D746C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ts val="147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80" b="0">
                <a:solidFill>
                  <a:srgbClr val="7D746C"/>
                </a:solidFill>
                <a:latin typeface="微软雅黑"/>
                <a:ea typeface="微软雅黑"/>
                <a:cs typeface="微软雅黑"/>
              </a:rPr>
              <a:t>大模型服务</a:t>
            </a:r>
            <a:endParaRPr lang="zh-CN" sz="1180" b="0">
              <a:solidFill>
                <a:srgbClr val="7D746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4" name="TextBox 27"/>
          <p:cNvSpPr txBox="1"/>
          <p:nvPr/>
        </p:nvSpPr>
        <p:spPr>
          <a:xfrm>
            <a:off x="5742432" y="4791456"/>
            <a:ext cx="128016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22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20" b="1">
                <a:solidFill>
                  <a:srgbClr val="513F30"/>
                </a:solidFill>
                <a:latin typeface="微软雅黑"/>
                <a:ea typeface="微软雅黑"/>
                <a:cs typeface="微软雅黑"/>
              </a:rPr>
              <a:t>所有商家共用</a:t>
            </a:r>
            <a:endParaRPr lang="zh-CN" sz="1020" b="1">
              <a:solidFill>
                <a:srgbClr val="513F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5" name="Rounded Rectangle 33"/>
          <p:cNvSpPr/>
          <p:nvPr/>
        </p:nvSpPr>
        <p:spPr>
          <a:xfrm>
            <a:off x="7507224" y="4946904"/>
            <a:ext cx="3995928" cy="704088"/>
          </a:xfrm>
          <a:prstGeom prst="roundRect">
            <a:avLst>
              <a:gd name="adj" fmla="val 4000"/>
            </a:avLst>
          </a:prstGeom>
          <a:solidFill>
            <a:srgbClr val="F3EEE6"/>
          </a:solidFill>
          <a:ln w="8890">
            <a:solidFill>
              <a:srgbClr val="E8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34"/>
          <p:cNvSpPr txBox="1"/>
          <p:nvPr/>
        </p:nvSpPr>
        <p:spPr>
          <a:xfrm>
            <a:off x="7690104" y="5056632"/>
            <a:ext cx="1517904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49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40" b="1">
                <a:solidFill>
                  <a:srgbClr val="513F30"/>
                </a:solidFill>
                <a:latin typeface="微软雅黑"/>
                <a:ea typeface="微软雅黑"/>
                <a:cs typeface="微软雅黑"/>
              </a:rPr>
              <a:t>上线前置条件</a:t>
            </a:r>
            <a:endParaRPr lang="zh-CN" sz="1240" b="1">
              <a:solidFill>
                <a:srgbClr val="513F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7" name="TextBox 35"/>
          <p:cNvSpPr txBox="1"/>
          <p:nvPr/>
        </p:nvSpPr>
        <p:spPr>
          <a:xfrm>
            <a:off x="7690104" y="5349240"/>
            <a:ext cx="3630168" cy="20116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90" b="0">
                <a:solidFill>
                  <a:srgbClr val="7D746C"/>
                </a:solidFill>
                <a:latin typeface="微软雅黑"/>
                <a:ea typeface="微软雅黑"/>
                <a:cs typeface="微软雅黑"/>
              </a:rPr>
              <a:t>企业主体 + 深度合成类目</a:t>
            </a:r>
            <a:endParaRPr lang="zh-CN" sz="1190" b="0">
              <a:solidFill>
                <a:srgbClr val="7D746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8" name="Rectangle 36"/>
          <p:cNvSpPr/>
          <p:nvPr/>
        </p:nvSpPr>
        <p:spPr>
          <a:xfrm>
            <a:off x="685800" y="5879592"/>
            <a:ext cx="10817352" cy="475488"/>
          </a:xfrm>
          <a:prstGeom prst="rect">
            <a:avLst/>
          </a:prstGeom>
          <a:solidFill>
            <a:srgbClr val="F3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37"/>
          <p:cNvSpPr txBox="1"/>
          <p:nvPr/>
        </p:nvSpPr>
        <p:spPr>
          <a:xfrm>
            <a:off x="923544" y="5971031"/>
            <a:ext cx="10341864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41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65" b="1">
                <a:solidFill>
                  <a:srgbClr val="513F30"/>
                </a:solidFill>
                <a:latin typeface="微软雅黑"/>
                <a:ea typeface="微软雅黑"/>
                <a:cs typeface="微软雅黑"/>
              </a:rPr>
              <a:t>结构的好处</a:t>
            </a:r>
            <a:r>
              <a:rPr lang="en-US" altLang="zh-CN" sz="1265" b="1">
                <a:solidFill>
                  <a:srgbClr val="513F30"/>
                </a:solidFill>
                <a:latin typeface="微软雅黑"/>
                <a:ea typeface="微软雅黑"/>
                <a:cs typeface="微软雅黑"/>
              </a:rPr>
              <a:t>：</a:t>
            </a:r>
            <a:r>
              <a:rPr lang="zh-CN" sz="1265" b="1">
                <a:solidFill>
                  <a:srgbClr val="513F30"/>
                </a:solidFill>
                <a:latin typeface="微软雅黑"/>
                <a:ea typeface="微软雅黑"/>
                <a:cs typeface="微软雅黑"/>
              </a:rPr>
              <a:t>新增商家仅调整配置层，无需开发介入，半天完成上线；知识更新通过修改文档完成，无需重新训练模型。</a:t>
            </a:r>
            <a:endParaRPr lang="zh-CN" sz="1265" b="1">
              <a:solidFill>
                <a:srgbClr val="513F30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60" name="图片 5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9320" y="1893570"/>
            <a:ext cx="4820920" cy="2568575"/>
          </a:xfrm>
          <a:prstGeom prst="rect">
            <a:avLst/>
          </a:prstGeom>
        </p:spPr>
      </p:pic>
      <p:sp>
        <p:nvSpPr>
          <p:cNvPr id="61" name="文本框 60"/>
          <p:cNvSpPr txBox="1"/>
          <p:nvPr/>
        </p:nvSpPr>
        <p:spPr>
          <a:xfrm>
            <a:off x="7443470" y="4571365"/>
            <a:ext cx="423735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>
                <a:latin typeface="Songti SC" panose="02010800040101010101" charset="-122"/>
                <a:ea typeface="Songti SC" panose="02010800040101010101" charset="-122"/>
              </a:rPr>
              <a:t>图</a:t>
            </a:r>
            <a:r>
              <a:rPr lang="en-US" altLang="zh-CN" sz="1200">
                <a:latin typeface="Songti SC" panose="02010800040101010101" charset="-122"/>
                <a:ea typeface="Songti SC" panose="02010800040101010101" charset="-122"/>
              </a:rPr>
              <a:t>. </a:t>
            </a:r>
            <a:r>
              <a:rPr lang="zh-CN" altLang="en-US" sz="1200">
                <a:latin typeface="Songti SC" panose="02010800040101010101" charset="-122"/>
                <a:ea typeface="Songti SC" panose="02010800040101010101" charset="-122"/>
              </a:rPr>
              <a:t>某科普性文案的来源说明</a:t>
            </a:r>
            <a:endParaRPr lang="zh-CN" altLang="en-US" sz="1200">
              <a:latin typeface="Songti SC" panose="02010800040101010101" charset="-122"/>
              <a:ea typeface="Songti SC" panose="02010800040101010101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7925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08 · 模式可行性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868680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28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单家部署人力投入的下降曲线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353312"/>
            <a:ext cx="804672" cy="32004"/>
          </a:xfrm>
          <a:prstGeom prst="rect">
            <a:avLst/>
          </a:prstGeom>
          <a:solidFill>
            <a:srgbClr val="C79255"/>
          </a:solidFill>
        </p:spPr>
      </p:sp>
      <p:pic>
        <p:nvPicPr>
          <p:cNvPr id="5" name="Image 0" descr="logo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8632" y="310896"/>
            <a:ext cx="1874520" cy="74066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1517904"/>
            <a:ext cx="1081735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D74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首家部署形成的模板可直接用于后续商家，构成规模化的前提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640080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AEA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PAWLY · 宝狸  |  项目路演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0771632" y="6400800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AEA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09</a:t>
            </a:r>
            <a:endParaRPr lang="en-US" sz="90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685800" y="2011680"/>
          <a:ext cx="6766560" cy="2788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685800" y="4846320"/>
            <a:ext cx="67665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AEA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单位：人时；为内部测算，随首批试点校准</a:t>
            </a:r>
            <a:endParaRPr lang="en-US" sz="1050" dirty="0"/>
          </a:p>
        </p:txBody>
      </p:sp>
      <p:sp>
        <p:nvSpPr>
          <p:cNvPr id="11" name="Text 7"/>
          <p:cNvSpPr txBox="1"/>
          <p:nvPr/>
        </p:nvSpPr>
        <p:spPr>
          <a:xfrm>
            <a:off x="7863840" y="2011680"/>
            <a:ext cx="363931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37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下降来源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7863840" y="2505456"/>
            <a:ext cx="128016" cy="128016"/>
          </a:xfrm>
          <a:prstGeom prst="ellipse">
            <a:avLst/>
          </a:prstGeom>
          <a:solidFill>
            <a:srgbClr val="C79255"/>
          </a:solidFill>
        </p:spPr>
      </p:sp>
      <p:sp>
        <p:nvSpPr>
          <p:cNvPr id="13" name="Text 9"/>
          <p:cNvSpPr txBox="1"/>
          <p:nvPr/>
        </p:nvSpPr>
        <p:spPr>
          <a:xfrm>
            <a:off x="8101584" y="2450592"/>
            <a:ext cx="340156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28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品类知识库复用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8101584" y="2743200"/>
            <a:ext cx="340156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7D74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同品类的后续商家无需重建内容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7863840" y="3291840"/>
            <a:ext cx="128016" cy="128016"/>
          </a:xfrm>
          <a:prstGeom prst="ellipse">
            <a:avLst/>
          </a:prstGeom>
          <a:solidFill>
            <a:srgbClr val="C79255"/>
          </a:solidFill>
        </p:spPr>
      </p:sp>
      <p:sp>
        <p:nvSpPr>
          <p:cNvPr id="16" name="Text 12"/>
          <p:cNvSpPr txBox="1"/>
          <p:nvPr/>
        </p:nvSpPr>
        <p:spPr>
          <a:xfrm>
            <a:off x="8101584" y="3236976"/>
            <a:ext cx="340156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28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配置项标准化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8101584" y="3529584"/>
            <a:ext cx="340156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7D74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首家验证过的参数固化为默认值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7863840" y="4078224"/>
            <a:ext cx="128016" cy="128016"/>
          </a:xfrm>
          <a:prstGeom prst="ellipse">
            <a:avLst/>
          </a:prstGeom>
          <a:solidFill>
            <a:srgbClr val="C79255"/>
          </a:solidFill>
        </p:spPr>
      </p:sp>
      <p:sp>
        <p:nvSpPr>
          <p:cNvPr id="19" name="Text 15"/>
          <p:cNvSpPr txBox="1"/>
          <p:nvPr/>
        </p:nvSpPr>
        <p:spPr>
          <a:xfrm>
            <a:off x="8101584" y="4023360"/>
            <a:ext cx="340156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28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交付流程模板化</a:t>
            </a:r>
            <a:endParaRPr lang="en-US" sz="1300" dirty="0"/>
          </a:p>
        </p:txBody>
      </p:sp>
      <p:sp>
        <p:nvSpPr>
          <p:cNvPr id="20" name="Text 16"/>
          <p:cNvSpPr txBox="1"/>
          <p:nvPr/>
        </p:nvSpPr>
        <p:spPr>
          <a:xfrm>
            <a:off x="8101584" y="4315968"/>
            <a:ext cx="3401568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7D74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签约、导入、培训形成固定动作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7863840" y="4809744"/>
            <a:ext cx="3639312" cy="969264"/>
          </a:xfrm>
          <a:prstGeom prst="roundRect">
            <a:avLst>
              <a:gd name="adj" fmla="val 5660"/>
            </a:avLst>
          </a:prstGeom>
          <a:solidFill>
            <a:srgbClr val="F5EEE5"/>
          </a:solidFill>
          <a:ln w="12700">
            <a:solidFill>
              <a:srgbClr val="E0B77F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8101584" y="4956048"/>
            <a:ext cx="3163824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37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规模化临界点</a:t>
            </a:r>
            <a:endParaRPr lang="en-US" sz="1200" dirty="0"/>
          </a:p>
        </p:txBody>
      </p:sp>
      <p:sp>
        <p:nvSpPr>
          <p:cNvPr id="23" name="Text 19"/>
          <p:cNvSpPr txBox="1"/>
          <p:nvPr/>
        </p:nvSpPr>
        <p:spPr>
          <a:xfrm>
            <a:off x="8101584" y="5248656"/>
            <a:ext cx="3163824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7D74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单品类累计部署约 10 家后，新增商家不再需要开发介入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685800" y="5888736"/>
            <a:ext cx="10817352" cy="566928"/>
          </a:xfrm>
          <a:prstGeom prst="roundRect">
            <a:avLst>
              <a:gd name="adj" fmla="val 8065"/>
            </a:avLst>
          </a:prstGeom>
          <a:solidFill>
            <a:srgbClr val="F5EEE5"/>
          </a:solidFill>
        </p:spPr>
      </p:sp>
      <p:sp>
        <p:nvSpPr>
          <p:cNvPr id="25" name="Text 21"/>
          <p:cNvSpPr txBox="1"/>
          <p:nvPr/>
        </p:nvSpPr>
        <p:spPr>
          <a:xfrm>
            <a:off x="960120" y="6016752"/>
            <a:ext cx="1026871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A37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部署动作限于配置项填写，交付物为同一份代码的不同配置态。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7925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09 · 数据回流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868680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28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由点及面的知识沉淀路径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353312"/>
            <a:ext cx="804672" cy="32004"/>
          </a:xfrm>
          <a:prstGeom prst="rect">
            <a:avLst/>
          </a:prstGeom>
          <a:solidFill>
            <a:srgbClr val="C79255"/>
          </a:solidFill>
        </p:spPr>
      </p:sp>
      <p:pic>
        <p:nvPicPr>
          <p:cNvPr id="5" name="Image 0" descr="logo_ba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28632" y="310896"/>
            <a:ext cx="1874520" cy="74066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1517904"/>
            <a:ext cx="1081735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D74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每一次部署与使用产生的领域经验回流至核心知识库，覆盖面与置信度随商家与品类数量提升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640080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AEA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PAWLY · 宝狸  |  项目路演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0771632" y="6400800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AEA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85800" y="2048256"/>
            <a:ext cx="3456432" cy="1810512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E8DFD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78408" y="2267712"/>
            <a:ext cx="512064" cy="512064"/>
          </a:xfrm>
          <a:prstGeom prst="ellipse">
            <a:avLst/>
          </a:prstGeom>
          <a:solidFill>
            <a:srgbClr val="4A3729"/>
          </a:solidFill>
        </p:spPr>
      </p:sp>
      <p:sp>
        <p:nvSpPr>
          <p:cNvPr id="11" name="Text 8"/>
          <p:cNvSpPr txBox="1"/>
          <p:nvPr/>
        </p:nvSpPr>
        <p:spPr>
          <a:xfrm>
            <a:off x="978408" y="2377440"/>
            <a:ext cx="51206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点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1618488" y="2377440"/>
            <a:ext cx="223113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4A37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单家商家与其顾客</a:t>
            </a:r>
            <a:endParaRPr lang="en-US" sz="1550" dirty="0"/>
          </a:p>
        </p:txBody>
      </p:sp>
      <p:sp>
        <p:nvSpPr>
          <p:cNvPr id="13" name="Text 10"/>
          <p:cNvSpPr txBox="1"/>
          <p:nvPr/>
        </p:nvSpPr>
        <p:spPr>
          <a:xfrm>
            <a:off x="978408" y="2944368"/>
            <a:ext cx="2871216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7D74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真实问答、饲养环境参数、商品选择与售后记录，构成单点的原始素材。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160520" y="2834640"/>
            <a:ext cx="219456" cy="201168"/>
          </a:xfrm>
          <a:prstGeom prst="rightArrow">
            <a:avLst/>
          </a:prstGeom>
          <a:solidFill>
            <a:srgbClr val="E0B77F"/>
          </a:solidFill>
        </p:spPr>
      </p:sp>
      <p:sp>
        <p:nvSpPr>
          <p:cNvPr id="15" name="Shape 12"/>
          <p:cNvSpPr/>
          <p:nvPr/>
        </p:nvSpPr>
        <p:spPr>
          <a:xfrm>
            <a:off x="4398264" y="2048256"/>
            <a:ext cx="3456432" cy="1810512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E8DFD3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690872" y="2267712"/>
            <a:ext cx="512064" cy="512064"/>
          </a:xfrm>
          <a:prstGeom prst="ellipse">
            <a:avLst/>
          </a:prstGeom>
          <a:solidFill>
            <a:srgbClr val="C79255"/>
          </a:solidFill>
        </p:spPr>
      </p:sp>
      <p:sp>
        <p:nvSpPr>
          <p:cNvPr id="17" name="Text 14"/>
          <p:cNvSpPr txBox="1"/>
          <p:nvPr/>
        </p:nvSpPr>
        <p:spPr>
          <a:xfrm>
            <a:off x="4690872" y="2377440"/>
            <a:ext cx="51206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线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5330952" y="2377440"/>
            <a:ext cx="223113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4A37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同品类多家商家</a:t>
            </a:r>
            <a:endParaRPr lang="en-US" sz="1550" dirty="0"/>
          </a:p>
        </p:txBody>
      </p:sp>
      <p:sp>
        <p:nvSpPr>
          <p:cNvPr id="19" name="Text 16"/>
          <p:cNvSpPr txBox="1"/>
          <p:nvPr/>
        </p:nvSpPr>
        <p:spPr>
          <a:xfrm>
            <a:off x="4690872" y="2944368"/>
            <a:ext cx="2871216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7D74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同一条养护建议在多个个体上获得结果反馈，沉淀为该品类的知识分册与话术模板。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872984" y="2834640"/>
            <a:ext cx="219456" cy="201168"/>
          </a:xfrm>
          <a:prstGeom prst="rightArrow">
            <a:avLst/>
          </a:prstGeom>
          <a:solidFill>
            <a:srgbClr val="E0B77F"/>
          </a:solidFill>
        </p:spPr>
      </p:sp>
      <p:sp>
        <p:nvSpPr>
          <p:cNvPr id="21" name="Shape 18"/>
          <p:cNvSpPr/>
          <p:nvPr/>
        </p:nvSpPr>
        <p:spPr>
          <a:xfrm>
            <a:off x="8110728" y="2048256"/>
            <a:ext cx="3456432" cy="1810512"/>
          </a:xfrm>
          <a:prstGeom prst="roundRect">
            <a:avLst>
              <a:gd name="adj" fmla="val 3030"/>
            </a:avLst>
          </a:prstGeom>
          <a:solidFill>
            <a:srgbClr val="F5EEE5"/>
          </a:solidFill>
          <a:ln w="12700">
            <a:solidFill>
              <a:srgbClr val="C79255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403336" y="2267712"/>
            <a:ext cx="512064" cy="512064"/>
          </a:xfrm>
          <a:prstGeom prst="ellipse">
            <a:avLst/>
          </a:prstGeom>
          <a:solidFill>
            <a:srgbClr val="72866F"/>
          </a:solidFill>
        </p:spPr>
      </p:sp>
      <p:sp>
        <p:nvSpPr>
          <p:cNvPr id="23" name="Text 20"/>
          <p:cNvSpPr txBox="1"/>
          <p:nvPr/>
        </p:nvSpPr>
        <p:spPr>
          <a:xfrm>
            <a:off x="8403336" y="2377440"/>
            <a:ext cx="51206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面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9043416" y="2377440"/>
            <a:ext cx="2231136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4A37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跨品类与跨区域</a:t>
            </a:r>
            <a:endParaRPr lang="en-US" sz="1550" dirty="0"/>
          </a:p>
        </p:txBody>
      </p:sp>
      <p:sp>
        <p:nvSpPr>
          <p:cNvPr id="25" name="Text 22"/>
          <p:cNvSpPr txBox="1"/>
          <p:nvPr/>
        </p:nvSpPr>
        <p:spPr>
          <a:xfrm>
            <a:off x="8403336" y="2944368"/>
            <a:ext cx="2871216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7D74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品类之间共用同一套结构，个体档案在商家之间迁移，形成覆盖多品类的知识网络。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685800" y="4041648"/>
            <a:ext cx="4572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37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回流至核心知识库的四类内容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685800" y="4407408"/>
            <a:ext cx="2553462" cy="1133856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2700">
            <a:solidFill>
              <a:srgbClr val="E8DFD3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923544" y="4608576"/>
            <a:ext cx="109728" cy="182880"/>
          </a:xfrm>
          <a:prstGeom prst="rect">
            <a:avLst/>
          </a:prstGeom>
          <a:solidFill>
            <a:srgbClr val="C79255"/>
          </a:solidFill>
        </p:spPr>
      </p:sp>
      <p:sp>
        <p:nvSpPr>
          <p:cNvPr id="29" name="Text 26"/>
          <p:cNvSpPr txBox="1"/>
          <p:nvPr/>
        </p:nvSpPr>
        <p:spPr>
          <a:xfrm>
            <a:off x="1143000" y="4590288"/>
            <a:ext cx="185851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28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问答语料</a:t>
            </a:r>
            <a:endParaRPr lang="en-US" sz="1250" dirty="0"/>
          </a:p>
        </p:txBody>
      </p:sp>
      <p:sp>
        <p:nvSpPr>
          <p:cNvPr id="30" name="Text 27"/>
          <p:cNvSpPr txBox="1"/>
          <p:nvPr/>
        </p:nvSpPr>
        <p:spPr>
          <a:xfrm>
            <a:off x="923544" y="4956048"/>
            <a:ext cx="207797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7D74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暴露知识库的覆盖缺口，补齐后提升应答范围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3440430" y="4407408"/>
            <a:ext cx="2553462" cy="1133856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2700">
            <a:solidFill>
              <a:srgbClr val="E8DFD3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678174" y="4608576"/>
            <a:ext cx="109728" cy="182880"/>
          </a:xfrm>
          <a:prstGeom prst="rect">
            <a:avLst/>
          </a:prstGeom>
          <a:solidFill>
            <a:srgbClr val="C79255"/>
          </a:solidFill>
        </p:spPr>
      </p:sp>
      <p:sp>
        <p:nvSpPr>
          <p:cNvPr id="33" name="Text 30"/>
          <p:cNvSpPr txBox="1"/>
          <p:nvPr/>
        </p:nvSpPr>
        <p:spPr>
          <a:xfrm>
            <a:off x="3897630" y="4590288"/>
            <a:ext cx="185851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28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商品与库存结构</a:t>
            </a:r>
            <a:endParaRPr lang="en-US" sz="1250" dirty="0"/>
          </a:p>
        </p:txBody>
      </p:sp>
      <p:sp>
        <p:nvSpPr>
          <p:cNvPr id="34" name="Text 31"/>
          <p:cNvSpPr txBox="1"/>
          <p:nvPr/>
        </p:nvSpPr>
        <p:spPr>
          <a:xfrm>
            <a:off x="3678174" y="4956048"/>
            <a:ext cx="207797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7D74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形成各品类的选品标准与商品匹配规则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6195060" y="4407408"/>
            <a:ext cx="2553462" cy="1133856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2700">
            <a:solidFill>
              <a:srgbClr val="E8DFD3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6432804" y="4608576"/>
            <a:ext cx="109728" cy="182880"/>
          </a:xfrm>
          <a:prstGeom prst="rect">
            <a:avLst/>
          </a:prstGeom>
          <a:solidFill>
            <a:srgbClr val="C79255"/>
          </a:solidFill>
        </p:spPr>
      </p:sp>
      <p:sp>
        <p:nvSpPr>
          <p:cNvPr id="37" name="Text 34"/>
          <p:cNvSpPr txBox="1"/>
          <p:nvPr/>
        </p:nvSpPr>
        <p:spPr>
          <a:xfrm>
            <a:off x="6652260" y="4590288"/>
            <a:ext cx="185851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28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个体档案与养护结果</a:t>
            </a:r>
            <a:endParaRPr lang="en-US" sz="1250" dirty="0"/>
          </a:p>
        </p:txBody>
      </p:sp>
      <p:sp>
        <p:nvSpPr>
          <p:cNvPr id="38" name="Text 35"/>
          <p:cNvSpPr txBox="1"/>
          <p:nvPr/>
        </p:nvSpPr>
        <p:spPr>
          <a:xfrm>
            <a:off x="6432804" y="4956048"/>
            <a:ext cx="207797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7D74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使建议获得可追溯的效果反馈，提升置信度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8949690" y="4407408"/>
            <a:ext cx="2553462" cy="1133856"/>
          </a:xfrm>
          <a:prstGeom prst="roundRect">
            <a:avLst>
              <a:gd name="adj" fmla="val 4839"/>
            </a:avLst>
          </a:prstGeom>
          <a:solidFill>
            <a:srgbClr val="FFFFFF"/>
          </a:solidFill>
          <a:ln w="12700">
            <a:solidFill>
              <a:srgbClr val="E8DFD3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9187434" y="4608576"/>
            <a:ext cx="109728" cy="182880"/>
          </a:xfrm>
          <a:prstGeom prst="rect">
            <a:avLst/>
          </a:prstGeom>
          <a:solidFill>
            <a:srgbClr val="C79255"/>
          </a:solidFill>
        </p:spPr>
      </p:sp>
      <p:sp>
        <p:nvSpPr>
          <p:cNvPr id="41" name="Text 38"/>
          <p:cNvSpPr txBox="1"/>
          <p:nvPr/>
        </p:nvSpPr>
        <p:spPr>
          <a:xfrm>
            <a:off x="9406890" y="4590288"/>
            <a:ext cx="185851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28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部署配置与话术模板</a:t>
            </a:r>
            <a:endParaRPr lang="en-US" sz="1250" dirty="0"/>
          </a:p>
        </p:txBody>
      </p:sp>
      <p:sp>
        <p:nvSpPr>
          <p:cNvPr id="42" name="Text 39"/>
          <p:cNvSpPr txBox="1"/>
          <p:nvPr/>
        </p:nvSpPr>
        <p:spPr>
          <a:xfrm>
            <a:off x="9187434" y="4956048"/>
            <a:ext cx="2077974" cy="5120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7D74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沉淀为后续商家的默认配置，缩短上线周期</a:t>
            </a:r>
            <a:endParaRPr lang="en-US" sz="1100" dirty="0"/>
          </a:p>
        </p:txBody>
      </p:sp>
      <p:sp>
        <p:nvSpPr>
          <p:cNvPr id="43" name="Shape 40"/>
          <p:cNvSpPr/>
          <p:nvPr/>
        </p:nvSpPr>
        <p:spPr>
          <a:xfrm>
            <a:off x="685800" y="5724144"/>
            <a:ext cx="10817352" cy="603504"/>
          </a:xfrm>
          <a:prstGeom prst="roundRect">
            <a:avLst>
              <a:gd name="adj" fmla="val 7576"/>
            </a:avLst>
          </a:prstGeom>
          <a:solidFill>
            <a:srgbClr val="F5EEE5"/>
          </a:solidFill>
        </p:spPr>
      </p:sp>
      <p:sp>
        <p:nvSpPr>
          <p:cNvPr id="44" name="Text 41"/>
          <p:cNvSpPr txBox="1"/>
          <p:nvPr/>
        </p:nvSpPr>
        <p:spPr>
          <a:xfrm>
            <a:off x="960120" y="5870448"/>
            <a:ext cx="1026871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A37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品类之间共用同一套结构，新增品类只需补充内容；核心知识库的价值不随单家商家的变动而减少。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7925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 · 产业壁垒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868680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28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入口、数据与关系三层壁垒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353312"/>
            <a:ext cx="804672" cy="32004"/>
          </a:xfrm>
          <a:prstGeom prst="rect">
            <a:avLst/>
          </a:prstGeom>
          <a:solidFill>
            <a:srgbClr val="C79255"/>
          </a:solidFill>
        </p:spPr>
      </p:sp>
      <p:pic>
        <p:nvPicPr>
          <p:cNvPr id="5" name="Image 0" descr="logo_ba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28632" y="310896"/>
            <a:ext cx="1874520" cy="74066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1517904"/>
            <a:ext cx="1081735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D74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上一页的沉淀在此形成三项资产，均独立于上游模型的版本更新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640080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AEA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PAWLY · 宝狸  |  项目路演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0771632" y="6400800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AEA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85800" y="2084832"/>
            <a:ext cx="3456432" cy="251460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12700">
            <a:solidFill>
              <a:srgbClr val="E8DFD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996696" y="2304288"/>
            <a:ext cx="2834640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C7925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入口</a:t>
            </a:r>
            <a:endParaRPr lang="en-US" sz="2500" dirty="0"/>
          </a:p>
        </p:txBody>
      </p:sp>
      <p:sp>
        <p:nvSpPr>
          <p:cNvPr id="11" name="Text 8"/>
          <p:cNvSpPr txBox="1"/>
          <p:nvPr/>
        </p:nvSpPr>
        <p:spPr>
          <a:xfrm>
            <a:off x="996696" y="2944368"/>
            <a:ext cx="28346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4A37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商家私域场景中随宠物交付的扫码入口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996696" y="3840480"/>
            <a:ext cx="28346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7D74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通用产品难以进入单个商家的售后流程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398264" y="2084832"/>
            <a:ext cx="3456432" cy="251460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12700">
            <a:solidFill>
              <a:srgbClr val="E8DFD3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709160" y="2304288"/>
            <a:ext cx="2834640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C7925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</a:t>
            </a:r>
            <a:endParaRPr lang="en-US" sz="2500" dirty="0"/>
          </a:p>
        </p:txBody>
      </p:sp>
      <p:sp>
        <p:nvSpPr>
          <p:cNvPr id="15" name="Text 12"/>
          <p:cNvSpPr txBox="1"/>
          <p:nvPr/>
        </p:nvSpPr>
        <p:spPr>
          <a:xfrm>
            <a:off x="4709160" y="2944368"/>
            <a:ext cx="28346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4A37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品类知识库、商品匹配规则与养护结果记录</a:t>
            </a:r>
            <a:endParaRPr lang="en-US" sz="1350" dirty="0"/>
          </a:p>
        </p:txBody>
      </p:sp>
      <p:sp>
        <p:nvSpPr>
          <p:cNvPr id="16" name="Text 13"/>
          <p:cNvSpPr txBox="1"/>
          <p:nvPr/>
        </p:nvSpPr>
        <p:spPr>
          <a:xfrm>
            <a:off x="4709160" y="3840480"/>
            <a:ext cx="28346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7D74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通用模型不掌握单店商品与个体养护轨迹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8110728" y="2084832"/>
            <a:ext cx="3456432" cy="251460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12700">
            <a:solidFill>
              <a:srgbClr val="E8DFD3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421624" y="2304288"/>
            <a:ext cx="2834640" cy="49377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C7925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关系</a:t>
            </a:r>
            <a:endParaRPr lang="en-US" sz="2500" dirty="0"/>
          </a:p>
        </p:txBody>
      </p:sp>
      <p:sp>
        <p:nvSpPr>
          <p:cNvPr id="19" name="Text 16"/>
          <p:cNvSpPr txBox="1"/>
          <p:nvPr/>
        </p:nvSpPr>
        <p:spPr>
          <a:xfrm>
            <a:off x="8421624" y="2944368"/>
            <a:ext cx="28346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4A37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宠物个体档案与连续的养护跟踪记录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8421624" y="3840480"/>
            <a:ext cx="283464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7D74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单次对话难以形成连续的养护记录</a:t>
            </a:r>
            <a:endParaRPr lang="en-US" sz="1150" dirty="0"/>
          </a:p>
        </p:txBody>
      </p:sp>
      <p:sp>
        <p:nvSpPr>
          <p:cNvPr id="21" name="Text 18"/>
          <p:cNvSpPr txBox="1"/>
          <p:nvPr/>
        </p:nvSpPr>
        <p:spPr>
          <a:xfrm>
            <a:off x="685800" y="4828032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37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合规边界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2103120" y="4828032"/>
            <a:ext cx="93268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E28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仅提供养护知识与选购参考，不替代兽医诊断；内容由兽医与训犬师撰写，异宠医生署名审校。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685800" y="5230368"/>
            <a:ext cx="18288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37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数据授权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2103120" y="5230368"/>
            <a:ext cx="932688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E28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商家合同中约定脱敏与聚合使用范围，回流数据仅用于改进知识库。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685800" y="5797296"/>
            <a:ext cx="10817352" cy="640080"/>
          </a:xfrm>
          <a:prstGeom prst="roundRect">
            <a:avLst>
              <a:gd name="adj" fmla="val 7143"/>
            </a:avLst>
          </a:prstGeom>
          <a:solidFill>
            <a:srgbClr val="F5EEE5"/>
          </a:solidFill>
        </p:spPr>
      </p:sp>
      <p:sp>
        <p:nvSpPr>
          <p:cNvPr id="26" name="Text 23"/>
          <p:cNvSpPr txBox="1"/>
          <p:nvPr/>
        </p:nvSpPr>
        <p:spPr>
          <a:xfrm>
            <a:off x="960120" y="5961888"/>
            <a:ext cx="1026871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A37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复制这三项资产需要逐家进入商家的售后场景，并积累同等时长的养护记录。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7925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 · 验证计划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868680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28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八周验证计划与关键节点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353312"/>
            <a:ext cx="804672" cy="32004"/>
          </a:xfrm>
          <a:prstGeom prst="rect">
            <a:avLst/>
          </a:prstGeom>
          <a:solidFill>
            <a:srgbClr val="C79255"/>
          </a:solidFill>
        </p:spPr>
      </p:sp>
      <p:pic>
        <p:nvPicPr>
          <p:cNvPr id="5" name="Image 0" descr="logo_ba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28632" y="310896"/>
            <a:ext cx="1874520" cy="74066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640080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AEA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PAWLY · 宝狸  |  项目路演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0771632" y="6400800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AEA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685800" y="1965960"/>
            <a:ext cx="2624328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E8DFD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60120" y="2176272"/>
            <a:ext cx="2075688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37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1—2 周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960120" y="2596896"/>
            <a:ext cx="2075688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250" dirty="0">
                <a:solidFill>
                  <a:srgbClr val="2E28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门店调研 15—20 家</a:t>
            </a:r>
            <a:endParaRPr lang="en-US" sz="125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250" dirty="0">
                <a:solidFill>
                  <a:srgbClr val="2E28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其中异宠商家不少于 8 家</a:t>
            </a:r>
            <a:endParaRPr lang="en-US" sz="125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250" dirty="0">
                <a:solidFill>
                  <a:srgbClr val="2E28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首批品类知识库撰写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3319272" y="3054096"/>
            <a:ext cx="155448" cy="201168"/>
          </a:xfrm>
          <a:prstGeom prst="rightArrow">
            <a:avLst/>
          </a:prstGeom>
          <a:solidFill>
            <a:srgbClr val="E0B77F"/>
          </a:solidFill>
        </p:spPr>
      </p:sp>
      <p:sp>
        <p:nvSpPr>
          <p:cNvPr id="12" name="Shape 9"/>
          <p:cNvSpPr/>
          <p:nvPr/>
        </p:nvSpPr>
        <p:spPr>
          <a:xfrm>
            <a:off x="3483864" y="1965960"/>
            <a:ext cx="2624328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E8DFD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758184" y="2176272"/>
            <a:ext cx="2075688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37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3—4 周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3758184" y="2596896"/>
            <a:ext cx="2075688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250" dirty="0">
                <a:solidFill>
                  <a:srgbClr val="2E28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配置层与商家版模板</a:t>
            </a:r>
            <a:endParaRPr lang="en-US" sz="125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250" dirty="0">
                <a:solidFill>
                  <a:srgbClr val="2E28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深度合成类目申请</a:t>
            </a:r>
            <a:endParaRPr lang="en-US" sz="125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250" dirty="0">
                <a:solidFill>
                  <a:srgbClr val="2E28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异宠医生审校对接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117336" y="3054096"/>
            <a:ext cx="155448" cy="201168"/>
          </a:xfrm>
          <a:prstGeom prst="rightArrow">
            <a:avLst/>
          </a:prstGeom>
          <a:solidFill>
            <a:srgbClr val="E0B77F"/>
          </a:solidFill>
        </p:spPr>
      </p:sp>
      <p:sp>
        <p:nvSpPr>
          <p:cNvPr id="16" name="Shape 13"/>
          <p:cNvSpPr/>
          <p:nvPr/>
        </p:nvSpPr>
        <p:spPr>
          <a:xfrm>
            <a:off x="6281928" y="1965960"/>
            <a:ext cx="2624328" cy="2377440"/>
          </a:xfrm>
          <a:prstGeom prst="roundRect">
            <a:avLst>
              <a:gd name="adj" fmla="val 2308"/>
            </a:avLst>
          </a:prstGeom>
          <a:solidFill>
            <a:srgbClr val="F5EEE5"/>
          </a:solidFill>
          <a:ln w="12700">
            <a:solidFill>
              <a:srgbClr val="C79255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556248" y="2176272"/>
            <a:ext cx="2075688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7925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5—6 周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6556248" y="2596896"/>
            <a:ext cx="2075688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250" dirty="0">
                <a:solidFill>
                  <a:srgbClr val="2E28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首家商家上线并收费</a:t>
            </a:r>
            <a:endParaRPr lang="en-US" sz="125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250" dirty="0">
                <a:solidFill>
                  <a:srgbClr val="2E28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获得真实激活数据</a:t>
            </a:r>
            <a:endParaRPr lang="en-US" sz="125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250" dirty="0">
                <a:solidFill>
                  <a:srgbClr val="2E28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形成完整交付流程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8915400" y="3054096"/>
            <a:ext cx="155448" cy="201168"/>
          </a:xfrm>
          <a:prstGeom prst="rightArrow">
            <a:avLst/>
          </a:prstGeom>
          <a:solidFill>
            <a:srgbClr val="E0B77F"/>
          </a:solidFill>
        </p:spPr>
      </p:sp>
      <p:sp>
        <p:nvSpPr>
          <p:cNvPr id="20" name="Shape 17"/>
          <p:cNvSpPr/>
          <p:nvPr/>
        </p:nvSpPr>
        <p:spPr>
          <a:xfrm>
            <a:off x="9079992" y="1965960"/>
            <a:ext cx="2624328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E8DFD3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354312" y="2176272"/>
            <a:ext cx="2075688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A37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 7—8 周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9354312" y="2596896"/>
            <a:ext cx="2075688" cy="1463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250" dirty="0">
                <a:solidFill>
                  <a:srgbClr val="2E28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复盘定价结构</a:t>
            </a:r>
            <a:endParaRPr lang="en-US" sz="125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250" dirty="0">
                <a:solidFill>
                  <a:srgbClr val="2E28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洽谈第二、三家商家</a:t>
            </a:r>
            <a:endParaRPr lang="en-US" sz="125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250" dirty="0">
                <a:solidFill>
                  <a:srgbClr val="2E28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形成可对外引用的案例</a:t>
            </a:r>
            <a:endParaRPr lang="en-US" sz="1250" dirty="0"/>
          </a:p>
        </p:txBody>
      </p:sp>
      <p:sp>
        <p:nvSpPr>
          <p:cNvPr id="23" name="Text 20"/>
          <p:cNvSpPr txBox="1"/>
          <p:nvPr/>
        </p:nvSpPr>
        <p:spPr>
          <a:xfrm>
            <a:off x="685800" y="4718304"/>
            <a:ext cx="52120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4A37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首家试点按 500—1,000 元收费</a:t>
            </a:r>
            <a:endParaRPr lang="en-US" sz="1550" dirty="0"/>
          </a:p>
        </p:txBody>
      </p:sp>
      <p:sp>
        <p:nvSpPr>
          <p:cNvPr id="24" name="Text 21"/>
          <p:cNvSpPr txBox="1"/>
          <p:nvPr/>
        </p:nvSpPr>
        <p:spPr>
          <a:xfrm>
            <a:off x="685800" y="5120640"/>
            <a:ext cx="52120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7D74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付费意愿需通过收费试点获得验证，本轮优先验证该项指标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6217920" y="4718304"/>
            <a:ext cx="52120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4A37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首笔收入的时点为第六周</a:t>
            </a:r>
            <a:endParaRPr lang="en-US" sz="1550" dirty="0"/>
          </a:p>
        </p:txBody>
      </p:sp>
      <p:sp>
        <p:nvSpPr>
          <p:cNvPr id="26" name="Text 23"/>
          <p:cNvSpPr txBox="1"/>
          <p:nvPr/>
        </p:nvSpPr>
        <p:spPr>
          <a:xfrm>
            <a:off x="6217920" y="5120640"/>
            <a:ext cx="52120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200" dirty="0">
                <a:solidFill>
                  <a:srgbClr val="7D74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此后按月新增商家，观测部署人时随家数的变化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685800" y="5797296"/>
            <a:ext cx="10817352" cy="640080"/>
          </a:xfrm>
          <a:prstGeom prst="roundRect">
            <a:avLst>
              <a:gd name="adj" fmla="val 7143"/>
            </a:avLst>
          </a:prstGeom>
          <a:solidFill>
            <a:srgbClr val="F5EEE5"/>
          </a:solidFill>
        </p:spPr>
      </p:sp>
      <p:sp>
        <p:nvSpPr>
          <p:cNvPr id="28" name="Text 25"/>
          <p:cNvSpPr txBox="1"/>
          <p:nvPr/>
        </p:nvSpPr>
        <p:spPr>
          <a:xfrm>
            <a:off x="960120" y="5961888"/>
            <a:ext cx="1026871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A37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本轮验证指标为付费意愿与部署效率。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7925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 · 财务与融资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868680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28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三年财务预测与成本结构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353312"/>
            <a:ext cx="804672" cy="32004"/>
          </a:xfrm>
          <a:prstGeom prst="rect">
            <a:avLst/>
          </a:prstGeom>
          <a:solidFill>
            <a:srgbClr val="C79255"/>
          </a:solidFill>
        </p:spPr>
        <p:txBody>
          <a:bodyPr/>
          <a:p/>
        </p:txBody>
      </p:sp>
      <p:pic>
        <p:nvPicPr>
          <p:cNvPr id="5" name="Image 0" descr="logo_ba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28632" y="310896"/>
            <a:ext cx="1874520" cy="74066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1517904"/>
            <a:ext cx="10817352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D74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第三年营</a:t>
            </a:r>
            <a:r>
              <a:rPr lang="zh-CN" altLang="en-US" sz="1250" dirty="0">
                <a:solidFill>
                  <a:srgbClr val="7D74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业额</a:t>
            </a:r>
            <a:r>
              <a:rPr lang="en-US" sz="1250" dirty="0">
                <a:solidFill>
                  <a:srgbClr val="7D74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500—1,000 万元，税前利润 </a:t>
            </a:r>
            <a:r>
              <a:rPr lang="zh-CN" altLang="en-US" sz="1250" dirty="0">
                <a:solidFill>
                  <a:srgbClr val="7D74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约</a:t>
            </a:r>
            <a:r>
              <a:rPr lang="en-US" sz="1250" dirty="0">
                <a:solidFill>
                  <a:srgbClr val="7D746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75 万元，采用 SOM 保守口径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640080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AEA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PAWLY · 宝狸  |  项目路演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0771632" y="6400800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AEA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13</a:t>
            </a:r>
            <a:endParaRPr lang="en-US" sz="900" dirty="0"/>
          </a:p>
        </p:txBody>
      </p:sp>
      <p:sp>
        <p:nvSpPr>
          <p:cNvPr id="9" name="Rounded Rectangle 8"/>
          <p:cNvSpPr/>
          <p:nvPr/>
        </p:nvSpPr>
        <p:spPr>
          <a:xfrm>
            <a:off x="685800" y="2029968"/>
            <a:ext cx="2194560" cy="133502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8890">
            <a:solidFill>
              <a:srgbClr val="E8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0392" y="2212848"/>
            <a:ext cx="1865376" cy="2468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5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80" b="1">
                <a:solidFill>
                  <a:srgbClr val="513F30"/>
                </a:solidFill>
                <a:latin typeface="微软雅黑"/>
                <a:ea typeface="微软雅黑"/>
                <a:cs typeface="微软雅黑"/>
              </a:rPr>
              <a:t>第 1 年</a:t>
            </a:r>
            <a:endParaRPr lang="zh-CN" sz="1380" b="1">
              <a:solidFill>
                <a:srgbClr val="513F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59917" y="2513330"/>
            <a:ext cx="1865376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57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10" b="0">
                <a:solidFill>
                  <a:srgbClr val="7D746C"/>
                </a:solidFill>
                <a:latin typeface="微软雅黑"/>
                <a:ea typeface="微软雅黑"/>
                <a:cs typeface="微软雅黑"/>
              </a:rPr>
              <a:t>签约商家 </a:t>
            </a:r>
            <a:r>
              <a:rPr lang="en-US" altLang="zh-CN" sz="1310" b="0">
                <a:solidFill>
                  <a:srgbClr val="7D746C"/>
                </a:solidFill>
                <a:latin typeface="微软雅黑"/>
                <a:ea typeface="微软雅黑"/>
                <a:cs typeface="微软雅黑"/>
              </a:rPr>
              <a:t>20</a:t>
            </a:r>
            <a:r>
              <a:rPr lang="zh-CN" altLang="en-US" sz="1310" b="0">
                <a:solidFill>
                  <a:srgbClr val="7D746C"/>
                </a:solidFill>
                <a:latin typeface="微软雅黑"/>
                <a:ea typeface="微软雅黑"/>
                <a:cs typeface="微软雅黑"/>
              </a:rPr>
              <a:t>家</a:t>
            </a:r>
            <a:endParaRPr lang="zh-CN" altLang="en-US" sz="1310" b="0">
              <a:solidFill>
                <a:srgbClr val="7D746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59917" y="2839720"/>
            <a:ext cx="1865376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90" b="0">
                <a:solidFill>
                  <a:srgbClr val="7D746C"/>
                </a:solidFill>
                <a:latin typeface="微软雅黑"/>
                <a:ea typeface="微软雅黑"/>
                <a:cs typeface="微软雅黑"/>
              </a:rPr>
              <a:t>营收 约</a:t>
            </a:r>
            <a:r>
              <a:rPr lang="en-US" altLang="zh-CN" sz="1290" b="0">
                <a:solidFill>
                  <a:srgbClr val="7D746C"/>
                </a:solidFill>
                <a:latin typeface="微软雅黑"/>
                <a:ea typeface="微软雅黑"/>
                <a:cs typeface="微软雅黑"/>
              </a:rPr>
              <a:t>10</a:t>
            </a:r>
            <a:r>
              <a:rPr lang="zh-CN" altLang="en-US" sz="1290" b="0">
                <a:solidFill>
                  <a:srgbClr val="7D746C"/>
                </a:solidFill>
                <a:latin typeface="微软雅黑"/>
                <a:ea typeface="微软雅黑"/>
                <a:cs typeface="微软雅黑"/>
              </a:rPr>
              <a:t>万元</a:t>
            </a:r>
            <a:r>
              <a:rPr lang="en-US" altLang="zh-CN" sz="1290" b="0">
                <a:solidFill>
                  <a:srgbClr val="7D746C"/>
                </a:solidFill>
                <a:latin typeface="微软雅黑"/>
                <a:ea typeface="微软雅黑"/>
                <a:cs typeface="微软雅黑"/>
              </a:rPr>
              <a:t>   </a:t>
            </a:r>
            <a:r>
              <a:rPr lang="zh-CN" altLang="en-US" sz="1290" b="0">
                <a:solidFill>
                  <a:srgbClr val="7D746C"/>
                </a:solidFill>
                <a:latin typeface="微软雅黑"/>
                <a:ea typeface="微软雅黑"/>
                <a:cs typeface="微软雅黑"/>
              </a:rPr>
              <a:t>预计约亏损</a:t>
            </a:r>
            <a:r>
              <a:rPr lang="en-US" altLang="zh-CN" sz="1290" b="0">
                <a:solidFill>
                  <a:srgbClr val="7D746C"/>
                </a:solidFill>
                <a:latin typeface="微软雅黑"/>
                <a:ea typeface="微软雅黑"/>
                <a:cs typeface="微软雅黑"/>
              </a:rPr>
              <a:t>15</a:t>
            </a:r>
            <a:r>
              <a:rPr lang="zh-CN" altLang="en-US" sz="1290" b="0">
                <a:solidFill>
                  <a:srgbClr val="7D746C"/>
                </a:solidFill>
                <a:latin typeface="微软雅黑"/>
                <a:ea typeface="微软雅黑"/>
                <a:cs typeface="微软雅黑"/>
              </a:rPr>
              <a:t>万元</a:t>
            </a:r>
            <a:endParaRPr lang="zh-CN" altLang="en-US" sz="1290" b="0">
              <a:solidFill>
                <a:srgbClr val="7D746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3035808" y="2029968"/>
            <a:ext cx="2194560" cy="1335024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8890">
            <a:solidFill>
              <a:srgbClr val="E8DF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0" y="2212848"/>
            <a:ext cx="1865376" cy="2468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5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80" b="1">
                <a:solidFill>
                  <a:srgbClr val="513F30"/>
                </a:solidFill>
                <a:latin typeface="微软雅黑"/>
                <a:ea typeface="微软雅黑"/>
                <a:cs typeface="微软雅黑"/>
              </a:rPr>
              <a:t>第 2 年</a:t>
            </a:r>
            <a:endParaRPr lang="zh-CN" sz="1380" b="1">
              <a:solidFill>
                <a:srgbClr val="513F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200400" y="2513330"/>
            <a:ext cx="1865376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57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10" b="0">
                <a:solidFill>
                  <a:srgbClr val="7D746C"/>
                </a:solidFill>
                <a:latin typeface="微软雅黑"/>
                <a:ea typeface="微软雅黑"/>
                <a:cs typeface="微软雅黑"/>
              </a:rPr>
              <a:t>签约商家 </a:t>
            </a:r>
            <a:r>
              <a:rPr lang="en-US" altLang="zh-CN" sz="1310" b="0">
                <a:solidFill>
                  <a:srgbClr val="7D746C"/>
                </a:solidFill>
                <a:latin typeface="微软雅黑"/>
                <a:ea typeface="微软雅黑"/>
                <a:cs typeface="微软雅黑"/>
              </a:rPr>
              <a:t>100</a:t>
            </a:r>
            <a:r>
              <a:rPr lang="zh-CN" altLang="en-US" sz="1310" b="0">
                <a:solidFill>
                  <a:srgbClr val="7D746C"/>
                </a:solidFill>
                <a:latin typeface="微软雅黑"/>
                <a:ea typeface="微软雅黑"/>
                <a:cs typeface="微软雅黑"/>
              </a:rPr>
              <a:t>家</a:t>
            </a:r>
            <a:endParaRPr lang="zh-CN" altLang="en-US" sz="1310" b="0">
              <a:solidFill>
                <a:srgbClr val="7D746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200400" y="2840355"/>
            <a:ext cx="1865376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90" b="0">
                <a:solidFill>
                  <a:srgbClr val="7D746C"/>
                </a:solidFill>
                <a:latin typeface="微软雅黑"/>
                <a:ea typeface="微软雅黑"/>
                <a:cs typeface="微软雅黑"/>
              </a:rPr>
              <a:t>营收 约</a:t>
            </a:r>
            <a:r>
              <a:rPr lang="en-US" altLang="zh-CN" sz="1290" b="0">
                <a:solidFill>
                  <a:srgbClr val="7D746C"/>
                </a:solidFill>
                <a:latin typeface="微软雅黑"/>
                <a:ea typeface="微软雅黑"/>
                <a:cs typeface="微软雅黑"/>
              </a:rPr>
              <a:t>100</a:t>
            </a:r>
            <a:r>
              <a:rPr lang="zh-CN" altLang="en-US" sz="1290" b="0">
                <a:solidFill>
                  <a:srgbClr val="7D746C"/>
                </a:solidFill>
                <a:latin typeface="微软雅黑"/>
                <a:ea typeface="微软雅黑"/>
                <a:cs typeface="微软雅黑"/>
              </a:rPr>
              <a:t>万元</a:t>
            </a:r>
            <a:r>
              <a:rPr lang="en-US" altLang="zh-CN" sz="1290" b="0">
                <a:solidFill>
                  <a:srgbClr val="7D746C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lang="zh-CN" altLang="en-US" sz="1290" b="0">
                <a:solidFill>
                  <a:srgbClr val="7D746C"/>
                </a:solidFill>
                <a:latin typeface="微软雅黑"/>
                <a:ea typeface="微软雅黑"/>
                <a:cs typeface="微软雅黑"/>
              </a:rPr>
              <a:t>预计</a:t>
            </a:r>
            <a:r>
              <a:rPr lang="zh-CN" altLang="en-US" sz="1290" b="0">
                <a:solidFill>
                  <a:srgbClr val="7D746C"/>
                </a:solidFill>
                <a:latin typeface="微软雅黑"/>
                <a:ea typeface="微软雅黑"/>
                <a:cs typeface="微软雅黑"/>
              </a:rPr>
              <a:t>勉强达到收支</a:t>
            </a:r>
            <a:r>
              <a:rPr lang="zh-CN" altLang="en-US" sz="1290" b="0">
                <a:solidFill>
                  <a:srgbClr val="7D746C"/>
                </a:solidFill>
                <a:latin typeface="微软雅黑"/>
                <a:ea typeface="微软雅黑"/>
                <a:cs typeface="微软雅黑"/>
              </a:rPr>
              <a:t>平衡</a:t>
            </a:r>
            <a:endParaRPr lang="zh-CN" altLang="en-US" sz="1290" b="0">
              <a:solidFill>
                <a:srgbClr val="7D746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5385816" y="2029968"/>
            <a:ext cx="2194560" cy="1335024"/>
          </a:xfrm>
          <a:prstGeom prst="roundRect">
            <a:avLst>
              <a:gd name="adj" fmla="val 4000"/>
            </a:avLst>
          </a:prstGeom>
          <a:solidFill>
            <a:srgbClr val="F3EEE6"/>
          </a:solidFill>
          <a:ln w="8890">
            <a:solidFill>
              <a:srgbClr val="C792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50407" y="2212848"/>
            <a:ext cx="1865376" cy="2468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65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80" b="1">
                <a:solidFill>
                  <a:srgbClr val="513F30"/>
                </a:solidFill>
                <a:latin typeface="微软雅黑"/>
                <a:ea typeface="微软雅黑"/>
                <a:cs typeface="微软雅黑"/>
              </a:rPr>
              <a:t>第 3 年</a:t>
            </a:r>
            <a:endParaRPr lang="zh-CN" sz="1380" b="1">
              <a:solidFill>
                <a:srgbClr val="513F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504688" y="2513330"/>
            <a:ext cx="1993392" cy="25603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57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310" b="1">
                <a:solidFill>
                  <a:srgbClr val="C79255"/>
                </a:solidFill>
                <a:latin typeface="微软雅黑"/>
                <a:ea typeface="微软雅黑"/>
                <a:cs typeface="微软雅黑"/>
              </a:rPr>
              <a:t>签约商家 500家</a:t>
            </a:r>
            <a:endParaRPr lang="zh-CN" sz="1310" b="1">
              <a:solidFill>
                <a:srgbClr val="C792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504688" y="2843784"/>
            <a:ext cx="1993392" cy="47548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90" b="1">
                <a:solidFill>
                  <a:srgbClr val="C79255"/>
                </a:solidFill>
                <a:latin typeface="微软雅黑"/>
                <a:ea typeface="微软雅黑"/>
                <a:cs typeface="微软雅黑"/>
              </a:rPr>
              <a:t>营收 500—1,000 万元</a:t>
            </a:r>
            <a:endParaRPr lang="zh-CN" sz="1290" b="1">
              <a:solidFill>
                <a:srgbClr val="C79255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ts val="155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90" b="1">
                <a:solidFill>
                  <a:srgbClr val="C79255"/>
                </a:solidFill>
                <a:latin typeface="微软雅黑"/>
                <a:ea typeface="微软雅黑"/>
                <a:cs typeface="微软雅黑"/>
              </a:rPr>
              <a:t>税前利润约 75 万元</a:t>
            </a:r>
            <a:endParaRPr lang="zh-CN" sz="1290" b="1">
              <a:solidFill>
                <a:srgbClr val="C792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85800" y="3630168"/>
            <a:ext cx="6812280" cy="2834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93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10" b="1">
                <a:solidFill>
                  <a:srgbClr val="513F30"/>
                </a:solidFill>
                <a:latin typeface="微软雅黑"/>
                <a:ea typeface="微软雅黑"/>
                <a:cs typeface="微软雅黑"/>
              </a:rPr>
              <a:t>成本结构与主要风险</a:t>
            </a:r>
            <a:endParaRPr lang="zh-CN" sz="1610" b="1">
              <a:solidFill>
                <a:srgbClr val="513F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713232" y="4142232"/>
            <a:ext cx="64008" cy="64008"/>
          </a:xfrm>
          <a:prstGeom prst="ellipse">
            <a:avLst/>
          </a:prstGeom>
          <a:solidFill>
            <a:srgbClr val="C79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" y="4078224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10" b="1">
                <a:solidFill>
                  <a:srgbClr val="513F30"/>
                </a:solidFill>
                <a:latin typeface="微软雅黑"/>
                <a:ea typeface="微软雅黑"/>
                <a:cs typeface="微软雅黑"/>
              </a:rPr>
              <a:t>模型调用</a:t>
            </a:r>
            <a:endParaRPr lang="zh-CN" sz="1210" b="1">
              <a:solidFill>
                <a:srgbClr val="513F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276856" y="4078224"/>
            <a:ext cx="5340096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52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90" b="0">
                <a:solidFill>
                  <a:srgbClr val="7D746C"/>
                </a:solidFill>
                <a:latin typeface="微软雅黑"/>
                <a:ea typeface="微软雅黑"/>
                <a:cs typeface="微软雅黑"/>
              </a:rPr>
              <a:t>随激活用户数线性增长，构成分成定价的下限依据</a:t>
            </a:r>
            <a:endParaRPr lang="zh-CN" sz="1190" b="0">
              <a:solidFill>
                <a:srgbClr val="7D746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713232" y="4590288"/>
            <a:ext cx="64008" cy="64008"/>
          </a:xfrm>
          <a:prstGeom prst="ellipse">
            <a:avLst/>
          </a:prstGeom>
          <a:solidFill>
            <a:srgbClr val="C79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4526280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10" b="1">
                <a:solidFill>
                  <a:srgbClr val="513F30"/>
                </a:solidFill>
                <a:latin typeface="微软雅黑"/>
                <a:ea typeface="微软雅黑"/>
                <a:cs typeface="微软雅黑"/>
              </a:rPr>
              <a:t>内容生产</a:t>
            </a:r>
            <a:endParaRPr lang="zh-CN" sz="1210" b="1">
              <a:solidFill>
                <a:srgbClr val="513F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276856" y="4526280"/>
            <a:ext cx="5340096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52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90" b="0">
                <a:solidFill>
                  <a:srgbClr val="7D746C"/>
                </a:solidFill>
                <a:latin typeface="微软雅黑"/>
                <a:ea typeface="微软雅黑"/>
                <a:cs typeface="微软雅黑"/>
              </a:rPr>
              <a:t>单品类知识库属于一次性投入，可在商家之间复用</a:t>
            </a:r>
            <a:endParaRPr lang="zh-CN" sz="1190" b="0">
              <a:solidFill>
                <a:srgbClr val="7D746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8" name="Oval 27"/>
          <p:cNvSpPr/>
          <p:nvPr/>
        </p:nvSpPr>
        <p:spPr>
          <a:xfrm>
            <a:off x="713232" y="5038344"/>
            <a:ext cx="64008" cy="64008"/>
          </a:xfrm>
          <a:prstGeom prst="ellipse">
            <a:avLst/>
          </a:prstGeom>
          <a:solidFill>
            <a:srgbClr val="C79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5256" y="4974336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10" b="1">
                <a:solidFill>
                  <a:srgbClr val="513F30"/>
                </a:solidFill>
                <a:latin typeface="微软雅黑"/>
                <a:ea typeface="微软雅黑"/>
                <a:cs typeface="微软雅黑"/>
              </a:rPr>
              <a:t>地推与部署</a:t>
            </a:r>
            <a:endParaRPr lang="zh-CN" sz="1210" b="1">
              <a:solidFill>
                <a:srgbClr val="513F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276856" y="4974336"/>
            <a:ext cx="5340096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52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90" b="0">
                <a:solidFill>
                  <a:srgbClr val="7D746C"/>
                </a:solidFill>
                <a:latin typeface="微软雅黑"/>
                <a:ea typeface="微软雅黑"/>
                <a:cs typeface="微软雅黑"/>
              </a:rPr>
              <a:t>本阶段的主要人力投入，同时是部署人时曲线的验证对象</a:t>
            </a:r>
            <a:endParaRPr lang="zh-CN" sz="1190" b="0">
              <a:solidFill>
                <a:srgbClr val="7D746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Oval 30"/>
          <p:cNvSpPr/>
          <p:nvPr/>
        </p:nvSpPr>
        <p:spPr>
          <a:xfrm>
            <a:off x="713232" y="5486400"/>
            <a:ext cx="64008" cy="64008"/>
          </a:xfrm>
          <a:prstGeom prst="ellipse">
            <a:avLst/>
          </a:prstGeom>
          <a:solidFill>
            <a:srgbClr val="C79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5256" y="5422392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45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210" b="1">
                <a:solidFill>
                  <a:srgbClr val="513F30"/>
                </a:solidFill>
                <a:latin typeface="微软雅黑"/>
                <a:ea typeface="微软雅黑"/>
                <a:cs typeface="微软雅黑"/>
              </a:rPr>
              <a:t>主要风险</a:t>
            </a:r>
            <a:endParaRPr lang="zh-CN" sz="1210" b="1">
              <a:solidFill>
                <a:srgbClr val="513F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276856" y="5422392"/>
            <a:ext cx="5340096" cy="4206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52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90" b="0">
                <a:solidFill>
                  <a:srgbClr val="7D746C"/>
                </a:solidFill>
                <a:latin typeface="微软雅黑"/>
                <a:ea typeface="微软雅黑"/>
                <a:cs typeface="微软雅黑"/>
              </a:rPr>
              <a:t>上游模型覆盖功能、内容可信度、小程序上线资质，</a:t>
            </a:r>
            <a:endParaRPr lang="zh-CN" sz="1190" b="0">
              <a:solidFill>
                <a:srgbClr val="7D746C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lnSpc>
                <a:spcPts val="152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90" b="0">
                <a:solidFill>
                  <a:srgbClr val="7D746C"/>
                </a:solidFill>
                <a:latin typeface="微软雅黑"/>
                <a:ea typeface="微软雅黑"/>
                <a:cs typeface="微软雅黑"/>
              </a:rPr>
              <a:t>处置见第 07、10 页</a:t>
            </a:r>
            <a:endParaRPr lang="zh-CN" sz="1190" b="0">
              <a:solidFill>
                <a:srgbClr val="7D746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936992" y="1975104"/>
            <a:ext cx="3566160" cy="292608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95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630" b="1">
                <a:solidFill>
                  <a:srgbClr val="513F30"/>
                </a:solidFill>
                <a:latin typeface="微软雅黑"/>
                <a:ea typeface="微软雅黑"/>
                <a:cs typeface="微软雅黑"/>
              </a:rPr>
              <a:t>融资需求 · 资金用途</a:t>
            </a:r>
            <a:endParaRPr lang="zh-CN" sz="1630" b="1">
              <a:solidFill>
                <a:srgbClr val="513F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5" name="资金用途扇区｜市场与获客 40%"/>
          <p:cNvSpPr/>
          <p:nvPr/>
        </p:nvSpPr>
        <p:spPr>
          <a:xfrm>
            <a:off x="9715820" y="2513500"/>
            <a:ext cx="1709180" cy="3092062"/>
          </a:xfrm>
          <a:custGeom>
            <a:avLst/>
            <a:gdLst/>
            <a:ahLst/>
            <a:cxnLst/>
            <a:rect l="l" t="t" r="r" b="b"/>
            <a:pathLst>
              <a:path w="1870" h="3383">
                <a:moveTo>
                  <a:pt x="0" y="0"/>
                </a:moveTo>
                <a:lnTo>
                  <a:pt x="65" y="1"/>
                </a:lnTo>
                <a:lnTo>
                  <a:pt x="130" y="5"/>
                </a:lnTo>
                <a:lnTo>
                  <a:pt x="195" y="10"/>
                </a:lnTo>
                <a:lnTo>
                  <a:pt x="260" y="18"/>
                </a:lnTo>
                <a:lnTo>
                  <a:pt x="325" y="28"/>
                </a:lnTo>
                <a:lnTo>
                  <a:pt x="389" y="41"/>
                </a:lnTo>
                <a:lnTo>
                  <a:pt x="452" y="56"/>
                </a:lnTo>
                <a:lnTo>
                  <a:pt x="515" y="72"/>
                </a:lnTo>
                <a:lnTo>
                  <a:pt x="578" y="92"/>
                </a:lnTo>
                <a:lnTo>
                  <a:pt x="640" y="113"/>
                </a:lnTo>
                <a:lnTo>
                  <a:pt x="701" y="136"/>
                </a:lnTo>
                <a:lnTo>
                  <a:pt x="761" y="162"/>
                </a:lnTo>
                <a:lnTo>
                  <a:pt x="820" y="189"/>
                </a:lnTo>
                <a:lnTo>
                  <a:pt x="878" y="219"/>
                </a:lnTo>
                <a:lnTo>
                  <a:pt x="935" y="251"/>
                </a:lnTo>
                <a:lnTo>
                  <a:pt x="991" y="284"/>
                </a:lnTo>
                <a:lnTo>
                  <a:pt x="1046" y="320"/>
                </a:lnTo>
                <a:lnTo>
                  <a:pt x="1099" y="357"/>
                </a:lnTo>
                <a:lnTo>
                  <a:pt x="1151" y="396"/>
                </a:lnTo>
                <a:lnTo>
                  <a:pt x="1202" y="437"/>
                </a:lnTo>
                <a:lnTo>
                  <a:pt x="1251" y="480"/>
                </a:lnTo>
                <a:lnTo>
                  <a:pt x="1299" y="525"/>
                </a:lnTo>
                <a:lnTo>
                  <a:pt x="1345" y="571"/>
                </a:lnTo>
                <a:lnTo>
                  <a:pt x="1390" y="619"/>
                </a:lnTo>
                <a:lnTo>
                  <a:pt x="1433" y="668"/>
                </a:lnTo>
                <a:lnTo>
                  <a:pt x="1474" y="719"/>
                </a:lnTo>
                <a:lnTo>
                  <a:pt x="1513" y="771"/>
                </a:lnTo>
                <a:lnTo>
                  <a:pt x="1550" y="824"/>
                </a:lnTo>
                <a:lnTo>
                  <a:pt x="1586" y="879"/>
                </a:lnTo>
                <a:lnTo>
                  <a:pt x="1619" y="935"/>
                </a:lnTo>
                <a:lnTo>
                  <a:pt x="1651" y="992"/>
                </a:lnTo>
                <a:lnTo>
                  <a:pt x="1681" y="1050"/>
                </a:lnTo>
                <a:lnTo>
                  <a:pt x="1708" y="1109"/>
                </a:lnTo>
                <a:lnTo>
                  <a:pt x="1734" y="1169"/>
                </a:lnTo>
                <a:lnTo>
                  <a:pt x="1757" y="1230"/>
                </a:lnTo>
                <a:lnTo>
                  <a:pt x="1778" y="1292"/>
                </a:lnTo>
                <a:lnTo>
                  <a:pt x="1798" y="1355"/>
                </a:lnTo>
                <a:lnTo>
                  <a:pt x="1814" y="1418"/>
                </a:lnTo>
                <a:lnTo>
                  <a:pt x="1829" y="1481"/>
                </a:lnTo>
                <a:lnTo>
                  <a:pt x="1842" y="1545"/>
                </a:lnTo>
                <a:lnTo>
                  <a:pt x="1852" y="1610"/>
                </a:lnTo>
                <a:lnTo>
                  <a:pt x="1860" y="1675"/>
                </a:lnTo>
                <a:lnTo>
                  <a:pt x="1865" y="1740"/>
                </a:lnTo>
                <a:lnTo>
                  <a:pt x="1869" y="1805"/>
                </a:lnTo>
                <a:lnTo>
                  <a:pt x="1870" y="1870"/>
                </a:lnTo>
                <a:lnTo>
                  <a:pt x="1869" y="1935"/>
                </a:lnTo>
                <a:lnTo>
                  <a:pt x="1865" y="2000"/>
                </a:lnTo>
                <a:lnTo>
                  <a:pt x="1860" y="2065"/>
                </a:lnTo>
                <a:lnTo>
                  <a:pt x="1852" y="2130"/>
                </a:lnTo>
                <a:lnTo>
                  <a:pt x="1842" y="2195"/>
                </a:lnTo>
                <a:lnTo>
                  <a:pt x="1829" y="2259"/>
                </a:lnTo>
                <a:lnTo>
                  <a:pt x="1814" y="2322"/>
                </a:lnTo>
                <a:lnTo>
                  <a:pt x="1798" y="2385"/>
                </a:lnTo>
                <a:lnTo>
                  <a:pt x="1778" y="2448"/>
                </a:lnTo>
                <a:lnTo>
                  <a:pt x="1757" y="2510"/>
                </a:lnTo>
                <a:lnTo>
                  <a:pt x="1734" y="2571"/>
                </a:lnTo>
                <a:lnTo>
                  <a:pt x="1708" y="2631"/>
                </a:lnTo>
                <a:lnTo>
                  <a:pt x="1681" y="2690"/>
                </a:lnTo>
                <a:lnTo>
                  <a:pt x="1651" y="2748"/>
                </a:lnTo>
                <a:lnTo>
                  <a:pt x="1619" y="2805"/>
                </a:lnTo>
                <a:lnTo>
                  <a:pt x="1586" y="2861"/>
                </a:lnTo>
                <a:lnTo>
                  <a:pt x="1550" y="2916"/>
                </a:lnTo>
                <a:lnTo>
                  <a:pt x="1513" y="2969"/>
                </a:lnTo>
                <a:lnTo>
                  <a:pt x="1474" y="3021"/>
                </a:lnTo>
                <a:lnTo>
                  <a:pt x="1433" y="3072"/>
                </a:lnTo>
                <a:lnTo>
                  <a:pt x="1390" y="3121"/>
                </a:lnTo>
                <a:lnTo>
                  <a:pt x="1345" y="3169"/>
                </a:lnTo>
                <a:lnTo>
                  <a:pt x="1299" y="3215"/>
                </a:lnTo>
                <a:lnTo>
                  <a:pt x="1251" y="3260"/>
                </a:lnTo>
                <a:lnTo>
                  <a:pt x="1202" y="3303"/>
                </a:lnTo>
                <a:lnTo>
                  <a:pt x="1151" y="3344"/>
                </a:lnTo>
                <a:lnTo>
                  <a:pt x="1099" y="3383"/>
                </a:lnTo>
                <a:lnTo>
                  <a:pt x="470" y="2517"/>
                </a:lnTo>
                <a:lnTo>
                  <a:pt x="493" y="2500"/>
                </a:lnTo>
                <a:lnTo>
                  <a:pt x="514" y="2483"/>
                </a:lnTo>
                <a:lnTo>
                  <a:pt x="535" y="2465"/>
                </a:lnTo>
                <a:lnTo>
                  <a:pt x="556" y="2445"/>
                </a:lnTo>
                <a:lnTo>
                  <a:pt x="575" y="2426"/>
                </a:lnTo>
                <a:lnTo>
                  <a:pt x="595" y="2405"/>
                </a:lnTo>
                <a:lnTo>
                  <a:pt x="613" y="2384"/>
                </a:lnTo>
                <a:lnTo>
                  <a:pt x="630" y="2363"/>
                </a:lnTo>
                <a:lnTo>
                  <a:pt x="647" y="2340"/>
                </a:lnTo>
                <a:lnTo>
                  <a:pt x="663" y="2317"/>
                </a:lnTo>
                <a:lnTo>
                  <a:pt x="678" y="2294"/>
                </a:lnTo>
                <a:lnTo>
                  <a:pt x="693" y="2270"/>
                </a:lnTo>
                <a:lnTo>
                  <a:pt x="706" y="2246"/>
                </a:lnTo>
                <a:lnTo>
                  <a:pt x="719" y="2221"/>
                </a:lnTo>
                <a:lnTo>
                  <a:pt x="731" y="2195"/>
                </a:lnTo>
                <a:lnTo>
                  <a:pt x="742" y="2170"/>
                </a:lnTo>
                <a:lnTo>
                  <a:pt x="752" y="2144"/>
                </a:lnTo>
                <a:lnTo>
                  <a:pt x="761" y="2117"/>
                </a:lnTo>
                <a:lnTo>
                  <a:pt x="769" y="2091"/>
                </a:lnTo>
                <a:lnTo>
                  <a:pt x="776" y="2064"/>
                </a:lnTo>
                <a:lnTo>
                  <a:pt x="783" y="2036"/>
                </a:lnTo>
                <a:lnTo>
                  <a:pt x="788" y="2009"/>
                </a:lnTo>
                <a:lnTo>
                  <a:pt x="792" y="1981"/>
                </a:lnTo>
                <a:lnTo>
                  <a:pt x="796" y="1954"/>
                </a:lnTo>
                <a:lnTo>
                  <a:pt x="798" y="1926"/>
                </a:lnTo>
                <a:lnTo>
                  <a:pt x="800" y="1898"/>
                </a:lnTo>
                <a:lnTo>
                  <a:pt x="800" y="1870"/>
                </a:lnTo>
                <a:lnTo>
                  <a:pt x="800" y="1842"/>
                </a:lnTo>
                <a:lnTo>
                  <a:pt x="798" y="1814"/>
                </a:lnTo>
                <a:lnTo>
                  <a:pt x="796" y="1786"/>
                </a:lnTo>
                <a:lnTo>
                  <a:pt x="792" y="1759"/>
                </a:lnTo>
                <a:lnTo>
                  <a:pt x="788" y="1731"/>
                </a:lnTo>
                <a:lnTo>
                  <a:pt x="783" y="1704"/>
                </a:lnTo>
                <a:lnTo>
                  <a:pt x="776" y="1676"/>
                </a:lnTo>
                <a:lnTo>
                  <a:pt x="769" y="1649"/>
                </a:lnTo>
                <a:lnTo>
                  <a:pt x="761" y="1623"/>
                </a:lnTo>
                <a:lnTo>
                  <a:pt x="752" y="1596"/>
                </a:lnTo>
                <a:lnTo>
                  <a:pt x="742" y="1570"/>
                </a:lnTo>
                <a:lnTo>
                  <a:pt x="731" y="1545"/>
                </a:lnTo>
                <a:lnTo>
                  <a:pt x="719" y="1519"/>
                </a:lnTo>
                <a:lnTo>
                  <a:pt x="706" y="1494"/>
                </a:lnTo>
                <a:lnTo>
                  <a:pt x="693" y="1470"/>
                </a:lnTo>
                <a:lnTo>
                  <a:pt x="678" y="1446"/>
                </a:lnTo>
                <a:lnTo>
                  <a:pt x="663" y="1423"/>
                </a:lnTo>
                <a:lnTo>
                  <a:pt x="647" y="1400"/>
                </a:lnTo>
                <a:lnTo>
                  <a:pt x="630" y="1377"/>
                </a:lnTo>
                <a:lnTo>
                  <a:pt x="613" y="1356"/>
                </a:lnTo>
                <a:lnTo>
                  <a:pt x="595" y="1335"/>
                </a:lnTo>
                <a:lnTo>
                  <a:pt x="575" y="1314"/>
                </a:lnTo>
                <a:lnTo>
                  <a:pt x="556" y="1295"/>
                </a:lnTo>
                <a:lnTo>
                  <a:pt x="535" y="1275"/>
                </a:lnTo>
                <a:lnTo>
                  <a:pt x="514" y="1257"/>
                </a:lnTo>
                <a:lnTo>
                  <a:pt x="493" y="1240"/>
                </a:lnTo>
                <a:lnTo>
                  <a:pt x="470" y="1223"/>
                </a:lnTo>
                <a:lnTo>
                  <a:pt x="447" y="1207"/>
                </a:lnTo>
                <a:lnTo>
                  <a:pt x="424" y="1192"/>
                </a:lnTo>
                <a:lnTo>
                  <a:pt x="400" y="1177"/>
                </a:lnTo>
                <a:lnTo>
                  <a:pt x="376" y="1164"/>
                </a:lnTo>
                <a:lnTo>
                  <a:pt x="351" y="1151"/>
                </a:lnTo>
                <a:lnTo>
                  <a:pt x="325" y="1139"/>
                </a:lnTo>
                <a:lnTo>
                  <a:pt x="300" y="1128"/>
                </a:lnTo>
                <a:lnTo>
                  <a:pt x="274" y="1118"/>
                </a:lnTo>
                <a:lnTo>
                  <a:pt x="247" y="1109"/>
                </a:lnTo>
                <a:lnTo>
                  <a:pt x="221" y="1101"/>
                </a:lnTo>
                <a:lnTo>
                  <a:pt x="194" y="1094"/>
                </a:lnTo>
                <a:lnTo>
                  <a:pt x="166" y="1087"/>
                </a:lnTo>
                <a:lnTo>
                  <a:pt x="139" y="1082"/>
                </a:lnTo>
                <a:lnTo>
                  <a:pt x="111" y="1078"/>
                </a:lnTo>
                <a:lnTo>
                  <a:pt x="84" y="1074"/>
                </a:lnTo>
                <a:lnTo>
                  <a:pt x="56" y="1072"/>
                </a:lnTo>
                <a:lnTo>
                  <a:pt x="28" y="1070"/>
                </a:lnTo>
                <a:lnTo>
                  <a:pt x="0" y="1070"/>
                </a:lnTo>
                <a:close/>
              </a:path>
            </a:pathLst>
          </a:custGeom>
          <a:solidFill>
            <a:srgbClr val="EBB675"/>
          </a:solidFill>
          <a:ln w="12700">
            <a:solidFill>
              <a:srgbClr val="FDF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336086" y="3613052"/>
            <a:ext cx="1124712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26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50" b="1">
                <a:solidFill>
                  <a:srgbClr val="513F30"/>
                </a:solidFill>
                <a:latin typeface="微软雅黑"/>
                <a:ea typeface="微软雅黑"/>
                <a:cs typeface="微软雅黑"/>
              </a:rPr>
              <a:t>市场与获客</a:t>
            </a:r>
            <a:endParaRPr lang="zh-CN" sz="1050" b="1">
              <a:solidFill>
                <a:srgbClr val="513F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0336086" y="3905660"/>
            <a:ext cx="1124712" cy="2834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1">
                <a:solidFill>
                  <a:srgbClr val="513F30"/>
                </a:solidFill>
                <a:latin typeface="微软雅黑"/>
                <a:ea typeface="微软雅黑"/>
                <a:cs typeface="微软雅黑"/>
              </a:rPr>
              <a:t>40%</a:t>
            </a:r>
            <a:endParaRPr lang="zh-CN" sz="1500" b="1">
              <a:solidFill>
                <a:srgbClr val="513F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8" name="资金用途扇区｜产品研发 30%"/>
          <p:cNvSpPr/>
          <p:nvPr/>
        </p:nvSpPr>
        <p:spPr>
          <a:xfrm>
            <a:off x="8090728" y="4448438"/>
            <a:ext cx="2629578" cy="1483422"/>
          </a:xfrm>
          <a:custGeom>
            <a:avLst/>
            <a:gdLst/>
            <a:ahLst/>
            <a:cxnLst/>
            <a:rect l="l" t="t" r="r" b="b"/>
            <a:pathLst>
              <a:path w="2877" h="1623">
                <a:moveTo>
                  <a:pt x="2877" y="1266"/>
                </a:moveTo>
                <a:lnTo>
                  <a:pt x="2824" y="1303"/>
                </a:lnTo>
                <a:lnTo>
                  <a:pt x="2769" y="1339"/>
                </a:lnTo>
                <a:lnTo>
                  <a:pt x="2713" y="1372"/>
                </a:lnTo>
                <a:lnTo>
                  <a:pt x="2656" y="1404"/>
                </a:lnTo>
                <a:lnTo>
                  <a:pt x="2598" y="1434"/>
                </a:lnTo>
                <a:lnTo>
                  <a:pt x="2539" y="1461"/>
                </a:lnTo>
                <a:lnTo>
                  <a:pt x="2479" y="1487"/>
                </a:lnTo>
                <a:lnTo>
                  <a:pt x="2418" y="1510"/>
                </a:lnTo>
                <a:lnTo>
                  <a:pt x="2356" y="1531"/>
                </a:lnTo>
                <a:lnTo>
                  <a:pt x="2293" y="1551"/>
                </a:lnTo>
                <a:lnTo>
                  <a:pt x="2230" y="1567"/>
                </a:lnTo>
                <a:lnTo>
                  <a:pt x="2167" y="1582"/>
                </a:lnTo>
                <a:lnTo>
                  <a:pt x="2103" y="1595"/>
                </a:lnTo>
                <a:lnTo>
                  <a:pt x="2038" y="1605"/>
                </a:lnTo>
                <a:lnTo>
                  <a:pt x="1973" y="1613"/>
                </a:lnTo>
                <a:lnTo>
                  <a:pt x="1908" y="1618"/>
                </a:lnTo>
                <a:lnTo>
                  <a:pt x="1843" y="1622"/>
                </a:lnTo>
                <a:lnTo>
                  <a:pt x="1778" y="1623"/>
                </a:lnTo>
                <a:lnTo>
                  <a:pt x="1713" y="1622"/>
                </a:lnTo>
                <a:lnTo>
                  <a:pt x="1648" y="1618"/>
                </a:lnTo>
                <a:lnTo>
                  <a:pt x="1583" y="1613"/>
                </a:lnTo>
                <a:lnTo>
                  <a:pt x="1518" y="1605"/>
                </a:lnTo>
                <a:lnTo>
                  <a:pt x="1453" y="1595"/>
                </a:lnTo>
                <a:lnTo>
                  <a:pt x="1389" y="1582"/>
                </a:lnTo>
                <a:lnTo>
                  <a:pt x="1326" y="1567"/>
                </a:lnTo>
                <a:lnTo>
                  <a:pt x="1263" y="1551"/>
                </a:lnTo>
                <a:lnTo>
                  <a:pt x="1200" y="1531"/>
                </a:lnTo>
                <a:lnTo>
                  <a:pt x="1138" y="1510"/>
                </a:lnTo>
                <a:lnTo>
                  <a:pt x="1077" y="1487"/>
                </a:lnTo>
                <a:lnTo>
                  <a:pt x="1017" y="1461"/>
                </a:lnTo>
                <a:lnTo>
                  <a:pt x="958" y="1434"/>
                </a:lnTo>
                <a:lnTo>
                  <a:pt x="900" y="1404"/>
                </a:lnTo>
                <a:lnTo>
                  <a:pt x="843" y="1372"/>
                </a:lnTo>
                <a:lnTo>
                  <a:pt x="787" y="1339"/>
                </a:lnTo>
                <a:lnTo>
                  <a:pt x="732" y="1303"/>
                </a:lnTo>
                <a:lnTo>
                  <a:pt x="679" y="1266"/>
                </a:lnTo>
                <a:lnTo>
                  <a:pt x="627" y="1227"/>
                </a:lnTo>
                <a:lnTo>
                  <a:pt x="576" y="1186"/>
                </a:lnTo>
                <a:lnTo>
                  <a:pt x="527" y="1143"/>
                </a:lnTo>
                <a:lnTo>
                  <a:pt x="479" y="1098"/>
                </a:lnTo>
                <a:lnTo>
                  <a:pt x="433" y="1052"/>
                </a:lnTo>
                <a:lnTo>
                  <a:pt x="388" y="1004"/>
                </a:lnTo>
                <a:lnTo>
                  <a:pt x="345" y="955"/>
                </a:lnTo>
                <a:lnTo>
                  <a:pt x="304" y="904"/>
                </a:lnTo>
                <a:lnTo>
                  <a:pt x="265" y="852"/>
                </a:lnTo>
                <a:lnTo>
                  <a:pt x="228" y="799"/>
                </a:lnTo>
                <a:lnTo>
                  <a:pt x="192" y="744"/>
                </a:lnTo>
                <a:lnTo>
                  <a:pt x="159" y="688"/>
                </a:lnTo>
                <a:lnTo>
                  <a:pt x="127" y="631"/>
                </a:lnTo>
                <a:lnTo>
                  <a:pt x="97" y="573"/>
                </a:lnTo>
                <a:lnTo>
                  <a:pt x="70" y="514"/>
                </a:lnTo>
                <a:lnTo>
                  <a:pt x="44" y="454"/>
                </a:lnTo>
                <a:lnTo>
                  <a:pt x="21" y="393"/>
                </a:lnTo>
                <a:lnTo>
                  <a:pt x="0" y="331"/>
                </a:lnTo>
                <a:lnTo>
                  <a:pt x="1017" y="0"/>
                </a:lnTo>
                <a:lnTo>
                  <a:pt x="1026" y="27"/>
                </a:lnTo>
                <a:lnTo>
                  <a:pt x="1036" y="53"/>
                </a:lnTo>
                <a:lnTo>
                  <a:pt x="1047" y="78"/>
                </a:lnTo>
                <a:lnTo>
                  <a:pt x="1059" y="104"/>
                </a:lnTo>
                <a:lnTo>
                  <a:pt x="1072" y="129"/>
                </a:lnTo>
                <a:lnTo>
                  <a:pt x="1085" y="153"/>
                </a:lnTo>
                <a:lnTo>
                  <a:pt x="1100" y="177"/>
                </a:lnTo>
                <a:lnTo>
                  <a:pt x="1115" y="200"/>
                </a:lnTo>
                <a:lnTo>
                  <a:pt x="1131" y="223"/>
                </a:lnTo>
                <a:lnTo>
                  <a:pt x="1148" y="246"/>
                </a:lnTo>
                <a:lnTo>
                  <a:pt x="1165" y="267"/>
                </a:lnTo>
                <a:lnTo>
                  <a:pt x="1183" y="288"/>
                </a:lnTo>
                <a:lnTo>
                  <a:pt x="1203" y="309"/>
                </a:lnTo>
                <a:lnTo>
                  <a:pt x="1222" y="328"/>
                </a:lnTo>
                <a:lnTo>
                  <a:pt x="1243" y="348"/>
                </a:lnTo>
                <a:lnTo>
                  <a:pt x="1264" y="366"/>
                </a:lnTo>
                <a:lnTo>
                  <a:pt x="1285" y="383"/>
                </a:lnTo>
                <a:lnTo>
                  <a:pt x="1308" y="400"/>
                </a:lnTo>
                <a:lnTo>
                  <a:pt x="1331" y="416"/>
                </a:lnTo>
                <a:lnTo>
                  <a:pt x="1354" y="431"/>
                </a:lnTo>
                <a:lnTo>
                  <a:pt x="1378" y="446"/>
                </a:lnTo>
                <a:lnTo>
                  <a:pt x="1402" y="459"/>
                </a:lnTo>
                <a:lnTo>
                  <a:pt x="1427" y="472"/>
                </a:lnTo>
                <a:lnTo>
                  <a:pt x="1453" y="484"/>
                </a:lnTo>
                <a:lnTo>
                  <a:pt x="1478" y="495"/>
                </a:lnTo>
                <a:lnTo>
                  <a:pt x="1504" y="505"/>
                </a:lnTo>
                <a:lnTo>
                  <a:pt x="1531" y="514"/>
                </a:lnTo>
                <a:lnTo>
                  <a:pt x="1557" y="522"/>
                </a:lnTo>
                <a:lnTo>
                  <a:pt x="1584" y="529"/>
                </a:lnTo>
                <a:lnTo>
                  <a:pt x="1612" y="536"/>
                </a:lnTo>
                <a:lnTo>
                  <a:pt x="1639" y="541"/>
                </a:lnTo>
                <a:lnTo>
                  <a:pt x="1667" y="545"/>
                </a:lnTo>
                <a:lnTo>
                  <a:pt x="1694" y="549"/>
                </a:lnTo>
                <a:lnTo>
                  <a:pt x="1722" y="551"/>
                </a:lnTo>
                <a:lnTo>
                  <a:pt x="1750" y="553"/>
                </a:lnTo>
                <a:lnTo>
                  <a:pt x="1778" y="553"/>
                </a:lnTo>
                <a:lnTo>
                  <a:pt x="1806" y="553"/>
                </a:lnTo>
                <a:lnTo>
                  <a:pt x="1834" y="551"/>
                </a:lnTo>
                <a:lnTo>
                  <a:pt x="1862" y="549"/>
                </a:lnTo>
                <a:lnTo>
                  <a:pt x="1889" y="545"/>
                </a:lnTo>
                <a:lnTo>
                  <a:pt x="1917" y="541"/>
                </a:lnTo>
                <a:lnTo>
                  <a:pt x="1944" y="536"/>
                </a:lnTo>
                <a:lnTo>
                  <a:pt x="1972" y="529"/>
                </a:lnTo>
                <a:lnTo>
                  <a:pt x="1999" y="522"/>
                </a:lnTo>
                <a:lnTo>
                  <a:pt x="2025" y="514"/>
                </a:lnTo>
                <a:lnTo>
                  <a:pt x="2052" y="505"/>
                </a:lnTo>
                <a:lnTo>
                  <a:pt x="2078" y="495"/>
                </a:lnTo>
                <a:lnTo>
                  <a:pt x="2103" y="484"/>
                </a:lnTo>
                <a:lnTo>
                  <a:pt x="2129" y="472"/>
                </a:lnTo>
                <a:lnTo>
                  <a:pt x="2154" y="459"/>
                </a:lnTo>
                <a:lnTo>
                  <a:pt x="2178" y="446"/>
                </a:lnTo>
                <a:lnTo>
                  <a:pt x="2202" y="431"/>
                </a:lnTo>
                <a:lnTo>
                  <a:pt x="2225" y="416"/>
                </a:lnTo>
                <a:lnTo>
                  <a:pt x="2248" y="400"/>
                </a:lnTo>
                <a:close/>
              </a:path>
            </a:pathLst>
          </a:custGeom>
          <a:solidFill>
            <a:srgbClr val="6D866F"/>
          </a:solidFill>
          <a:ln w="12700">
            <a:solidFill>
              <a:srgbClr val="FDF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861708" y="5174298"/>
            <a:ext cx="950976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27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6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产品研发</a:t>
            </a:r>
            <a:endParaRPr lang="zh-CN" sz="106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8861708" y="5466906"/>
            <a:ext cx="950976" cy="2834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30%</a:t>
            </a:r>
            <a:endParaRPr lang="zh-CN" sz="15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1" name="资金用途扇区｜合规服务 10%"/>
          <p:cNvSpPr/>
          <p:nvPr/>
        </p:nvSpPr>
        <p:spPr>
          <a:xfrm>
            <a:off x="8006640" y="3694388"/>
            <a:ext cx="1013626" cy="1056584"/>
          </a:xfrm>
          <a:custGeom>
            <a:avLst/>
            <a:gdLst/>
            <a:ahLst/>
            <a:cxnLst/>
            <a:rect l="l" t="t" r="r" b="b"/>
            <a:pathLst>
              <a:path w="1109" h="1156">
                <a:moveTo>
                  <a:pt x="92" y="1156"/>
                </a:moveTo>
                <a:lnTo>
                  <a:pt x="72" y="1093"/>
                </a:lnTo>
                <a:lnTo>
                  <a:pt x="56" y="1030"/>
                </a:lnTo>
                <a:lnTo>
                  <a:pt x="41" y="967"/>
                </a:lnTo>
                <a:lnTo>
                  <a:pt x="28" y="903"/>
                </a:lnTo>
                <a:lnTo>
                  <a:pt x="18" y="838"/>
                </a:lnTo>
                <a:lnTo>
                  <a:pt x="10" y="773"/>
                </a:lnTo>
                <a:lnTo>
                  <a:pt x="5" y="708"/>
                </a:lnTo>
                <a:lnTo>
                  <a:pt x="1" y="643"/>
                </a:lnTo>
                <a:lnTo>
                  <a:pt x="0" y="578"/>
                </a:lnTo>
                <a:lnTo>
                  <a:pt x="1" y="513"/>
                </a:lnTo>
                <a:lnTo>
                  <a:pt x="5" y="448"/>
                </a:lnTo>
                <a:lnTo>
                  <a:pt x="10" y="383"/>
                </a:lnTo>
                <a:lnTo>
                  <a:pt x="18" y="318"/>
                </a:lnTo>
                <a:lnTo>
                  <a:pt x="28" y="253"/>
                </a:lnTo>
                <a:lnTo>
                  <a:pt x="41" y="189"/>
                </a:lnTo>
                <a:lnTo>
                  <a:pt x="56" y="126"/>
                </a:lnTo>
                <a:lnTo>
                  <a:pt x="72" y="63"/>
                </a:lnTo>
                <a:lnTo>
                  <a:pt x="92" y="0"/>
                </a:lnTo>
                <a:lnTo>
                  <a:pt x="1109" y="331"/>
                </a:lnTo>
                <a:lnTo>
                  <a:pt x="1101" y="357"/>
                </a:lnTo>
                <a:lnTo>
                  <a:pt x="1094" y="384"/>
                </a:lnTo>
                <a:lnTo>
                  <a:pt x="1087" y="412"/>
                </a:lnTo>
                <a:lnTo>
                  <a:pt x="1082" y="439"/>
                </a:lnTo>
                <a:lnTo>
                  <a:pt x="1078" y="467"/>
                </a:lnTo>
                <a:lnTo>
                  <a:pt x="1074" y="494"/>
                </a:lnTo>
                <a:lnTo>
                  <a:pt x="1072" y="522"/>
                </a:lnTo>
                <a:lnTo>
                  <a:pt x="1070" y="550"/>
                </a:lnTo>
                <a:lnTo>
                  <a:pt x="1070" y="578"/>
                </a:lnTo>
                <a:lnTo>
                  <a:pt x="1070" y="606"/>
                </a:lnTo>
                <a:lnTo>
                  <a:pt x="1072" y="634"/>
                </a:lnTo>
                <a:lnTo>
                  <a:pt x="1074" y="662"/>
                </a:lnTo>
                <a:lnTo>
                  <a:pt x="1078" y="689"/>
                </a:lnTo>
                <a:lnTo>
                  <a:pt x="1082" y="717"/>
                </a:lnTo>
                <a:lnTo>
                  <a:pt x="1087" y="744"/>
                </a:lnTo>
                <a:lnTo>
                  <a:pt x="1094" y="772"/>
                </a:lnTo>
                <a:lnTo>
                  <a:pt x="1101" y="799"/>
                </a:lnTo>
                <a:lnTo>
                  <a:pt x="1109" y="825"/>
                </a:lnTo>
                <a:close/>
              </a:path>
            </a:pathLst>
          </a:custGeom>
          <a:solidFill>
            <a:srgbClr val="C66B54"/>
          </a:solidFill>
          <a:ln w="12700">
            <a:solidFill>
              <a:srgbClr val="FDF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05572" y="3995928"/>
            <a:ext cx="950976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27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6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合规服务</a:t>
            </a:r>
            <a:endParaRPr lang="zh-CN" sz="106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8005572" y="4288536"/>
            <a:ext cx="950976" cy="2834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10%</a:t>
            </a:r>
            <a:endParaRPr lang="zh-CN" sz="15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4" name="资金用途扇区｜云与AI 10%"/>
          <p:cNvSpPr/>
          <p:nvPr/>
        </p:nvSpPr>
        <p:spPr>
          <a:xfrm>
            <a:off x="8090728" y="2839798"/>
            <a:ext cx="1195512" cy="1157124"/>
          </a:xfrm>
          <a:custGeom>
            <a:avLst/>
            <a:gdLst/>
            <a:ahLst/>
            <a:cxnLst/>
            <a:rect l="l" t="t" r="r" b="b"/>
            <a:pathLst>
              <a:path w="1308" h="1266">
                <a:moveTo>
                  <a:pt x="0" y="935"/>
                </a:moveTo>
                <a:lnTo>
                  <a:pt x="21" y="873"/>
                </a:lnTo>
                <a:lnTo>
                  <a:pt x="44" y="812"/>
                </a:lnTo>
                <a:lnTo>
                  <a:pt x="70" y="752"/>
                </a:lnTo>
                <a:lnTo>
                  <a:pt x="97" y="693"/>
                </a:lnTo>
                <a:lnTo>
                  <a:pt x="127" y="635"/>
                </a:lnTo>
                <a:lnTo>
                  <a:pt x="159" y="578"/>
                </a:lnTo>
                <a:lnTo>
                  <a:pt x="192" y="522"/>
                </a:lnTo>
                <a:lnTo>
                  <a:pt x="228" y="467"/>
                </a:lnTo>
                <a:lnTo>
                  <a:pt x="265" y="414"/>
                </a:lnTo>
                <a:lnTo>
                  <a:pt x="304" y="362"/>
                </a:lnTo>
                <a:lnTo>
                  <a:pt x="345" y="311"/>
                </a:lnTo>
                <a:lnTo>
                  <a:pt x="388" y="262"/>
                </a:lnTo>
                <a:lnTo>
                  <a:pt x="433" y="214"/>
                </a:lnTo>
                <a:lnTo>
                  <a:pt x="479" y="168"/>
                </a:lnTo>
                <a:lnTo>
                  <a:pt x="527" y="123"/>
                </a:lnTo>
                <a:lnTo>
                  <a:pt x="576" y="80"/>
                </a:lnTo>
                <a:lnTo>
                  <a:pt x="627" y="39"/>
                </a:lnTo>
                <a:lnTo>
                  <a:pt x="679" y="0"/>
                </a:lnTo>
                <a:lnTo>
                  <a:pt x="1308" y="866"/>
                </a:lnTo>
                <a:lnTo>
                  <a:pt x="1285" y="883"/>
                </a:lnTo>
                <a:lnTo>
                  <a:pt x="1264" y="900"/>
                </a:lnTo>
                <a:lnTo>
                  <a:pt x="1243" y="918"/>
                </a:lnTo>
                <a:lnTo>
                  <a:pt x="1222" y="938"/>
                </a:lnTo>
                <a:lnTo>
                  <a:pt x="1203" y="957"/>
                </a:lnTo>
                <a:lnTo>
                  <a:pt x="1183" y="978"/>
                </a:lnTo>
                <a:lnTo>
                  <a:pt x="1165" y="999"/>
                </a:lnTo>
                <a:lnTo>
                  <a:pt x="1148" y="1020"/>
                </a:lnTo>
                <a:lnTo>
                  <a:pt x="1131" y="1043"/>
                </a:lnTo>
                <a:lnTo>
                  <a:pt x="1115" y="1066"/>
                </a:lnTo>
                <a:lnTo>
                  <a:pt x="1100" y="1089"/>
                </a:lnTo>
                <a:lnTo>
                  <a:pt x="1085" y="1113"/>
                </a:lnTo>
                <a:lnTo>
                  <a:pt x="1072" y="1137"/>
                </a:lnTo>
                <a:lnTo>
                  <a:pt x="1059" y="1162"/>
                </a:lnTo>
                <a:lnTo>
                  <a:pt x="1047" y="1188"/>
                </a:lnTo>
                <a:lnTo>
                  <a:pt x="1036" y="1213"/>
                </a:lnTo>
                <a:lnTo>
                  <a:pt x="1026" y="1239"/>
                </a:lnTo>
                <a:lnTo>
                  <a:pt x="1017" y="1266"/>
                </a:lnTo>
                <a:close/>
              </a:path>
            </a:pathLst>
          </a:custGeom>
          <a:solidFill>
            <a:srgbClr val="977963"/>
          </a:solidFill>
          <a:ln w="12700">
            <a:solidFill>
              <a:srgbClr val="FDF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42202" y="3267655"/>
            <a:ext cx="950976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27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6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云与AI</a:t>
            </a:r>
            <a:endParaRPr lang="zh-CN" sz="106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8242202" y="3560263"/>
            <a:ext cx="950976" cy="2834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10%</a:t>
            </a:r>
            <a:endParaRPr lang="zh-CN" sz="15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7" name="资金用途扇区｜运营储备 10%"/>
          <p:cNvSpPr/>
          <p:nvPr/>
        </p:nvSpPr>
        <p:spPr>
          <a:xfrm>
            <a:off x="8711334" y="2513500"/>
            <a:ext cx="1004486" cy="1117822"/>
          </a:xfrm>
          <a:custGeom>
            <a:avLst/>
            <a:gdLst/>
            <a:ahLst/>
            <a:cxnLst/>
            <a:rect l="l" t="t" r="r" b="b"/>
            <a:pathLst>
              <a:path w="1099" h="1223">
                <a:moveTo>
                  <a:pt x="0" y="357"/>
                </a:moveTo>
                <a:lnTo>
                  <a:pt x="53" y="320"/>
                </a:lnTo>
                <a:lnTo>
                  <a:pt x="108" y="284"/>
                </a:lnTo>
                <a:lnTo>
                  <a:pt x="164" y="251"/>
                </a:lnTo>
                <a:lnTo>
                  <a:pt x="221" y="219"/>
                </a:lnTo>
                <a:lnTo>
                  <a:pt x="279" y="189"/>
                </a:lnTo>
                <a:lnTo>
                  <a:pt x="338" y="162"/>
                </a:lnTo>
                <a:lnTo>
                  <a:pt x="398" y="136"/>
                </a:lnTo>
                <a:lnTo>
                  <a:pt x="459" y="113"/>
                </a:lnTo>
                <a:lnTo>
                  <a:pt x="521" y="92"/>
                </a:lnTo>
                <a:lnTo>
                  <a:pt x="584" y="72"/>
                </a:lnTo>
                <a:lnTo>
                  <a:pt x="647" y="56"/>
                </a:lnTo>
                <a:lnTo>
                  <a:pt x="710" y="41"/>
                </a:lnTo>
                <a:lnTo>
                  <a:pt x="774" y="28"/>
                </a:lnTo>
                <a:lnTo>
                  <a:pt x="839" y="18"/>
                </a:lnTo>
                <a:lnTo>
                  <a:pt x="904" y="10"/>
                </a:lnTo>
                <a:lnTo>
                  <a:pt x="969" y="5"/>
                </a:lnTo>
                <a:lnTo>
                  <a:pt x="1034" y="1"/>
                </a:lnTo>
                <a:lnTo>
                  <a:pt x="1099" y="0"/>
                </a:lnTo>
                <a:lnTo>
                  <a:pt x="1099" y="1070"/>
                </a:lnTo>
                <a:lnTo>
                  <a:pt x="1071" y="1070"/>
                </a:lnTo>
                <a:lnTo>
                  <a:pt x="1043" y="1072"/>
                </a:lnTo>
                <a:lnTo>
                  <a:pt x="1015" y="1074"/>
                </a:lnTo>
                <a:lnTo>
                  <a:pt x="988" y="1078"/>
                </a:lnTo>
                <a:lnTo>
                  <a:pt x="960" y="1082"/>
                </a:lnTo>
                <a:lnTo>
                  <a:pt x="933" y="1087"/>
                </a:lnTo>
                <a:lnTo>
                  <a:pt x="905" y="1094"/>
                </a:lnTo>
                <a:lnTo>
                  <a:pt x="878" y="1101"/>
                </a:lnTo>
                <a:lnTo>
                  <a:pt x="852" y="1109"/>
                </a:lnTo>
                <a:lnTo>
                  <a:pt x="825" y="1118"/>
                </a:lnTo>
                <a:lnTo>
                  <a:pt x="799" y="1128"/>
                </a:lnTo>
                <a:lnTo>
                  <a:pt x="774" y="1139"/>
                </a:lnTo>
                <a:lnTo>
                  <a:pt x="748" y="1151"/>
                </a:lnTo>
                <a:lnTo>
                  <a:pt x="723" y="1164"/>
                </a:lnTo>
                <a:lnTo>
                  <a:pt x="699" y="1177"/>
                </a:lnTo>
                <a:lnTo>
                  <a:pt x="675" y="1192"/>
                </a:lnTo>
                <a:lnTo>
                  <a:pt x="652" y="1207"/>
                </a:lnTo>
                <a:lnTo>
                  <a:pt x="629" y="1223"/>
                </a:lnTo>
                <a:close/>
              </a:path>
            </a:pathLst>
          </a:custGeom>
          <a:solidFill>
            <a:srgbClr val="CBB29D"/>
          </a:solidFill>
          <a:ln w="12700">
            <a:solidFill>
              <a:srgbClr val="FDFB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861708" y="2817557"/>
            <a:ext cx="950976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27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060" b="1">
                <a:solidFill>
                  <a:srgbClr val="513F30"/>
                </a:solidFill>
                <a:latin typeface="微软雅黑"/>
                <a:ea typeface="微软雅黑"/>
                <a:cs typeface="微软雅黑"/>
              </a:rPr>
              <a:t>运营储备</a:t>
            </a:r>
            <a:endParaRPr lang="zh-CN" sz="1060" b="1">
              <a:solidFill>
                <a:srgbClr val="513F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8861708" y="3110165"/>
            <a:ext cx="950976" cy="28346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8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500" b="1">
                <a:solidFill>
                  <a:srgbClr val="513F30"/>
                </a:solidFill>
                <a:latin typeface="微软雅黑"/>
                <a:ea typeface="微软雅黑"/>
                <a:cs typeface="微软雅黑"/>
              </a:rPr>
              <a:t>10%</a:t>
            </a:r>
            <a:endParaRPr lang="zh-CN" sz="1500" b="1">
              <a:solidFill>
                <a:srgbClr val="513F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9107424" y="4014215"/>
            <a:ext cx="1225296" cy="3931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288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400" b="1">
                <a:solidFill>
                  <a:srgbClr val="513F30"/>
                </a:solidFill>
                <a:latin typeface="微软雅黑"/>
                <a:ea typeface="微软雅黑"/>
                <a:cs typeface="微软雅黑"/>
              </a:rPr>
              <a:t>100%</a:t>
            </a:r>
            <a:endParaRPr lang="zh-CN" sz="2400" b="1">
              <a:solidFill>
                <a:srgbClr val="513F3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9107424" y="4498848"/>
            <a:ext cx="1225296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ts val="138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50" b="0">
                <a:solidFill>
                  <a:srgbClr val="7D746C"/>
                </a:solidFill>
                <a:latin typeface="微软雅黑"/>
                <a:ea typeface="微软雅黑"/>
                <a:cs typeface="微软雅黑"/>
              </a:rPr>
              <a:t>资金分配</a:t>
            </a:r>
            <a:endParaRPr lang="zh-CN" sz="1150" b="0">
              <a:solidFill>
                <a:srgbClr val="7D746C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685800" y="6071616"/>
            <a:ext cx="10817352" cy="292608"/>
          </a:xfrm>
          <a:prstGeom prst="rect">
            <a:avLst/>
          </a:prstGeom>
          <a:solidFill>
            <a:srgbClr val="F3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59536" y="6135624"/>
            <a:ext cx="10469880" cy="192024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ts val="1355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1130" b="1">
                <a:solidFill>
                  <a:srgbClr val="513F30"/>
                </a:solidFill>
                <a:latin typeface="微软雅黑"/>
                <a:ea typeface="微软雅黑"/>
                <a:cs typeface="微软雅黑"/>
              </a:rPr>
              <a:t>项目为轻资产结构，服务器资源由合作教师提供，本阶段现金支出集中于内容生产与地推。</a:t>
            </a:r>
            <a:endParaRPr lang="zh-CN" sz="1130" b="1">
              <a:solidFill>
                <a:srgbClr val="513F30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7925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13 · 团队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868680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28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团队构成与外部支持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353312"/>
            <a:ext cx="804672" cy="32004"/>
          </a:xfrm>
          <a:prstGeom prst="rect">
            <a:avLst/>
          </a:prstGeom>
          <a:solidFill>
            <a:srgbClr val="C79255"/>
          </a:solidFill>
        </p:spPr>
      </p:sp>
      <p:pic>
        <p:nvPicPr>
          <p:cNvPr id="5" name="Image 0" descr="logo_ba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28632" y="310896"/>
            <a:ext cx="1874520" cy="74066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640080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AEA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PAWLY · 宝狸  |  项目路演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0771632" y="6400800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AEA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14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014730" y="2038350"/>
            <a:ext cx="1566545" cy="1972945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E8DFD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123950" y="2331720"/>
            <a:ext cx="1348105" cy="2870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400" dirty="0"/>
              <a:t>林晨</a:t>
            </a:r>
            <a:endParaRPr lang="zh-CN" alt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1123950" y="2660015"/>
            <a:ext cx="1348105" cy="2514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150" dirty="0"/>
              <a:t>总</a:t>
            </a:r>
            <a:r>
              <a:rPr lang="zh-CN" altLang="en-US" sz="1150" dirty="0"/>
              <a:t>产品负责人</a:t>
            </a:r>
            <a:endParaRPr lang="zh-CN" alt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1123950" y="2934335"/>
            <a:ext cx="1348105" cy="2514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150" dirty="0"/>
              <a:t>同济大学工业工程与管理</a:t>
            </a:r>
            <a:r>
              <a:rPr lang="zh-CN" altLang="en-US" sz="1150" dirty="0"/>
              <a:t>硕士</a:t>
            </a:r>
            <a:endParaRPr lang="zh-CN" alt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2695575" y="2038350"/>
            <a:ext cx="1566545" cy="1972945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E8DFD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2804795" y="2331720"/>
            <a:ext cx="1348105" cy="2870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400" dirty="0"/>
              <a:t>金柳扬</a:t>
            </a:r>
            <a:endParaRPr lang="zh-CN" alt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2804795" y="2660015"/>
            <a:ext cx="1348105" cy="2514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150" dirty="0"/>
              <a:t>后端</a:t>
            </a:r>
            <a:r>
              <a:rPr lang="zh-CN" altLang="en-US" sz="1150" dirty="0"/>
              <a:t>工程师</a:t>
            </a:r>
            <a:endParaRPr lang="zh-CN" altLang="en-US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2804795" y="2934335"/>
            <a:ext cx="1348105" cy="2514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150" dirty="0"/>
              <a:t>浙江工业大学</a:t>
            </a:r>
            <a:endParaRPr lang="zh-CN" altLang="en-US" sz="1150" dirty="0"/>
          </a:p>
          <a:p>
            <a:pPr marL="0" indent="0" algn="ctr">
              <a:buNone/>
            </a:pPr>
            <a:r>
              <a:rPr lang="zh-CN" altLang="en-US" sz="1150" dirty="0"/>
              <a:t>软件工程</a:t>
            </a:r>
            <a:r>
              <a:rPr lang="zh-CN" altLang="en-US" sz="1150" dirty="0"/>
              <a:t>学士</a:t>
            </a:r>
            <a:endParaRPr lang="zh-CN" alt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4376420" y="2038350"/>
            <a:ext cx="1566545" cy="1972945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E8DFD3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485640" y="2331720"/>
            <a:ext cx="1348105" cy="2870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400" dirty="0"/>
              <a:t>吕</a:t>
            </a:r>
            <a:r>
              <a:rPr lang="zh-CN" altLang="en-US" sz="1400" dirty="0"/>
              <a:t>晓慧</a:t>
            </a:r>
            <a:endParaRPr lang="zh-CN" alt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4485640" y="2660015"/>
            <a:ext cx="1348105" cy="2514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CN" sz="1150" dirty="0"/>
              <a:t>Agent</a:t>
            </a:r>
            <a:r>
              <a:rPr lang="zh-CN" altLang="en-US" sz="1150" dirty="0"/>
              <a:t>架构</a:t>
            </a:r>
            <a:r>
              <a:rPr lang="zh-CN" altLang="en-US" sz="1150" dirty="0"/>
              <a:t>工程师</a:t>
            </a:r>
            <a:endParaRPr lang="zh-CN" altLang="en-US" sz="1150" dirty="0"/>
          </a:p>
        </p:txBody>
      </p:sp>
      <p:sp>
        <p:nvSpPr>
          <p:cNvPr id="22" name="Text 19"/>
          <p:cNvSpPr txBox="1"/>
          <p:nvPr/>
        </p:nvSpPr>
        <p:spPr>
          <a:xfrm>
            <a:off x="4485640" y="2934335"/>
            <a:ext cx="1348105" cy="2514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150" dirty="0">
                <a:sym typeface="+mn-ea"/>
              </a:rPr>
              <a:t>同济大学工业工程与管理硕士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6057265" y="2037715"/>
            <a:ext cx="1566545" cy="1972945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E8DFD3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166485" y="2331085"/>
            <a:ext cx="1348105" cy="2870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400" dirty="0"/>
              <a:t>周杰亮</a:t>
            </a:r>
            <a:endParaRPr lang="zh-CN" alt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6166485" y="2659380"/>
            <a:ext cx="1348105" cy="2514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150" dirty="0"/>
              <a:t>产品设计师</a:t>
            </a:r>
            <a:r>
              <a:rPr lang="en-US" altLang="zh-CN" sz="1150" dirty="0"/>
              <a:t>（UX/</a:t>
            </a:r>
            <a:r>
              <a:rPr lang="en-US" altLang="zh-CN" sz="1150" dirty="0"/>
              <a:t>UI）</a:t>
            </a:r>
            <a:endParaRPr lang="en-US" altLang="zh-CN" sz="1150" dirty="0"/>
          </a:p>
        </p:txBody>
      </p:sp>
      <p:sp>
        <p:nvSpPr>
          <p:cNvPr id="27" name="Text 24"/>
          <p:cNvSpPr txBox="1"/>
          <p:nvPr/>
        </p:nvSpPr>
        <p:spPr>
          <a:xfrm>
            <a:off x="6166485" y="2933700"/>
            <a:ext cx="1348105" cy="2514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150" dirty="0">
                <a:sym typeface="+mn-ea"/>
              </a:rPr>
              <a:t>同济大学工业工程与管理硕士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685800" y="4261104"/>
            <a:ext cx="10817352" cy="1371600"/>
          </a:xfrm>
          <a:prstGeom prst="roundRect">
            <a:avLst>
              <a:gd name="adj" fmla="val 4000"/>
            </a:avLst>
          </a:prstGeom>
          <a:solidFill>
            <a:srgbClr val="F5EEE5"/>
          </a:solidFill>
          <a:ln w="12700">
            <a:solidFill>
              <a:srgbClr val="E0B77F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1014984" y="4462272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7925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外部顾问</a:t>
            </a:r>
            <a:endParaRPr lang="en-US" sz="1250" dirty="0"/>
          </a:p>
        </p:txBody>
      </p:sp>
      <p:sp>
        <p:nvSpPr>
          <p:cNvPr id="30" name="Text 27"/>
          <p:cNvSpPr txBox="1"/>
          <p:nvPr/>
        </p:nvSpPr>
        <p:spPr>
          <a:xfrm>
            <a:off x="1014984" y="4773168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000" b="1" dirty="0">
                <a:solidFill>
                  <a:srgbClr val="4A37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王常锐</a:t>
            </a:r>
            <a:r>
              <a:rPr lang="en-US" sz="2000" b="1" dirty="0">
                <a:solidFill>
                  <a:srgbClr val="4A37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（</a:t>
            </a:r>
            <a:r>
              <a:rPr lang="en-US" sz="2000" b="1" dirty="0">
                <a:solidFill>
                  <a:srgbClr val="4A37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  <a:sym typeface="+mn-ea"/>
              </a:rPr>
              <a:t>Tarry Wang</a:t>
            </a:r>
            <a:r>
              <a:rPr lang="en-US" sz="2000" b="1" dirty="0">
                <a:solidFill>
                  <a:srgbClr val="4A37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）</a:t>
            </a:r>
            <a:endParaRPr lang="en-US" sz="2000" dirty="0"/>
          </a:p>
        </p:txBody>
      </p:sp>
      <p:sp>
        <p:nvSpPr>
          <p:cNvPr id="31" name="Text 28"/>
          <p:cNvSpPr txBox="1"/>
          <p:nvPr/>
        </p:nvSpPr>
        <p:spPr>
          <a:xfrm>
            <a:off x="1014984" y="5193792"/>
            <a:ext cx="3657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150" dirty="0"/>
              <a:t>同济大学校外导师</a:t>
            </a:r>
            <a:r>
              <a:rPr lang="en-US" altLang="zh-CN" sz="1150" dirty="0"/>
              <a:t>，</a:t>
            </a:r>
            <a:r>
              <a:rPr lang="zh-CN" altLang="en-US" sz="1150" dirty="0"/>
              <a:t>前微软渠道总监</a:t>
            </a:r>
            <a:r>
              <a:rPr lang="en-US" altLang="zh-CN" sz="1150" dirty="0"/>
              <a:t>，</a:t>
            </a:r>
            <a:r>
              <a:rPr lang="zh-CN" altLang="en-US" sz="1150" dirty="0"/>
              <a:t>塔锐信息创始人</a:t>
            </a:r>
            <a:endParaRPr lang="zh-CN" altLang="en-US" sz="1150" dirty="0"/>
          </a:p>
          <a:p>
            <a:pPr marL="0" indent="0">
              <a:buNone/>
            </a:pPr>
            <a:r>
              <a:rPr lang="zh-CN" altLang="en-US" sz="1150" dirty="0"/>
              <a:t>主营企业</a:t>
            </a:r>
            <a:r>
              <a:rPr lang="en-US" altLang="zh-CN" sz="1150" dirty="0"/>
              <a:t>AI</a:t>
            </a:r>
            <a:r>
              <a:rPr lang="zh-CN" altLang="en-US" sz="1150" dirty="0"/>
              <a:t>赋能</a:t>
            </a:r>
            <a:endParaRPr lang="zh-CN" altLang="en-US" sz="1150" dirty="0"/>
          </a:p>
        </p:txBody>
      </p:sp>
      <p:sp>
        <p:nvSpPr>
          <p:cNvPr id="910" name="Text 910"/>
          <p:cNvSpPr txBox="1"/>
          <p:nvPr/>
        </p:nvSpPr>
        <p:spPr>
          <a:xfrm>
            <a:off x="685800" y="5852160"/>
            <a:ext cx="1081735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150" dirty="0"/>
              <a:t>公司已于 2026.07.21 完成注册 · 注册资本 200 万元</a:t>
            </a:r>
            <a:endParaRPr lang="zh-CN" altLang="en-US" sz="1150" dirty="0"/>
          </a:p>
        </p:txBody>
      </p:sp>
      <p:sp>
        <p:nvSpPr>
          <p:cNvPr id="32" name="Text 29"/>
          <p:cNvSpPr txBox="1"/>
          <p:nvPr/>
        </p:nvSpPr>
        <p:spPr>
          <a:xfrm>
            <a:off x="5806440" y="446227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7925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资源支持</a:t>
            </a:r>
            <a:endParaRPr lang="en-US" sz="1250" dirty="0"/>
          </a:p>
        </p:txBody>
      </p:sp>
      <p:sp>
        <p:nvSpPr>
          <p:cNvPr id="33" name="Text 30"/>
          <p:cNvSpPr txBox="1"/>
          <p:nvPr/>
        </p:nvSpPr>
        <p:spPr>
          <a:xfrm>
            <a:off x="5806440" y="4773168"/>
            <a:ext cx="566928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300" dirty="0">
                <a:solidFill>
                  <a:srgbClr val="2E28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合作教师提供服务器资源</a:t>
            </a:r>
            <a:r>
              <a:rPr lang="zh-CN" altLang="en-US" sz="1300" dirty="0">
                <a:solidFill>
                  <a:srgbClr val="2E28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以及部分商业</a:t>
            </a:r>
            <a:r>
              <a:rPr lang="en-US" altLang="zh-CN" sz="1300" dirty="0">
                <a:solidFill>
                  <a:srgbClr val="2E28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</a:t>
            </a:r>
            <a:r>
              <a:rPr lang="zh-CN" altLang="en-US" sz="1300" dirty="0">
                <a:solidFill>
                  <a:srgbClr val="2E28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指导</a:t>
            </a:r>
            <a:r>
              <a:rPr lang="en-US" sz="1300" dirty="0">
                <a:solidFill>
                  <a:srgbClr val="2E28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，项目整体为轻资产结构</a:t>
            </a:r>
            <a:endParaRPr lang="en-US" sz="1300" dirty="0"/>
          </a:p>
        </p:txBody>
      </p:sp>
      <p:sp>
        <p:nvSpPr>
          <p:cNvPr id="35" name="Shape 20"/>
          <p:cNvSpPr/>
          <p:nvPr/>
        </p:nvSpPr>
        <p:spPr>
          <a:xfrm>
            <a:off x="7738110" y="2035810"/>
            <a:ext cx="1566545" cy="1972945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E8DFD3"/>
            </a:solidFill>
            <a:prstDash val="solid"/>
          </a:ln>
        </p:spPr>
      </p:sp>
      <p:sp>
        <p:nvSpPr>
          <p:cNvPr id="36" name="Text 22"/>
          <p:cNvSpPr txBox="1"/>
          <p:nvPr/>
        </p:nvSpPr>
        <p:spPr>
          <a:xfrm>
            <a:off x="7847330" y="2329180"/>
            <a:ext cx="1348105" cy="2870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400" dirty="0"/>
              <a:t>钟晨</a:t>
            </a:r>
            <a:r>
              <a:rPr lang="zh-CN" altLang="en-US" sz="1400" dirty="0"/>
              <a:t>瑗</a:t>
            </a:r>
            <a:endParaRPr lang="zh-CN" altLang="en-US" sz="1400" dirty="0"/>
          </a:p>
        </p:txBody>
      </p:sp>
      <p:sp>
        <p:nvSpPr>
          <p:cNvPr id="37" name="Text 23"/>
          <p:cNvSpPr txBox="1"/>
          <p:nvPr/>
        </p:nvSpPr>
        <p:spPr>
          <a:xfrm>
            <a:off x="7847330" y="2657475"/>
            <a:ext cx="1348105" cy="2514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150" dirty="0"/>
              <a:t>市场运营</a:t>
            </a:r>
            <a:r>
              <a:rPr lang="en-US" altLang="zh-CN" sz="1150" dirty="0"/>
              <a:t>/</a:t>
            </a:r>
            <a:r>
              <a:rPr lang="zh-CN" altLang="en-US" sz="1150" dirty="0"/>
              <a:t>商务</a:t>
            </a:r>
            <a:endParaRPr lang="zh-CN" altLang="en-US" sz="1150" dirty="0"/>
          </a:p>
        </p:txBody>
      </p:sp>
      <p:sp>
        <p:nvSpPr>
          <p:cNvPr id="38" name="Text 24"/>
          <p:cNvSpPr txBox="1"/>
          <p:nvPr/>
        </p:nvSpPr>
        <p:spPr>
          <a:xfrm>
            <a:off x="7847330" y="2931795"/>
            <a:ext cx="1348105" cy="2514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150" dirty="0">
                <a:sym typeface="+mn-ea"/>
              </a:rPr>
              <a:t>同济大学工业工程与管理硕士</a:t>
            </a:r>
            <a:endParaRPr lang="en-US" sz="1150" dirty="0"/>
          </a:p>
        </p:txBody>
      </p:sp>
      <p:sp>
        <p:nvSpPr>
          <p:cNvPr id="39" name="Shape 20"/>
          <p:cNvSpPr/>
          <p:nvPr/>
        </p:nvSpPr>
        <p:spPr>
          <a:xfrm>
            <a:off x="9418955" y="2028190"/>
            <a:ext cx="1566545" cy="1972945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E8DFD3"/>
            </a:solidFill>
            <a:prstDash val="solid"/>
          </a:ln>
        </p:spPr>
      </p:sp>
      <p:sp>
        <p:nvSpPr>
          <p:cNvPr id="40" name="Text 22"/>
          <p:cNvSpPr txBox="1"/>
          <p:nvPr/>
        </p:nvSpPr>
        <p:spPr>
          <a:xfrm>
            <a:off x="9528175" y="2321560"/>
            <a:ext cx="1348105" cy="2870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400" dirty="0"/>
              <a:t>李</a:t>
            </a:r>
            <a:r>
              <a:rPr lang="zh-CN" altLang="en-US" sz="1400" dirty="0"/>
              <a:t>栋</a:t>
            </a:r>
            <a:endParaRPr lang="zh-CN" altLang="en-US" sz="1400" dirty="0"/>
          </a:p>
        </p:txBody>
      </p:sp>
      <p:sp>
        <p:nvSpPr>
          <p:cNvPr id="41" name="Text 23"/>
          <p:cNvSpPr txBox="1"/>
          <p:nvPr/>
        </p:nvSpPr>
        <p:spPr>
          <a:xfrm>
            <a:off x="9528175" y="2649855"/>
            <a:ext cx="1348105" cy="2514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150" dirty="0"/>
              <a:t>后端</a:t>
            </a:r>
            <a:r>
              <a:rPr lang="zh-CN" altLang="en-US" sz="1150" dirty="0"/>
              <a:t>工程师</a:t>
            </a:r>
            <a:endParaRPr lang="zh-CN" altLang="en-US" sz="1150" dirty="0"/>
          </a:p>
        </p:txBody>
      </p:sp>
      <p:sp>
        <p:nvSpPr>
          <p:cNvPr id="42" name="Text 24"/>
          <p:cNvSpPr txBox="1"/>
          <p:nvPr/>
        </p:nvSpPr>
        <p:spPr>
          <a:xfrm>
            <a:off x="9528175" y="2924175"/>
            <a:ext cx="1348105" cy="2514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CN" altLang="en-US" sz="1150" dirty="0">
                <a:sym typeface="+mn-ea"/>
              </a:rPr>
              <a:t>复旦大学</a:t>
            </a:r>
            <a:r>
              <a:rPr lang="zh-CN" altLang="en-US" sz="1150" dirty="0">
                <a:sym typeface="+mn-ea"/>
              </a:rPr>
              <a:t>计算机硕士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384048"/>
            <a:ext cx="5486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7925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14 · 项目总结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676656"/>
            <a:ext cx="8686800" cy="60350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28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项目要点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353312"/>
            <a:ext cx="804672" cy="32004"/>
          </a:xfrm>
          <a:prstGeom prst="rect">
            <a:avLst/>
          </a:prstGeom>
          <a:solidFill>
            <a:srgbClr val="C79255"/>
          </a:solidFill>
        </p:spPr>
      </p:sp>
      <p:pic>
        <p:nvPicPr>
          <p:cNvPr id="5" name="Image 0" descr="logo_ba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28632" y="310896"/>
            <a:ext cx="1874520" cy="74066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6400800"/>
            <a:ext cx="36576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8AEA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PAWLY · 宝狸  |  项目路演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10771632" y="6400800"/>
            <a:ext cx="7315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8AEA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15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066544"/>
            <a:ext cx="6400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7925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1435608" y="2066544"/>
            <a:ext cx="21031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A37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项目定位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3703320" y="2093976"/>
            <a:ext cx="530352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250" dirty="0">
                <a:solidFill>
                  <a:srgbClr val="2E28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对公众开放的养宠知识平台，同时向商家输出同一套 AI 养护能力。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2999232"/>
            <a:ext cx="6400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7925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1435608" y="2999232"/>
            <a:ext cx="21031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A37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收入来源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3703320" y="3026664"/>
            <a:ext cx="530352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250" dirty="0">
                <a:solidFill>
                  <a:srgbClr val="2E28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商家按售出的宠物数量付费，20—30 元每激活用户，收入与商家销售规模同步增长。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685800" y="3931920"/>
            <a:ext cx="6400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7925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1435608" y="3931920"/>
            <a:ext cx="21031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A37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壁垒构成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3703320" y="3959352"/>
            <a:ext cx="530352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250" dirty="0">
                <a:solidFill>
                  <a:srgbClr val="2E28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入口、数据与关系随部署家数持续累积，独立于上游模型的版本更新。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685800" y="4864608"/>
            <a:ext cx="6400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C7925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1435608" y="4864608"/>
            <a:ext cx="21031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A37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验证节奏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3703320" y="4892040"/>
            <a:ext cx="5303520" cy="731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lnSpc>
                <a:spcPts val="2000"/>
              </a:lnSpc>
              <a:buNone/>
            </a:pPr>
            <a:r>
              <a:rPr lang="en-US" sz="1250" dirty="0">
                <a:solidFill>
                  <a:srgbClr val="2E282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第六周首家商家上线并收费，八周内完成付费意愿与部署效率的验证。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9491472" y="2066544"/>
            <a:ext cx="2011680" cy="201168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E8DFD3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308592" y="4242816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C79255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www.aipawly.com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685800" y="5797296"/>
            <a:ext cx="10817352" cy="640080"/>
          </a:xfrm>
          <a:prstGeom prst="roundRect">
            <a:avLst>
              <a:gd name="adj" fmla="val 7143"/>
            </a:avLst>
          </a:prstGeom>
          <a:solidFill>
            <a:srgbClr val="F5EEE5"/>
          </a:solidFill>
        </p:spPr>
      </p:sp>
      <p:sp>
        <p:nvSpPr>
          <p:cNvPr id="24" name="Text 21"/>
          <p:cNvSpPr txBox="1"/>
          <p:nvPr/>
        </p:nvSpPr>
        <p:spPr>
          <a:xfrm>
            <a:off x="960120" y="5961888"/>
            <a:ext cx="10268712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A37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Pawly 仅提供养宠知识和选购参考，不替代兽医诊断。</a:t>
            </a:r>
            <a:endParaRPr lang="en-US" sz="1400" dirty="0"/>
          </a:p>
        </p:txBody>
      </p:sp>
      <p:pic>
        <p:nvPicPr>
          <p:cNvPr id="27" name="图片 26" descr="/Users/zjl/Downloads/ChatGPT Image 2026年9月8日 13_22_40.pngChatGPT Image 2026年9月8日 13_22_40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502775" y="2066290"/>
            <a:ext cx="2000250" cy="20002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4351</Words>
  <Application>WPS 文字</Application>
  <PresentationFormat>On-screen Show (16:9)</PresentationFormat>
  <Paragraphs>728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31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47" baseType="lpstr">
      <vt:lpstr>Arial</vt:lpstr>
      <vt:lpstr>宋体</vt:lpstr>
      <vt:lpstr>Wingdings</vt:lpstr>
      <vt:lpstr>微软雅黑</vt:lpstr>
      <vt:lpstr>方正雅意黑 GB18030L2</vt:lpstr>
      <vt:lpstr>微软雅黑</vt:lpstr>
      <vt:lpstr>微软雅黑</vt:lpstr>
      <vt:lpstr>Wingdings</vt:lpstr>
      <vt:lpstr>微软雅黑</vt:lpstr>
      <vt:lpstr>Songti SC</vt:lpstr>
      <vt:lpstr>Calibri</vt:lpstr>
      <vt:lpstr>Helvetica Neue</vt:lpstr>
      <vt:lpstr>宋体</vt:lpstr>
      <vt:lpstr>Arial Unicode MS</vt:lpstr>
      <vt:lpstr>汉仪书宋二KW</vt:lpstr>
      <vt:lpstr>等线</vt:lpstr>
      <vt:lpstr>汉仪中等线KW</vt:lpstr>
      <vt:lpstr>PingFang SC</vt:lpstr>
      <vt:lpstr>Times New Roman</vt:lpstr>
      <vt:lpstr>Hiragino Sans GB W3</vt:lpstr>
      <vt:lpstr>HYJunHei 55J</vt:lpstr>
      <vt:lpstr>HYQiHeiKW 55S</vt:lpstr>
      <vt:lpstr>Heiti SC Light</vt:lpstr>
      <vt:lpstr>STHeiti Light</vt:lpstr>
      <vt:lpstr>SimSong</vt:lpstr>
      <vt:lpstr>华文宋体</vt:lpstr>
      <vt:lpstr>华文楷体</vt:lpstr>
      <vt:lpstr>Lantinghei TC Extralight</vt:lpstr>
      <vt:lpstr>Lantinghei SC Extralight</vt:lpstr>
      <vt:lpstr>黑体</vt:lpstr>
      <vt:lpstr>汉仪中黑KW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Pawly 路演 · 第二轮</dc:title>
  <dc:creator>Pawly</dc:creator>
  <dc:subject>PptxGenJS Presentation</dc:subject>
  <cp:lastModifiedBy>chen</cp:lastModifiedBy>
  <cp:revision>13</cp:revision>
  <dcterms:created xsi:type="dcterms:W3CDTF">2026-09-09T05:47:27Z</dcterms:created>
  <dcterms:modified xsi:type="dcterms:W3CDTF">2026-09-09T05:47:27Z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2052-12.1.28492.28492</vt:lpwstr>
  </property>
  <property fmtid="{D5CDD505-2E9C-101B-9397-08002B2CF9AE}" pid="3" name="ICV">
    <vt:lpwstr>1C262535915AF4C9D6CDA06A55E9F74A_43</vt:lpwstr>
  </property>
</Properties>
</file>